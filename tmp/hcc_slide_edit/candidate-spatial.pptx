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4" r:id="rId15"/>
    <p:sldId id="265" r:id="rId16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74c7de36fabc443c"/><Relationship Type="http://schemas.openxmlformats.org/officeDocument/2006/relationships/notesMaster" Target="../notesMasters/notesMaster1.xml" Id="Rb1cb9f8c82fe466d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7b3230365f38481d"/><Relationship Type="http://schemas.openxmlformats.org/officeDocument/2006/relationships/notesMaster" Target="../notesMasters/notesMaster1.xml" Id="R22925e03236a4f57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79af387ce1d649bc"/><Relationship Type="http://schemas.openxmlformats.org/officeDocument/2006/relationships/notesMaster" Target="../notesMasters/notesMaster1.xml" Id="Rb16e5164975f434b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pooled HCC2-versus-HCC1 results, not malignant-cell comparisons. APOA2 log2FC -12.198462; SERPINA1 -6.4540467; FTL -4.614934. All meet FDR &lt;0.05 and absolute log2FC &gt;=1. Stored gene FDR values underflow to zero and must not be called literally zero probabilities. KEGG cholesterol metabolism NES -2.28463661861109, adjusted p 9.56994237462538e-09; complement and coagulation cascades NES -2.34291493486101, adjusted p 4.32318970305741e-13; ferroptosis NES -2.08599306895663, adjusted p 8.63458370357047e-06. Each selected gene is verified in the corresponding leading edge. Negative NES is relative enrichment, not functional pathway suppression. APOA2 detection in HCC1 T cells is 93.3%, raising ambient RNA/technical concerns. Only one HCC2 hepatocyte-labelled cell is present. HCC1/HCC2 labels follow Wang, with source-metadata ambiguity. No validated efficacy claim: SERPINA1-IGMESINE is a database association with unresolved mechanism; no FTL drug association in the current snapshot. See docs/interview_preparation/FIVE_PAPER_GENES_AUDIT.md and supporting CSVs. Biological sources: https://www.ncbi.nlm.nih.gov/gene/336/ ; https://medlineplus.gov/genetics/gene/serpina1/ ; https://www.ncbi.nlm.nih.gov/gene/2512 . Reference: https://doi.org/10.1038/s41698-025-00952-3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completed notebook 03 pooled evidence-score regression run. Inputs: gene/drug nodes on known unweighted DGIdb graph; typed node features and pair evidence/metadata. The composite target uses max-normalized DGIdb interaction evidence, recorded approval and hub centrality, weights 0.65/0.15/0.20. Publication/phase weights are zero. Approval is not HCC approval. Available score ingredients explain why a linear Ridge approximator nearly reconstructs the target. GraphSAGE selected among GNNs by mean validation MSE; Ridge best among learned approximators by validation. Displayed test metrics from results/tables/evidence_score_regression/pooled/test_metrics.csv, also docs/interview_preparation/model_comparison.csv. Gene × candidate alias groups kept together in label splits; train 19207, validation 4127, test 4118. Known graph associations remain visible during label holdout, so this is not novel-link or cold-start evaluation. Seeds 42/43/44 show initialization stability, not patient uncertainty. Only one test association has reference score &gt;0.5, limiting top-tail evaluation. No drug response, binding or efficacy ground truth. Primary prioritisation is the original transparent score, with biological/source review required. Subsequent audit found XIST mapped to HNRNPU in upstream STRING mapping: upstream hub features require mapping audit before biological validation, and these metrics describe the saved run rather than an independently validated therapeutic model. Supporting files: current notebook 03 provenance, test_metrics.csv, validation_comparison.csv and test_score_band_metrics.csv. Model parameters/provenance: {"hidden":64,"embed":32,"dropout":0.2,"lr":0.003,"weight_decay":0.0001,"epochs":300,"patience":40}.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verified against OmicSage config/runs/kuppe_heart.yaml, run_spatial_pipeline.py, saved reports/kuppe_heart and data/processed/kuppe_heart/01–07 checkpoints. Source: Kuppe et al., Spatial multi-omic map of human myocardial infarction, Nature 608, 766–777 (2022), https://doi.org/10.1038/s41586-022-05060-x. Only the published control subset was used here: Visium https://figshare.com/articles/dataset/Kuppe_Visium_Human_Heart_2022_Control/22132958 (file 39347357) and snRNA reference file 39347573. Spatial donors P1, P17, P7 and P8. This is a workflow implementation/benchmark, not a reproduction of the full myocardial-infarction disease analysis or spatial HCC analysis. QC counts 500–100000 and genes 200–10000; 19 spots removed, 11706 kept. No MT- feature symbols exist in ingested data and QC records zero matched mitochondrial genes: 20% cutoff did not provide an effective mitochondrial quality screen. Normalization to 10000 + log1p; 3000 Seurat-flavour HVGs; 50 PCs; expression KNN 15 neighbours/30 PCs; Leiden 0.5 yields five unannotated expression clusters. Expression clustering and spatial neighbour graphs are separate. Saved spatial_connectivities has 61021 stored adjacency entries, of which 49893 cross patient_region_id (81.76%), in both latest reduction and older downstream checkpoints; physical adjacency must be block diagonal per tissue section before Moran statistics or adjacency-based inference are interpreted. NNLS actually ran, not cell2location; reference cell_type_original, raw counts layer, 26698 shared genes, normalized coefficients reported as proportions rather than calibrated cell counts. Per_sample=true metadata is misleading for NNLS: implementation uses pooled reference signatures and solves each spot; only the cell2location branch implements a per-library fit loop. Adipocyte, Cycling cells and Fibroblast receive zero weights throughout; Endothelial mean 0.5695, Cardiomyocyte 0.3371, Lymphoid 0.0867. These are fitted coefficients, not established tissue composition. Zero/constant abundance and absolute-correlation ranking make some downstream marker lists unreliable. Tangram clusters mode projects 2000 genes; report rho=0.292 compares means for 50 overlapping genes, not held-out spatial prediction; no per-spot mapping score is available, so zero poor-score spots cannot establish success. Moran report lists 102/3000 FDR&lt;0.05; composition clustering lists 49 regions; GO prerank ranks Moran I, not differential expression, with one q&lt;0.05 among 1004 pathways. Do not call a negative NES pathway biologically downregulated. Ligand-receptor analysis was sq.gr.ligrec, seed42, 1000 permutations, expression-group test by dominant_cell_type; its call does not use spatial adjacency or an explicit colocalisation filter. Raw-p counts 8356 &lt;0.001 and 21452 &lt;0.05 are not FDR-validated spatial communication. Co-occurrence pools coordinates across sections; repeat per section. June16 ingest/reduce/cluster checkpoints coexist with June11–12 upstream provenance in deconvolve/downstream/impute: existing runner cache uses existence rather than input fingerprints. Rebuild graph per patient_region_id, invalidate descendants, validate signatures and marker sign/variance, use held-out gene validation, then interpret results. Future applications to liver niches are transferable questions, not completed analyses. Full audit: docs/interview_preparation/OMICSAGE_SPATIAL_CASE_STUDY_AUDIT.md.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35508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3aebd963d73a4330"/><Relationship Type="http://schemas.openxmlformats.org/officeDocument/2006/relationships/notesSlide" Target="../notesSlides/notesSlide11.xml" Id="Rf6415345046f49d9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d8d4e098713c487a"/><Relationship Type="http://schemas.openxmlformats.org/officeDocument/2006/relationships/notesSlide" Target="../notesSlides/notesSlide9.xml" Id="R0dc3277c52874d7d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1e851eb76ca04414"/><Relationship Type="http://schemas.openxmlformats.org/officeDocument/2006/relationships/notesSlide" Target="../notesSlides/notesSlide10.xml" Id="R9f4900c3a6a4442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25196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530352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713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FATIMA SHOKOR, PhD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069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Biology  •  Omics  •  Machine Learning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BIOLOGY TO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21214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OMICS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0" cy="676656"/>
          </a:xfrm>
          <a:prstGeom prst="line">
            <a:avLst/>
          </a:prstGeom>
          <a:noFill/>
          <a:ln w="27940">
            <a:solidFill>
              <a:srgbClr val="48A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392424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scientific journey from understanding biological systems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modelling them across genes, cells, tissues and patients.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074920" y="3063240"/>
            <a:ext cx="6309360" cy="0"/>
          </a:xfrm>
          <a:prstGeom prst="line">
            <a:avLst/>
          </a:prstGeom>
          <a:noFill/>
          <a:ln w="21590">
            <a:solidFill>
              <a:srgbClr val="234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1810512"/>
            <a:ext cx="621792" cy="621792"/>
          </a:xfrm>
          <a:prstGeom prst="ellipse">
            <a:avLst/>
          </a:prstGeom>
          <a:solidFill>
            <a:srgbClr val="0B1822"/>
          </a:solidFill>
          <a:ln w="13970">
            <a:solidFill>
              <a:srgbClr val="55D0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2011680"/>
            <a:ext cx="182880" cy="182880"/>
          </a:xfrm>
          <a:prstGeom prst="ellipse">
            <a:avLst/>
          </a:prstGeom>
          <a:solidFill>
            <a:srgbClr val="55D0C7">
              <a:alpha val="85000"/>
            </a:srgbClr>
          </a:solidFill>
          <a:ln w="10160">
            <a:solidFill>
              <a:srgbClr val="55D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0428" y="209854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1546" y="2289830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6662" y="2216999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6286" y="1980616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0937" y="190706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81888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BSc in Biology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78231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 about how complex living systems function.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688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517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23176" y="1883664"/>
            <a:ext cx="658368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45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2057400"/>
            <a:ext cx="530352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37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2048" y="2231136"/>
            <a:ext cx="420624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29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OMICS &amp;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BIOINFORMATICS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67391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 in Omics / Bioinformatics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67025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high-throughput data to study biology at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8913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16568" y="1975104"/>
            <a:ext cx="256032" cy="-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1856232"/>
            <a:ext cx="256032" cy="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16568" y="1975104"/>
            <a:ext cx="109728" cy="27432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72600" y="1856232"/>
            <a:ext cx="-146304" cy="39319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72600" y="1856232"/>
            <a:ext cx="164592" cy="374904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8632" y="1975104"/>
            <a:ext cx="-91440" cy="25603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26296" y="2249424"/>
            <a:ext cx="146304" cy="18288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37192" y="2231136"/>
            <a:ext cx="-164592" cy="20116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26296" y="2249424"/>
            <a:ext cx="310896" cy="-1828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9992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1819656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92056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221284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00616" y="2194560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36024" y="23957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9828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868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GENOMICS + AI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865936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in Genetics &amp; Bioinformatics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862279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for genomic prediction and non-linear biological relationships.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8264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093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99064" y="1883664"/>
            <a:ext cx="621792" cy="475488"/>
          </a:xfrm>
          <a:prstGeom prst="ellipse">
            <a:avLst/>
          </a:prstGeom>
          <a:solidFill>
            <a:srgbClr val="48A3FF">
              <a:alpha val="22000"/>
            </a:srgbClr>
          </a:solidFill>
          <a:ln w="10160">
            <a:solidFill>
              <a:srgbClr val="48A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13364" y="1943100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96244" y="19339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51692" y="2016252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23092" y="2098548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15116" y="2180844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76788" y="21625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96244" y="225399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356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4241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120" dirty="0"/>
          </a:p>
        </p:txBody>
      </p:sp>
      <p:sp>
        <p:nvSpPr>
          <p:cNvPr id="82" name="Text 80"/>
          <p:cNvSpPr/>
          <p:nvPr/>
        </p:nvSpPr>
        <p:spPr>
          <a:xfrm>
            <a:off x="103967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Computational Omics</a:t>
            </a:r>
            <a:endParaRPr lang="en-US" sz="940" dirty="0"/>
          </a:p>
        </p:txBody>
      </p:sp>
      <p:sp>
        <p:nvSpPr>
          <p:cNvPr id="83" name="Text 81"/>
          <p:cNvSpPr/>
          <p:nvPr/>
        </p:nvSpPr>
        <p:spPr>
          <a:xfrm>
            <a:off x="103601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Single-cell • Spatial • Multi-omics • Human disease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001768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BIOLOGICAL QUESTION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251192" y="5715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DATA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189720" y="5715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MODELS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735056" y="57150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TRANSLATION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" y="59984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  →  cells  →  tissues  →  patients</a:t>
            </a:r>
            <a:endParaRPr lang="en-US" sz="10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783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69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212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55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16459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260604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" y="356616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54864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64465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3891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02 /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68096"/>
            <a:ext cx="10241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COMPUTATIONAL &amp; BIOLOGICAL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33502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9BAC6"/>
                </a:solidFill>
                <a:latin typeface="Aptos"/>
              </a:rPr>
              <a:t>A connected toolbox — from biological questions to interpretable, reproducible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2542032"/>
            <a:ext cx="2743200" cy="987552"/>
          </a:xfrm>
          <a:prstGeom prst="roundRect">
            <a:avLst/>
          </a:prstGeom>
          <a:solidFill>
            <a:srgbClr val="0D1D29"/>
          </a:solidFill>
          <a:ln w="2032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24912"/>
            <a:ext cx="241401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55D0C7"/>
                </a:solidFill>
                <a:latin typeface="Aptos"/>
              </a:rPr>
              <a:t>COMPUTATIONAL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71800"/>
            <a:ext cx="24140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4F8FB"/>
                </a:solidFill>
                <a:latin typeface="Aptos Display"/>
              </a:rPr>
              <a:t>BIOLOGY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749039" y="2560320"/>
            <a:ext cx="2350009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9048" y="2560320"/>
            <a:ext cx="2340864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749039" y="3035808"/>
            <a:ext cx="2350009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3035808"/>
            <a:ext cx="2340864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9048" y="3035808"/>
            <a:ext cx="4572" cy="1124712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1938528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" y="2121408"/>
            <a:ext cx="347472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" y="2221992"/>
            <a:ext cx="274320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2322576"/>
            <a:ext cx="201168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OMICS &amp; BIOLOGICAL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Genomics · Transcriptomics
scRNA-seq · Spatial
Multi-omics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9912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39912" y="1938528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2340864"/>
            <a:ext cx="68580" cy="146304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0808" y="2231136"/>
            <a:ext cx="68580" cy="25603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0536" y="2130552"/>
            <a:ext cx="68580" cy="356616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STATISTICS &amp; MODELING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Statistical genetics
Differential &amp; pathway analysis
Validation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749039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968" y="3931920"/>
            <a:ext cx="347472" cy="347472"/>
          </a:xfrm>
          <a:prstGeom prst="ellipse">
            <a:avLst/>
          </a:prstGeom>
          <a:noFill/>
          <a:ln w="1524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4050791"/>
            <a:ext cx="109728" cy="109728"/>
          </a:xfrm>
          <a:prstGeom prst="ellipse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4168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BIOLOGICAL 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Cell types &amp; states
Networks &amp; pathways
Translational interpretation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9912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39912" y="3749039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8686800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33104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641080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87384" y="3931920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33688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PIPELINES &amp; DATA ENGINEERING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QC · preprocessing · harmonization
Reproducible workflows
Versioned environments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160520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4160520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4805172" y="4375404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05172" y="444855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05172" y="4448556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05172" y="4375404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05172" y="453999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5172" y="4631436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60620" y="4375404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60620" y="4539996"/>
            <a:ext cx="173736" cy="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960620" y="4539996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773168" y="441655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773168" y="459943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28616" y="4343400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28616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28616" y="4672584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02352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0368" y="4315968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MACHINE LEARNING &amp;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3168" y="469087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Deep &amp; multimodal learning
Transfer / representation learning
Graph neural networks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5742432"/>
            <a:ext cx="10817352" cy="566928"/>
          </a:xfrm>
          <a:prstGeom prst="roundRect">
            <a:avLst/>
          </a:prstGeom>
          <a:solidFill>
            <a:srgbClr val="0D1D29"/>
          </a:solidFill>
          <a:ln w="10160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589788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5D0C7"/>
                </a:solidFill>
                <a:latin typeface="Aptos"/>
              </a:rPr>
              <a:t>TOOLS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74519" y="5843016"/>
            <a:ext cx="9052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Python   •   R   •   PyTorch   •   Scanpy   •   Seurat   •   Bash   •   Git   •   Docker / Conda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6455664"/>
            <a:ext cx="7223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9BAC6"/>
                </a:solidFill>
                <a:latin typeface="Aptos"/>
              </a:rPr>
              <a:t>The case studies that follow focus only on the domains most relevant to the project.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643737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9BAC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2120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03 / PhD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3327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DEEP LEARNING FOR GENOMIC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9BAC6"/>
                </a:solidFill>
                <a:latin typeface="Aptos"/>
              </a:rPr>
              <a:t>Can deep learning capture biological relationships that classical genomic models may miss?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200400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874519"/>
            <a:ext cx="3968496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74519"/>
            <a:ext cx="3227832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  COMPLEX BIOLOGY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3911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2  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0391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3  KEY LESSON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6736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904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9072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2140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2576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568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7904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1408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2257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5568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16736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17904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9072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1408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22576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5568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16736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17904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9072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21408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2576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17904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19072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20240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21408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2257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42616" y="253288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GENOMIC
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3730752"/>
            <a:ext cx="146304" cy="246888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8720" y="3520439"/>
            <a:ext cx="146304" cy="45720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44752" y="3648456"/>
            <a:ext cx="146304" cy="329184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00784" y="3383279"/>
            <a:ext cx="146304" cy="59436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84831" y="3666744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PHENOTYPE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32688" y="3794760"/>
            <a:ext cx="1307592" cy="621792"/>
          </a:xfrm>
          <a:prstGeom prst="line">
            <a:avLst/>
          </a:prstGeom>
          <a:ln w="17780">
            <a:solidFill>
              <a:srgbClr val="7F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59152" y="4206240"/>
            <a:ext cx="219456" cy="20116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78608" y="4206240"/>
            <a:ext cx="192024" cy="73152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70632" y="3913632"/>
            <a:ext cx="201168" cy="36576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71800" y="3913632"/>
            <a:ext cx="210312" cy="10972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182112" y="3703320"/>
            <a:ext cx="219456" cy="32004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96112" y="4718304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4F8FB"/>
                </a:solidFill>
                <a:latin typeface="Aptos"/>
              </a:rPr>
              <a:t>High-dimensional traits can combine
additive and non-linear relationships.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257860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INPUT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70832" y="2871216"/>
            <a:ext cx="868680" cy="10515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298094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SNPs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330098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Traits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362102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Covariates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85232" y="3392424"/>
            <a:ext cx="448056" cy="0"/>
          </a:xfrm>
          <a:prstGeom prst="line">
            <a:avLst/>
          </a:prstGeom>
          <a:ln w="1778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760720" y="2679192"/>
            <a:ext cx="1554480" cy="11155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2807208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8A3FF"/>
                </a:solidFill>
                <a:latin typeface="Aptos"/>
              </a:rPr>
              <a:t>STATISTICAL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3081528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4F8FB"/>
                </a:solidFill>
                <a:latin typeface="Aptos"/>
              </a:rPr>
              <a:t>GBLUP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9592" y="3410712"/>
            <a:ext cx="1316736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A9BAC6"/>
                </a:solidFill>
                <a:latin typeface="Aptos"/>
              </a:rPr>
              <a:t>additive signal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60720" y="3995928"/>
            <a:ext cx="155448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411480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5D0C7"/>
                </a:solidFill>
                <a:latin typeface="Aptos"/>
              </a:rPr>
              <a:t>DEEP LEARNING</a:t>
            </a:r>
          </a:p>
        </p:txBody>
      </p:sp>
      <p:sp>
        <p:nvSpPr>
          <p:cNvPr id="76" name="Oval 75"/>
          <p:cNvSpPr/>
          <p:nvPr/>
        </p:nvSpPr>
        <p:spPr>
          <a:xfrm>
            <a:off x="6021324" y="460400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13932" y="44028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13932" y="4805172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15684" y="43662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615684" y="46314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15684" y="487832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17436" y="45948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062472" y="4443984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62472" y="4645152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55080" y="44074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55080" y="4443984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55080" y="4672584"/>
            <a:ext cx="301752" cy="17373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355080" y="4846320"/>
            <a:ext cx="301752" cy="73152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56832" y="4407408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56832" y="46360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56832" y="4636008"/>
            <a:ext cx="301752" cy="283464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315200" y="3236976"/>
            <a:ext cx="182879" cy="512063"/>
          </a:xfrm>
          <a:prstGeom prst="line">
            <a:avLst/>
          </a:prstGeom>
          <a:ln w="1778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4041648"/>
            <a:ext cx="182879" cy="512064"/>
          </a:xfrm>
          <a:prstGeom prst="line">
            <a:avLst/>
          </a:prstGeom>
          <a:ln w="1778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/>
          <p:cNvSpPr/>
          <p:nvPr/>
        </p:nvSpPr>
        <p:spPr>
          <a:xfrm>
            <a:off x="7424927" y="3703320"/>
            <a:ext cx="512064" cy="512064"/>
          </a:xfrm>
          <a:prstGeom prst="diamond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79" y="3813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GV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70832" y="5084064"/>
            <a:ext cx="3520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Statistical baseline  +  neural model</a:t>
            </a:r>
          </a:p>
        </p:txBody>
      </p:sp>
      <p:sp>
        <p:nvSpPr>
          <p:cNvPr id="97" name="Oval 96"/>
          <p:cNvSpPr/>
          <p:nvPr/>
        </p:nvSpPr>
        <p:spPr>
          <a:xfrm>
            <a:off x="8522208" y="261518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40496" y="2660903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51976" y="259689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Strong baseline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51976" y="2871215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Classical models remain robust
for additive genetic effects.</a:t>
            </a:r>
          </a:p>
        </p:txBody>
      </p:sp>
      <p:sp>
        <p:nvSpPr>
          <p:cNvPr id="101" name="Oval 100"/>
          <p:cNvSpPr/>
          <p:nvPr/>
        </p:nvSpPr>
        <p:spPr>
          <a:xfrm>
            <a:off x="8522208" y="3483864"/>
            <a:ext cx="292608" cy="29260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0496" y="352958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51976" y="346557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Selective DL value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51976" y="373989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DL helps when additional
non-linear structure exists.</a:t>
            </a:r>
          </a:p>
        </p:txBody>
      </p:sp>
      <p:sp>
        <p:nvSpPr>
          <p:cNvPr id="105" name="Oval 104"/>
          <p:cNvSpPr/>
          <p:nvPr/>
        </p:nvSpPr>
        <p:spPr>
          <a:xfrm>
            <a:off x="8522208" y="435254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40496" y="439826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51976" y="433425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Justify complexity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51976" y="460857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Complex models should earn
their place against baselines.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8368" y="5678424"/>
            <a:ext cx="10872216" cy="51206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5D0C7"/>
                </a:solidFill>
                <a:latin typeface="Aptos"/>
              </a:rPr>
              <a:t>DEEP LEARNING AS A COMPLEMENT TO ESTABLISHED STATISTICAL MODELS — NOT A REPLACEMENT.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6245352"/>
            <a:ext cx="4389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9AAF"/>
                </a:solidFill>
                <a:latin typeface="Aptos"/>
              </a:rPr>
              <a:t>Python  •  PyTorch  •  statistical genetics  •  simulation + real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65408" y="624535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04 / OMICSAGE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FROM ISOLATED ANALYSES TO REPRODUCIBLE MULTI-OMICS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 modular framework connecting single-cell, spatial and multimodal analysis with reproducible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33172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1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13431"/>
            <a:ext cx="19293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Different assays,
one analysis framework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5409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5409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299923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9923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scRNA-seq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4845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359359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59359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Spatial transcriptomics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4281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418795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18795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ATAC / CITE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3717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478231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78231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Paired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874519"/>
            <a:ext cx="4572000" cy="3520440"/>
          </a:xfrm>
          <a:prstGeom prst="roundRect">
            <a:avLst/>
          </a:prstGeom>
          <a:solidFill>
            <a:srgbClr val="0D1D29"/>
          </a:solidFill>
          <a:ln w="1651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039111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MODULAR ANALYSIS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1"/>
            <a:ext cx="2377440" cy="749808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51175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4F8FB"/>
                </a:solidFill>
                <a:latin typeface="Aptos"/>
              </a:rPr>
              <a:t>OMIC 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89503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5D0C7"/>
                </a:solidFill>
                <a:latin typeface="Aptos"/>
              </a:rPr>
              <a:t>Modular  •  Reproducible  •  Extensible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9312" y="3621023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PREPROCESS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QC · normalize · HVGs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69864" y="3621023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9864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PCA · neighbors · clusters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4498847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INTEGRATE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DE · deconvolution · mapping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96712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498847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4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INTERPRET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pathways · niches ·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32120" y="3246119"/>
            <a:ext cx="0" cy="219456"/>
          </a:xfrm>
          <a:prstGeom prst="line">
            <a:avLst/>
          </a:prstGeom>
          <a:ln w="1905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9240" y="3867911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9240" y="4745735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" y="4197095"/>
            <a:ext cx="0" cy="219456"/>
          </a:xfrm>
          <a:prstGeom prst="line">
            <a:avLst/>
          </a:prstGeom>
          <a:ln w="12700">
            <a:solidFill>
              <a:srgbClr val="132A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/>
          <p:cNvSpPr/>
          <p:nvPr/>
        </p:nvSpPr>
        <p:spPr>
          <a:xfrm>
            <a:off x="30906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78912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1874519"/>
            <a:ext cx="342900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039111"/>
            <a:ext cx="30266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OUTPUTS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2313431"/>
            <a:ext cx="30266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From processing
to interpretable results</a:t>
            </a:r>
          </a:p>
        </p:txBody>
      </p:sp>
      <p:sp>
        <p:nvSpPr>
          <p:cNvPr id="58" name="Oval 57"/>
          <p:cNvSpPr/>
          <p:nvPr/>
        </p:nvSpPr>
        <p:spPr>
          <a:xfrm>
            <a:off x="8266176" y="3108959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6" y="3108959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30449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CELL STATES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32735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clusters · annotations · DE</a:t>
            </a:r>
          </a:p>
        </p:txBody>
      </p:sp>
      <p:sp>
        <p:nvSpPr>
          <p:cNvPr id="62" name="Oval 61"/>
          <p:cNvSpPr/>
          <p:nvPr/>
        </p:nvSpPr>
        <p:spPr>
          <a:xfrm>
            <a:off x="8266176" y="3721607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3721607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8" y="36575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SPATIAL CONTEXT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3648" y="38861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SVGs · niches · neighborhoods</a:t>
            </a:r>
          </a:p>
        </p:txBody>
      </p:sp>
      <p:sp>
        <p:nvSpPr>
          <p:cNvPr id="66" name="Oval 65"/>
          <p:cNvSpPr/>
          <p:nvPr/>
        </p:nvSpPr>
        <p:spPr>
          <a:xfrm>
            <a:off x="8266176" y="4334255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66176" y="4334255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42702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44988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co-occurrence · ligand–receptor</a:t>
            </a:r>
          </a:p>
        </p:txBody>
      </p:sp>
      <p:sp>
        <p:nvSpPr>
          <p:cNvPr id="70" name="Oval 69"/>
          <p:cNvSpPr/>
          <p:nvPr/>
        </p:nvSpPr>
        <p:spPr>
          <a:xfrm>
            <a:off x="8266176" y="4946903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4946903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3648" y="48828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REPRODUCIBLE REPORTS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51114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configs · reruns · documented outputs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8680" y="5605272"/>
            <a:ext cx="10149840" cy="57607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" y="5660136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F4F8FB"/>
                </a:solidFill>
                <a:latin typeface="Aptos"/>
              </a:rPr>
              <a:t>A common framework for moving from raw omics data to interpretable biological results.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5907024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0">
                <a:solidFill>
                  <a:srgbClr val="55D0C7"/>
                </a:solidFill>
                <a:latin typeface="Aptos"/>
              </a:rPr>
              <a:t>Reusable analysis logic  •  project-specific biological questions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05 / HCC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50" b="1">
                <a:solidFill>
                  <a:srgbClr val="F4F8FB"/>
                </a:solidFill>
                <a:latin typeface="Aptos Display"/>
              </a:rPr>
              <a:t>HCC SINGLE-CELL TRANSCRIPTOMICS — WORKFLOW &amp; ANALYTICAL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An end-to-end exploratory scRNA-seq workflow, from quality control to cell-type-specific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58368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ANALYSIS FLOW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249424"/>
            <a:ext cx="475488" cy="47548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25,189 cells
2 samples (HCC1 / HCC2)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92224" y="2249424"/>
            <a:ext cx="475488" cy="47548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200–7,500 genes
mt &lt;15%
18,309 retained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816352" y="2249424"/>
            <a:ext cx="475488" cy="47548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Normalize · log1p
2,000 HVGs
20 PCs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28416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40480" y="2249424"/>
            <a:ext cx="475488" cy="475488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15 neighbors
Leiden 0.5
19 clusters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2544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249424"/>
            <a:ext cx="475488" cy="475488"/>
          </a:xfrm>
          <a:prstGeom prst="ellipse">
            <a:avLst/>
          </a:prstGeom>
          <a:solidFill>
            <a:srgbClr val="F7C95C"/>
          </a:solidFill>
          <a:ln>
            <a:solidFill>
              <a:srgbClr val="F7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ANNOTATE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CellTypist + ScType
SingleR + markers
11 broad labels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76672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88736" y="2249424"/>
            <a:ext cx="475488" cy="475488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and cell-type-specific
DE + GSEA
interpretation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023360"/>
            <a:ext cx="621792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" y="4151376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48A3FF"/>
                </a:solidFill>
                <a:latin typeface="Aptos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4407408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Distribution-informed QC rather than copying the paper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" y="4608576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Annotation supported by multiple references plus marker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4809744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Cell-type-specific contrasts used to avoid over-interpreting pooled sample differences.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783080"/>
            <a:ext cx="388620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7" y="1920240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DESIGN &amp; INTERPRETATION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2212848"/>
            <a:ext cx="3456432" cy="8229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7264" y="2286000"/>
            <a:ext cx="3154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Experimental 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248716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1 sample per analysis group.
Cells are observations within samples, not independent biological replicates.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2672" y="3182112"/>
            <a:ext cx="3456432" cy="10058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7264" y="325526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How to position the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7264" y="34747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Exploratory, sample-associated differences.
Good for workflow development and biological hypotheses, not population-level HCC conclusions.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62672" y="4352544"/>
            <a:ext cx="3456432" cy="7772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7264" y="444398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Main message for the interview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7264" y="4663440"/>
            <a:ext cx="2999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55D0C7"/>
                </a:solidFill>
                <a:latin typeface="Aptos"/>
              </a:rPr>
              <a:t>I can build and critically audit a complete scRNA-seq workflow.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06 / BIOLOGICAL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4F8FB"/>
                </a:solidFill>
                <a:latin typeface="Aptos Display"/>
              </a:rPr>
              <a:t>WHAT DID SINGLE-CELL RESOLUTION CHANGE BIOLOGICALLY?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The strongest finding is cellular composition; stratifying by cell type changes how expression differences are interpreted.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53212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A. RECOVERED CELL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Fractions are among retained annotated cells — not direct tissue abundance.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642616"/>
            <a:ext cx="275952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18.29%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642616"/>
            <a:ext cx="1173060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77.75%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91256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Macrophages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3172968"/>
            <a:ext cx="779576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51.67%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3172968"/>
            <a:ext cx="8147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2160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Hepatocytes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3703320"/>
            <a:ext cx="292246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19.37%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3703320"/>
            <a:ext cx="301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1960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B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233672"/>
            <a:ext cx="19312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1.28%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60520" y="4233672"/>
            <a:ext cx="96560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6.40%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782312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Fibroblasts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94560" y="4764024"/>
            <a:ext cx="31382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2.08%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4764024"/>
            <a:ext cx="31683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671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46320"/>
            <a:ext cx="5166360" cy="43891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919472"/>
            <a:ext cx="4892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1">
                <a:solidFill>
                  <a:srgbClr val="55D0C7"/>
                </a:solidFill>
                <a:latin typeface="Aptos"/>
              </a:rPr>
              <a:t>HCC2 is T-cell dominated, whereas HCC1 contains many more macrophage- and hepatocyte-labelled cells.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783080"/>
            <a:ext cx="493776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192024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B. WHY CELL-TYPE STRATIFICATION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148840"/>
            <a:ext cx="4297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Example: broad T-cell comparison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2514600"/>
            <a:ext cx="105156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2542032"/>
            <a:ext cx="10149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Marker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2514600"/>
            <a:ext cx="100584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44968" y="2542032"/>
            <a:ext cx="9692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Pooled
log2FC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514600"/>
            <a:ext cx="114300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2542032"/>
            <a:ext cx="11064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Within T cells
log2FC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514600"/>
            <a:ext cx="141732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8" y="2542032"/>
            <a:ext cx="1380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Interpretation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2898648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11696" y="2953512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CD8A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80" y="2898648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63256" y="2953512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+4.469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2898648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69096" y="2953512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+2.495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2898648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12096" y="2953512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Higher CD8-associated
expression persists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0" y="3474720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11696" y="3529584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PDCD1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26680" y="3474720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63256" y="3529584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+3.541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32520" y="3474720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69096" y="3529584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+1.700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75520" y="3474720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12096" y="3529584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Checkpoint-associated
signal remains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4050792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1696" y="4105656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IFNG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26680" y="4050792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63256" y="4105656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+2.329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32520" y="4050792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69096" y="4105656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+0.116
(ns)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75520" y="4050792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12096" y="4105656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increase largely
reflects composition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01968" y="4572000"/>
            <a:ext cx="4553712" cy="7315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4636008"/>
            <a:ext cx="1554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Selected pathway themes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8" y="483717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A9BAC6"/>
                </a:solidFill>
                <a:latin typeface="Aptos"/>
              </a:rPr>
              <a:t>T cells: ↑ chemokine / FoxO, ↓ oxidative phosphorylation
Fibroblasts: provisional contractile / actomyosin program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" y="5596128"/>
            <a:ext cx="10222992" cy="53035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566928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4F8FB"/>
                </a:solidFill>
                <a:latin typeface="Aptos"/>
              </a:rPr>
              <a:t>Interpretation is exploratory: one sample per group, composition confounding, and possible ambient RNA (e.g., widespread ALB signal).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D86E1-6AAC-4796-A5DB-6DA31077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09 / OMICSAGE SPATIAL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9E24-6CFC-4A6A-B246-A62BBE5C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Human-heart Visium + single-nucleus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5F689-7D7E-4F49-A17B-ABC17855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Kuppe et al., Nature 2022 · control subset · four donors / tissue sections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B9E86-C2A0-4725-B634-76BDBC6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907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QUESTION AND EXECUTED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52641-E5E8-4398-821C-01AE030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Can reference cell-type signatures help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interpret mixed expression in tissue spots?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C5C7-BF15-4020-9DA4-65A65EC0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5286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QC: 11,725 → 11,706 spots; 36,588 genes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Counts ≥500; detected genes ≥200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Normalize + log1p → 3,000 variable genes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50 PCs computed; 30 used for clustering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Expression graph → Leiden 0.5: five clusters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B4827-8026-4E53-ACB0-020B1B5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52863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NNLS: fit 11 reference cell-type signatures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Tangram: map cell-type averages to spots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Spatial analyses: Moran’s I, neighbourhoods,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composition regions and pathway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382CF-7D38-4532-9B4A-67EC2E72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SAVED OUTPUTS AND THEIR LIMITS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286500" y="2495550"/>
          <a:ext xmlns:a="http://schemas.openxmlformats.org/drawingml/2006/main" cx="53340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377190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Analysis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What the run supports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NNLS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11 candidate types; several receive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zero weight — fits need validation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Tangram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2,000 genes projected; reported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mean-expression correlation ρ = 0.292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Spatial graph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≈82% of adjacency entries cross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tissue sections — rebuild per section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Moran’s I / niches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102 SVGs / 49 composition regions</a:t>
                      </a:r>
                    </a:p>
                    <a:p>
                      <a:r>
                        <a:rPr sz="135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reported; biological claims deferred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FB809-6D3F-4980-9160-8A0732B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A04D"/>
                </a:solidFill>
                <a:latin typeface="Aptos"/>
                <a:ea typeface="Aptos"/>
                <a:cs typeface="Aptos"/>
              </a:rPr>
              <a:t>Delivered a checkpointed workflow; spatial biological conclusions require a corrected rerun.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2EF27-2CDA-4A99-92D4-6DB7A06D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052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Control-only benchmark · mitochondrial genes absent from input · no disease-versus-control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035F4-E788-44B8-944D-7DC46C2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31195139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10 /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50" b="1">
                <a:solidFill>
                  <a:srgbClr val="F4F8FB"/>
                </a:solidFill>
                <a:latin typeface="Aptos Display"/>
              </a:rPr>
              <a:t>A MULTIDISCIPLINARY, PROBLEM-SOLVING RESEARCH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The biological question comes first — the method can range from established bioinformatics to custom statistical or AI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679192"/>
            <a:ext cx="2286000" cy="950976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88036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4F8FB"/>
                </a:solidFill>
                <a:latin typeface="Aptos"/>
              </a:rPr>
              <a:t>BIOLOGICAL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72968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55D0C7"/>
                </a:solidFill>
                <a:latin typeface="Aptos"/>
              </a:rPr>
              <a:t>What do we need to understand?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" y="2016251"/>
            <a:ext cx="320040" cy="320040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MULTIDISCIPLINARY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Biology → Omics → Statistics → AI
Understanding the problem from multiple computational and biological perspectives.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3316" y="2016251"/>
            <a:ext cx="320040" cy="32004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3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TRANSFERABLE RESEARCH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Genomics · transcriptomics · single-cell · spatial · multi-omics
Different biological systems, transferable analytical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" y="4027932"/>
            <a:ext cx="320040" cy="320040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TOOL &amp; METHOD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Existing tools → adapt / integrate → custom workflows → ML/DL when justified
Choose or develop the method that best answers the biological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3316" y="4027932"/>
            <a:ext cx="320040" cy="320040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3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INTERDISCIPLINARY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Bioinformatics ↔ biology / clinical expertise ↔ wet lab
Computation prioritizes hypotheses; domain expertise guides interpretation; experiments validate them.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0" y="2615184"/>
            <a:ext cx="7040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59752" y="2615184"/>
            <a:ext cx="9326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114800" y="3337560"/>
            <a:ext cx="7040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159752" y="3337560"/>
            <a:ext cx="9326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70248" y="4005072"/>
            <a:ext cx="3429000" cy="71323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078224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55D0C7"/>
                </a:solidFill>
                <a:latin typeface="Aptos"/>
              </a:rPr>
              <a:t>METHOD SPECTRUM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279392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F4F8FB"/>
                </a:solidFill>
                <a:latin typeface="Aptos"/>
              </a:rPr>
              <a:t>Classical tools  →  custom pipelines  →  statistics / ML / DL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504688"/>
            <a:ext cx="8275320" cy="5029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577840"/>
            <a:ext cx="80010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0">
                <a:solidFill>
                  <a:srgbClr val="A9BAC6"/>
                </a:solidFill>
                <a:latin typeface="Aptos"/>
              </a:rPr>
              <a:t>Biological question  →  computational hypothesis  →  domain-guided interpretation  →  experimental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089904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B"/>
                </a:solidFill>
                <a:latin typeface="Aptos"/>
              </a:rPr>
              <a:t>Building the computational bridge from biological questions to testable hypotheses.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0176-4F97-4098-8329-61E0D04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07 / HCC GENE AND PATHWAY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8386-C34C-4B22-B4A7-B7312B7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Selected genes with lower expression in HCC2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1FBF6-0BB3-4D5D-8AAB-6A0E7AF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Pooled HCC2 versus HCC1 comparison. Each gene belongs to the listed GSEA leading edge.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20574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1066800"/>
                <a:gridCol w="3505200"/>
                <a:gridCol w="5219700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Enriched gene set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Biological context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APOA2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−12.20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Cholesterol metabolism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−2.28  ·  FDR 9.57 × 10⁻⁹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Lipoprotein transport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liver-associated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SERPINA1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−6.45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Complement and coagulation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−2.34  ·  FDR 4.32 × 10⁻¹³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Alpha-1 antitrypsin / protease regulation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secreted-protein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FTL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−4.61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Ferroptosis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−2.09  ·  FDR 8.63 × 10⁻⁶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Ferritin light chain / iron storage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Iron-related expression differs between samples.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1D66-3E21-4AD6-A74A-9EFEEDA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These are sample-associated differences, not confirmed changes in malignant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857BF-A4F7-47B8-AF62-1424527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One sample per group; composition and possible ambient RNA remain. Negative NES favors HCC1.</a:t>
            </a:r>
          </a:p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Expression and enrichment do not establish functional activity or drug efficacy.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B913-A07D-4814-8FF0-7A0F97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DE and GSEA results · GSE166635 · selected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84F2-E56E-4874-898A-2AAF6AB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618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2640D-7AAE-435A-B948-2B66AEB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08 / HCC GRAPH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D6F5F-E3D2-4337-9E49-228F1F43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Graph neural networks for evidence-score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4FE6-9CE2-46A7-AC0C-1EF9AE6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Task: estimate a constructed score for known drug–gene associations.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1A620-75AC-4514-BE53-964E103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INPUT AND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482B7-68EC-458E-808F-FCC6EB5E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Bipartite graph: genes and drug database IDs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Edges: known DGIdb associations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Features: gene expression, hub scores and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drug / interaction evidence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A598-439E-4722-8428-78EE884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Architectures: GCN, GAT and GraphSAGE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Grouped label splits; validation-only selection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Three initialization seeds per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97988-767B-4835-A3A1-F8A307CB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A04D"/>
                </a:solidFill>
                <a:latin typeface="Aptos"/>
                <a:ea typeface="Aptos"/>
                <a:cs typeface="Aptos"/>
              </a:rPr>
              <a:t>Target: 0.65 × interaction + 0.15 × approval</a:t>
            </a:r>
          </a:p>
          <a:p xmlns:a="http://schemas.openxmlformats.org/drawingml/2006/main">
            <a:pPr>
              <a:defRPr sz="1425" b="0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A04D"/>
                </a:solidFill>
                <a:latin typeface="Aptos"/>
                <a:ea typeface="Aptos"/>
                <a:cs typeface="Aptos"/>
              </a:rPr>
              <a:t>             + 0.20 × hub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922FE-66AC-477A-8733-6DD3B08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HELD-OUT TEST RESULTS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324600" y="2543175"/>
          <a:ext xmlns:a="http://schemas.openxmlformats.org/drawingml/2006/main" cx="523875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952625"/>
                <a:gridCol w="1143000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MSE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R²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GraphSAGE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4.80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0.991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MLP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7.93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0.985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Without neighbors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6.83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0.987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Ridge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1.18 × 10⁻¹¹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≈1.000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Training mean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5.41 × 10⁻³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−0.001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80AA7-4FEA-438A-AEF3-9216B85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Ridge best reconstructs the rule-derived score; the transparent ranking remains primary.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57778-DE38-49A9-9F92-2BC60A4A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GraphSAGE wins among the tested GNNs. This evaluates score approximation on a known graph.</a:t>
            </a:r>
          </a:p>
          <a:p xmlns:a="http://schemas.openxmlformats.org/drawingml/2006/main">
            <a:pPr>
              <a:defRPr sz="127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No experimental efficacy labels; no validation of novel links or responses in unseen drugs.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DA52F-B028-444B-B824-1ACC493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pooled model run · baseline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4FA04-7D7C-4CF2-9A8E-0628DA32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41401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Fatima Shokor - Scientific Journey</dc:title>
  <dc:subject>Interview Presentation - Slide 1</dc:subject>
  <dc:creator>OpenAI</dc:creator>
  <cp:lastModifiedBy>OpenAI</cp:lastModifiedBy>
  <cp:revision>1</cp:revision>
  <dcterms:created xsi:type="dcterms:W3CDTF">2026-10-02T19:19:11Z</dcterms:created>
  <dcterms:modified xsi:type="dcterms:W3CDTF">2026-10-02T19:19:11Z</dcterms:modified>
</cp:coreProperties>
</file>