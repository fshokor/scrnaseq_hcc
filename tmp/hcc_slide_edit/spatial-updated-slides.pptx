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db99478d484903" /><Relationship Type="http://schemas.openxmlformats.org/officeDocument/2006/relationships/extended-properties" Target="/docProps/app.xml" Id="R46784b55eee246d3" /><Relationship Type="http://schemas.openxmlformats.org/officeDocument/2006/relationships/officeDocument" Target="/ppt/presentation.xml" Id="R416c1590bdbb4b3b" /></Relationships>
</file>

<file path=ppt/presentation.xml><?xml version="1.0" encoding="utf-8"?>
<p:presentation xmlns:p="http://schemas.openxmlformats.org/presentationml/2006/main">
  <p:sldMasterIdLst>
    <p:sldMasterId xmlns:r="http://schemas.openxmlformats.org/officeDocument/2006/relationships" id="2147483648" r:id="Rd5fffb3a2e2a42ce"/>
  </p:sldMasterIdLst>
  <p:notesMasterIdLst>
    <p:notesMasterId xmlns:r="http://schemas.openxmlformats.org/officeDocument/2006/relationships" r:id="Rac3a9063727a4558"/>
  </p:notesMasterIdLst>
  <p:sldIdLst>
    <p:sldId xmlns:r="http://schemas.openxmlformats.org/officeDocument/2006/relationships" id="256" r:id="R2d36a8e0f86b4b8e"/>
    <p:sldId xmlns:r="http://schemas.openxmlformats.org/officeDocument/2006/relationships" id="257" r:id="R0bff6a9a0dd842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2ba9c188f64bb3" /><Relationship Type="http://schemas.openxmlformats.org/officeDocument/2006/relationships/slideMaster" Target="/ppt/slideMasters/slideMaster1.xml" Id="Rd5fffb3a2e2a42ce" /><Relationship Type="http://schemas.openxmlformats.org/officeDocument/2006/relationships/notesMaster" Target="/ppt/notesMasters/notesMaster1.xml" Id="Rac3a9063727a4558" /><Relationship Type="http://schemas.openxmlformats.org/officeDocument/2006/relationships/presProps" Target="/ppt/presProps.xml" Id="R0f28d37371dd4293" /><Relationship Type="http://schemas.openxmlformats.org/officeDocument/2006/relationships/tableStyles" Target="/ppt/tableStyles.xml" Id="Rca63f15f69194de7" /><Relationship Type="http://schemas.openxmlformats.org/officeDocument/2006/relationships/slide" Target="/ppt/slides/slide1.xml" Id="R2d36a8e0f86b4b8e" /><Relationship Type="http://schemas.openxmlformats.org/officeDocument/2006/relationships/slide" Target="/ppt/slides/slide2.xml" Id="R0bff6a9a0dd842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ce2d53000c4c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11f2081b774a3a" /><Relationship Type="http://schemas.openxmlformats.org/officeDocument/2006/relationships/notesMaster" Target="/ppt/notesMasters/notesMaster1.xml" Id="R017f1a65a30f46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c05e317bfa483e" /><Relationship Type="http://schemas.openxmlformats.org/officeDocument/2006/relationships/notesMaster" Target="/ppt/notesMasters/notesMaster1.xml" Id="R454cac36dc3d4d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corrected OmicSage reports/kuppe_heart_verified and 06_downstream.h5ad, completed 5 October 2026. Kuppe et al., Nature 608, 766–777 (2022), https://www.nature.com/articles/s41586-022-05060-x. Only control sections P1, P17, P7 and P8 are included; no infarction-versus-control comparison. 11719 retained spots, 36601 features including 13 MT genes. MT filtering disabled pending tissue-specific assessment; this does not certify every spot as healthy. Section-specific spatial graph has zero cross-library adjacency entries. 673/3000 candidate SVGs use analytical Moran p-values/BH correction, with pooled centering: section effects can contribute. Four largest expression clusters predominantly track individual sections. NNLS fits raw library-normalized shared nuclear genes against 11 mean snRNA reference signatures, yielding normalized coefficients rather than validated cell counts. Median relative residual norm ||x-Wp||/||x||=0.985; fibroblast, adipocyte and cycling signatures receive zero weights. Lymphoid-associated marker rankings include cardiac genes, a red flag. Therefore do not present 45 composition groups as validated anatomical niches or fitted means as tissue cell fractions. Marker correlations use the same data as fitting and are not independent validation. 1156 GO BP prerank tests use Moran I, with zero FDR&lt;0.05. Lack of significance does not imply lack of biological pathway activity. 7836 ligand-receptor hypotheses at BH q&lt;0.001 depend on uncertain dominant spot-label groups; group adjacency does not establish local contact or communication. Neighbourhood estimates inherit those label limitations. Tangram/imputation not rerun and not part of these updated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corrected 06_downstream.h5ad and spatial_cluster_report.html; independent descriptive extraction in selected_genes_by_section.csv. MYL2 pooled Moran I=0.759411, NPPB=0.762984, ANKRD1=0.611177. NPPB fraction with log-normalized expression &gt;0: P1 0.836138, P17 0.011719, P7 0.048398, P8 0.056934. NPPB mean log expression: 1.555582, 0.013128, 0.063347, 0.063399 respectively. All sections shown use the same NPPB colour scale, clipped at the pooled 99th percentile for visibility; no H&amp;E image underneath. These maps show RNA expression in mixed-cell spots, not individual annotated cells. Within-section descriptive Moran I for NPPB: P1 0.397305, P17 0.104548, P7 0.402763, P8 0.087396, computed on row-normalized saved section graphs; no new significance testing. Section mean differences contribute to pooled I, so do not call the pooled value replicated within-section evidence. ANKRD1 means P1 2.501681, P17 0.618102, P7 1.099303, P8 1.801183. MYL2 contractile context: https://www.ncbi.nlm.nih.gov/gene/4633. NPPB/ANKRD1 stress-state context: Kuppe et al., https://www.nature.com/articles/s41586-022-05060-x, Extended Data Figs. 6 and 7. The paper studied controls plus infarction tissue and validated stress-associated cardiomyocyte markers; this control-only workflow does not reproduce the disease findings. P1 pattern may reflect biology, sampled region, handling, or other donor/technical effects. Need section-specific validation, metadata and histology; no causal, disease or pathway activation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8b8570e6644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c2cb3a2c414712" /><Relationship Type="http://schemas.openxmlformats.org/officeDocument/2006/relationships/slideLayout" Target="/ppt/slideLayouts/slideLayout1.xml" Id="Re11ae0dae4d741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1ae0dae4d741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55c523cad74199" /><Relationship Type="http://schemas.openxmlformats.org/officeDocument/2006/relationships/notesSlide" Target="/ppt/notesSlides/notesSlide1.xml" Id="R62d4a1eb381143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b6a62add4b4f09" /><Relationship Type="http://schemas.openxmlformats.org/officeDocument/2006/relationships/image" Target="/ppt/media/image.png" Id="R1748ec59df7147c0" /><Relationship Type="http://schemas.openxmlformats.org/officeDocument/2006/relationships/notesSlide" Target="/ppt/notesSlides/notesSlide2.xml" Id="R3b1ac660f36d4aff" /></Relationships>
</file>

<file path=ppt/slides/slide1.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60CA22-ED22-4F4C-9612-7308DA3B98ED}"/>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09 / OMICSAGE SPATIAL CASE STUDY</a:t>
            </a:r>
          </a:p>
        </p:txBody>
      </p:sp>
      <p:sp>
        <p:nvSpPr>
          <p:cNvPr id="2" name="">
            <a:extLst xmlns:a="http://schemas.openxmlformats.org/drawingml/2006/main">
              <a:ext uri="{FF2B5EF4-FFF2-40B4-BE49-F238E27FC236}">
                <a16:creationId xmlns:a16="http://schemas.microsoft.com/office/drawing/2014/main" id="{48EE2CCA-78AC-4A72-8A31-3115567D20C2}"/>
              </a:ext>
            </a:extLst>
          </p:cNvPr>
          <p:cNvSpPr>
            <a:spLocks xmlns:a="http://schemas.openxmlformats.org/drawingml/2006/main" noGrp="1"/>
          </p:cNvSpPr>
          <p:nvPr/>
        </p:nvSpPr>
        <p:spPr>
          <a:xfrm xmlns:a="http://schemas.openxmlformats.org/drawingml/2006/main">
            <a:off x="571500" y="7334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Control-heart spatial transcriptomics</a:t>
            </a:r>
          </a:p>
        </p:txBody>
      </p:sp>
      <p:sp>
        <p:nvSpPr>
          <p:cNvPr id="3" name="">
            <a:extLst xmlns:a="http://schemas.openxmlformats.org/drawingml/2006/main">
              <a:ext uri="{FF2B5EF4-FFF2-40B4-BE49-F238E27FC236}">
                <a16:creationId xmlns:a16="http://schemas.microsoft.com/office/drawing/2014/main" id="{343964B0-E886-4616-861F-4FA2F955E84E}"/>
              </a:ext>
            </a:extLst>
          </p:cNvPr>
          <p:cNvSpPr>
            <a:spLocks xmlns:a="http://schemas.openxmlformats.org/drawingml/2006/main" noGrp="1"/>
          </p:cNvSpPr>
          <p:nvPr/>
        </p:nvSpPr>
        <p:spPr>
          <a:xfrm xmlns:a="http://schemas.openxmlformats.org/drawingml/2006/main">
            <a:off x="571500" y="1371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Kuppe et al., Nature 2022 · Visium + single-nucleus reference · four sections</a:t>
            </a:r>
          </a:p>
        </p:txBody>
      </p:sp>
      <p:sp>
        <p:nvSpPr>
          <p:cNvPr id="4" name="">
            <a:extLst xmlns:a="http://schemas.openxmlformats.org/drawingml/2006/main">
              <a:ext uri="{FF2B5EF4-FFF2-40B4-BE49-F238E27FC236}">
                <a16:creationId xmlns:a16="http://schemas.microsoft.com/office/drawing/2014/main" id="{82549C0B-DE47-43EF-8D01-A7645C4E4217}"/>
              </a:ext>
            </a:extLst>
          </p:cNvPr>
          <p:cNvSpPr>
            <a:spLocks xmlns:a="http://schemas.openxmlformats.org/drawingml/2006/main" noGrp="1"/>
          </p:cNvSpPr>
          <p:nvPr/>
        </p:nvSpPr>
        <p:spPr>
          <a:xfrm xmlns:a="http://schemas.openxmlformats.org/drawingml/2006/main">
            <a:off x="11239500"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9419FFE7-453E-4190-AA68-62E0384BC6D6}"/>
              </a:ext>
            </a:extLst>
          </p:cNvPr>
          <p:cNvSpPr>
            <a:spLocks xmlns:a="http://schemas.openxmlformats.org/drawingml/2006/main" noGrp="1"/>
          </p:cNvSpPr>
          <p:nvPr/>
        </p:nvSpPr>
        <p:spPr>
          <a:xfrm xmlns:a="http://schemas.openxmlformats.org/drawingml/2006/main">
            <a:off x="571500" y="1990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QUESTION AND EXECUTED WORKFLOW</a:t>
            </a:r>
          </a:p>
        </p:txBody>
      </p:sp>
      <p:sp>
        <p:nvSpPr>
          <p:cNvPr id="6" name="">
            <a:extLst xmlns:a="http://schemas.openxmlformats.org/drawingml/2006/main">
              <a:ext uri="{FF2B5EF4-FFF2-40B4-BE49-F238E27FC236}">
                <a16:creationId xmlns:a16="http://schemas.microsoft.com/office/drawing/2014/main" id="{C6B8131A-9087-4A85-9DE2-C259B5F93E42}"/>
              </a:ext>
            </a:extLst>
          </p:cNvPr>
          <p:cNvSpPr>
            <a:spLocks xmlns:a="http://schemas.openxmlformats.org/drawingml/2006/main" noGrp="1"/>
          </p:cNvSpPr>
          <p:nvPr/>
        </p:nvSpPr>
        <p:spPr>
          <a:xfrm xmlns:a="http://schemas.openxmlformats.org/drawingml/2006/main">
            <a:off x="571500" y="2438400"/>
            <a:ext cx="5381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Can spatial expression and reference signatures</a:t>
            </a:r>
          </a:p>
          <a:p xmlns:a="http://schemas.openxmlformats.org/drawingml/2006/main">
            <a:pPr>
              <a:defRPr sz="1725" b="1">
                <a:solidFill>
                  <a:srgbClr val="F4F8FB"/>
                </a:solidFill>
                <a:latin typeface="Aptos"/>
                <a:ea typeface="Aptos"/>
                <a:cs typeface="Aptos"/>
              </a:defRPr>
            </a:pPr>
            <a:r>
              <a:rPr sz="1725" b="1">
                <a:solidFill>
                  <a:srgbClr val="F4F8FB"/>
                </a:solidFill>
                <a:latin typeface="Aptos"/>
                <a:ea typeface="Aptos"/>
                <a:cs typeface="Aptos"/>
              </a:rPr>
              <a:t>help interpret mixed tissue spots?</a:t>
            </a:r>
          </a:p>
        </p:txBody>
      </p:sp>
      <p:sp>
        <p:nvSpPr>
          <p:cNvPr id="7" name="">
            <a:extLst xmlns:a="http://schemas.openxmlformats.org/drawingml/2006/main">
              <a:ext uri="{FF2B5EF4-FFF2-40B4-BE49-F238E27FC236}">
                <a16:creationId xmlns:a16="http://schemas.microsoft.com/office/drawing/2014/main" id="{83308814-E2B9-42AC-B3CB-6AA5CA194399}"/>
              </a:ext>
            </a:extLst>
          </p:cNvPr>
          <p:cNvSpPr>
            <a:spLocks xmlns:a="http://schemas.openxmlformats.org/drawingml/2006/main" noGrp="1"/>
          </p:cNvSpPr>
          <p:nvPr/>
        </p:nvSpPr>
        <p:spPr>
          <a:xfrm xmlns:a="http://schemas.openxmlformats.org/drawingml/2006/main">
            <a:off x="571500" y="3257550"/>
            <a:ext cx="5334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QC: 11,725 → 11,719 spots; 36,601 genes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MT genes retained; mitochondrial filtering off</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Normalize + log1p → 3,000 variable genes</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50 PCs computed; 30 used; Leiden 0.5</a:t>
            </a:r>
          </a:p>
          <a:p xmlns:a="http://schemas.openxmlformats.org/drawingml/2006/main">
            <a:pPr>
              <a:defRPr sz="1575" b="0">
                <a:solidFill>
                  <a:srgbClr val="F4F8FB"/>
                </a:solidFill>
                <a:latin typeface="Aptos"/>
                <a:ea typeface="Aptos"/>
                <a:cs typeface="Aptos"/>
              </a:defRPr>
            </a:pPr>
            <a:r>
              <a:rPr sz="1575" b="0">
                <a:solidFill>
                  <a:srgbClr val="F4F8FB"/>
                </a:solidFill>
                <a:latin typeface="Aptos"/>
                <a:ea typeface="Aptos"/>
                <a:cs typeface="Aptos"/>
              </a:rPr>
              <a:t>Spatial graphs built separately per section</a:t>
            </a:r>
          </a:p>
        </p:txBody>
      </p:sp>
      <p:sp>
        <p:nvSpPr>
          <p:cNvPr id="8" name="">
            <a:extLst xmlns:a="http://schemas.openxmlformats.org/drawingml/2006/main">
              <a:ext uri="{FF2B5EF4-FFF2-40B4-BE49-F238E27FC236}">
                <a16:creationId xmlns:a16="http://schemas.microsoft.com/office/drawing/2014/main" id="{D0143634-3748-4556-B217-6F0A0F560C91}"/>
              </a:ext>
            </a:extLst>
          </p:cNvPr>
          <p:cNvSpPr>
            <a:spLocks xmlns:a="http://schemas.openxmlformats.org/drawingml/2006/main" noGrp="1"/>
          </p:cNvSpPr>
          <p:nvPr/>
        </p:nvSpPr>
        <p:spPr>
          <a:xfrm xmlns:a="http://schemas.openxmlformats.org/drawingml/2006/main">
            <a:off x="571500" y="4972050"/>
            <a:ext cx="5381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NNLS: 11 reference cell-type signatures</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Moran’s I, neighbourhoods and composition groups</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Ligand–receptor hypotheses and SVG GSEA</a:t>
            </a:r>
          </a:p>
          <a:p xmlns:a="http://schemas.openxmlformats.org/drawingml/2006/main">
            <a:pPr>
              <a:defRPr sz="1500" b="0">
                <a:solidFill>
                  <a:srgbClr val="A9BAC6"/>
                </a:solidFill>
                <a:latin typeface="Aptos"/>
                <a:ea typeface="Aptos"/>
                <a:cs typeface="Aptos"/>
              </a:defRPr>
            </a:pPr>
            <a:r>
              <a:rPr sz="1500" b="0">
                <a:solidFill>
                  <a:srgbClr val="A9BAC6"/>
                </a:solidFill>
                <a:latin typeface="Aptos"/>
                <a:ea typeface="Aptos"/>
                <a:cs typeface="Aptos"/>
              </a:rPr>
              <a:t>Imputation excluded from this corrected run</a:t>
            </a:r>
          </a:p>
        </p:txBody>
      </p:sp>
      <p:sp>
        <p:nvSpPr>
          <p:cNvPr id="9" name="">
            <a:extLst xmlns:a="http://schemas.openxmlformats.org/drawingml/2006/main">
              <a:ext uri="{FF2B5EF4-FFF2-40B4-BE49-F238E27FC236}">
                <a16:creationId xmlns:a16="http://schemas.microsoft.com/office/drawing/2014/main" id="{EAFC926C-72D3-4BEB-9A05-BBC04C4F5036}"/>
              </a:ext>
            </a:extLst>
          </p:cNvPr>
          <p:cNvSpPr>
            <a:spLocks xmlns:a="http://schemas.openxmlformats.org/drawingml/2006/main" noGrp="1"/>
          </p:cNvSpPr>
          <p:nvPr/>
        </p:nvSpPr>
        <p:spPr>
          <a:xfrm xmlns:a="http://schemas.openxmlformats.org/drawingml/2006/main">
            <a:off x="6286500" y="19907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5D0C7"/>
                </a:solidFill>
                <a:latin typeface="Aptos"/>
                <a:ea typeface="Aptos"/>
                <a:cs typeface="Aptos"/>
              </a:defRPr>
            </a:pPr>
            <a:r>
              <a:rPr sz="1425" b="1">
                <a:solidFill>
                  <a:srgbClr val="55D0C7"/>
                </a:solidFill>
                <a:latin typeface="Aptos"/>
                <a:ea typeface="Aptos"/>
                <a:cs typeface="Aptos"/>
              </a:rPr>
              <a:t>RESULTS AND VALIDATION</a:t>
            </a:r>
          </a:p>
        </p:txBody>
      </p:sp>
      <p:graphicFrame>
        <p:nvGraphicFramePr>
          <p:cNvPr id="22" name=""/>
          <p:cNvGraphicFramePr/>
          <p:nvPr/>
        </p:nvGraphicFramePr>
        <p:xfrm>
          <a:off xmlns:a="http://schemas.openxmlformats.org/drawingml/2006/main" x="6286500" y="2495550"/>
          <a:ext xmlns:a="http://schemas.openxmlformats.org/drawingml/2006/main" cx="5334000" cy="3124200"/>
        </p:xfrm>
        <a:graphic xmlns:a="http://schemas.openxmlformats.org/drawingml/2006/main">
          <a:graphicData uri="http://schemas.openxmlformats.org/drawingml/2006/table">
            <a:tbl>
              <a:tblPr/>
              <a:tblGrid>
                <a:gridCol w="1428750"/>
                <a:gridCol w="3905250"/>
              </a:tblGrid>
              <a:tr h="400050">
                <a:tc>
                  <a:txBody>
                    <a:bodyPr/>
                    <a:lstStyle/>
                    <a:p>
                      <a:r>
                        <a:rPr sz="1350" b="1">
                          <a:solidFill>
                            <a:srgbClr val="F4F8FB"/>
                          </a:solidFill>
                          <a:latin typeface="Aptos"/>
                          <a:ea typeface="Aptos"/>
                          <a:cs typeface="Aptos"/>
                        </a:rPr>
                        <a:t>Analysis</a:t>
                      </a:r>
                    </a:p>
                  </a:txBody>
                  <a:tcPr marL="114300" marR="95250" marT="114300" marB="114300">
                    <a:solidFill>
                      <a:srgbClr val="245466"/>
                    </a:solidFill>
                  </a:tcPr>
                </a:tc>
                <a:tc>
                  <a:txBody>
                    <a:bodyPr/>
                    <a:lstStyle/>
                    <a:p>
                      <a:r>
                        <a:rPr sz="1350" b="1">
                          <a:solidFill>
                            <a:srgbClr val="F4F8FB"/>
                          </a:solidFill>
                          <a:latin typeface="Aptos"/>
                          <a:ea typeface="Aptos"/>
                          <a:cs typeface="Aptos"/>
                        </a:rPr>
                        <a:t>Result and interpretation</a:t>
                      </a:r>
                    </a:p>
                  </a:txBody>
                  <a:tcPr marL="114300" marR="95250" marT="114300" marB="114300">
                    <a:solidFill>
                      <a:srgbClr val="245466"/>
                    </a:solidFill>
                  </a:tcPr>
                </a:tc>
              </a:tr>
              <a:tr h="676275">
                <a:tc>
                  <a:txBody>
                    <a:bodyPr/>
                    <a:lstStyle/>
                    <a:p>
                      <a:r>
                        <a:rPr sz="1350">
                          <a:solidFill>
                            <a:srgbClr val="F4F8FB"/>
                          </a:solidFill>
                          <a:latin typeface="Aptos"/>
                          <a:ea typeface="Aptos"/>
                          <a:cs typeface="Aptos"/>
                        </a:rPr>
                        <a:t>Spatial graph</a:t>
                      </a:r>
                    </a:p>
                  </a:txBody>
                  <a:tcPr marL="114300" marR="95250" marT="114300" marB="114300">
                    <a:solidFill>
                      <a:srgbClr val="112634"/>
                    </a:solidFill>
                  </a:tcPr>
                </a:tc>
                <a:tc>
                  <a:txBody>
                    <a:bodyPr/>
                    <a:lstStyle/>
                    <a:p>
                      <a:r>
                        <a:rPr sz="1350">
                          <a:solidFill>
                            <a:srgbClr val="F4F8FB"/>
                          </a:solidFill>
                          <a:latin typeface="Aptos"/>
                          <a:ea typeface="Aptos"/>
                          <a:cs typeface="Aptos"/>
                        </a:rPr>
                        <a:t>Zero cross-section adjacency entries</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Expression</a:t>
                      </a:r>
                    </a:p>
                  </a:txBody>
                  <a:tcPr marL="114300" marR="95250" marT="114300" marB="114300">
                    <a:solidFill>
                      <a:srgbClr val="112634"/>
                    </a:solidFill>
                  </a:tcPr>
                </a:tc>
                <a:tc>
                  <a:txBody>
                    <a:bodyPr/>
                    <a:lstStyle/>
                    <a:p>
                      <a:r>
                        <a:rPr sz="1350">
                          <a:solidFill>
                            <a:srgbClr val="F4F8FB"/>
                          </a:solidFill>
                          <a:latin typeface="Aptos"/>
                          <a:ea typeface="Aptos"/>
                          <a:cs typeface="Aptos"/>
                        </a:rPr>
                        <a:t>673 candidate SVGs / 3,000 tested;</a:t>
                      </a:r>
                    </a:p>
                    <a:p>
                      <a:r>
                        <a:rPr sz="1350">
                          <a:solidFill>
                            <a:srgbClr val="F4F8FB"/>
                          </a:solidFill>
                          <a:latin typeface="Aptos"/>
                          <a:ea typeface="Aptos"/>
                          <a:cs typeface="Aptos"/>
                        </a:rPr>
                        <a:t>five clusters strongly track sections</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NNLS / regions</a:t>
                      </a:r>
                    </a:p>
                  </a:txBody>
                  <a:tcPr marL="114300" marR="95250" marT="114300" marB="114300">
                    <a:solidFill>
                      <a:srgbClr val="112634"/>
                    </a:solidFill>
                  </a:tcPr>
                </a:tc>
                <a:tc>
                  <a:txBody>
                    <a:bodyPr/>
                    <a:lstStyle/>
                    <a:p>
                      <a:r>
                        <a:rPr sz="1350">
                          <a:solidFill>
                            <a:srgbClr val="F4F8FB"/>
                          </a:solidFill>
                          <a:latin typeface="Aptos"/>
                          <a:ea typeface="Aptos"/>
                          <a:cs typeface="Aptos"/>
                        </a:rPr>
                        <a:t>Median relative residual 0.985;</a:t>
                      </a:r>
                    </a:p>
                    <a:p>
                      <a:r>
                        <a:rPr sz="1350">
                          <a:solidFill>
                            <a:srgbClr val="F4F8FB"/>
                          </a:solidFill>
                          <a:latin typeface="Aptos"/>
                          <a:ea typeface="Aptos"/>
                          <a:cs typeface="Aptos"/>
                        </a:rPr>
                        <a:t>45 composition groups remain provisional</a:t>
                      </a:r>
                    </a:p>
                  </a:txBody>
                  <a:tcPr marL="114300" marR="95250" marT="114300" marB="114300">
                    <a:solidFill>
                      <a:srgbClr val="112634"/>
                    </a:solidFill>
                  </a:tcPr>
                </a:tc>
              </a:tr>
              <a:tr h="676275">
                <a:tc>
                  <a:txBody>
                    <a:bodyPr/>
                    <a:lstStyle/>
                    <a:p>
                      <a:r>
                        <a:rPr sz="1350">
                          <a:solidFill>
                            <a:srgbClr val="F4F8FB"/>
                          </a:solidFill>
                          <a:latin typeface="Aptos"/>
                          <a:ea typeface="Aptos"/>
                          <a:cs typeface="Aptos"/>
                        </a:rPr>
                        <a:t>Pathways</a:t>
                      </a:r>
                    </a:p>
                  </a:txBody>
                  <a:tcPr marL="114300" marR="95250" marT="114300" marB="114300">
                    <a:solidFill>
                      <a:srgbClr val="112634"/>
                    </a:solidFill>
                  </a:tcPr>
                </a:tc>
                <a:tc>
                  <a:txBody>
                    <a:bodyPr/>
                    <a:lstStyle/>
                    <a:p>
                      <a:r>
                        <a:rPr sz="1350">
                          <a:solidFill>
                            <a:srgbClr val="F4F8FB"/>
                          </a:solidFill>
                          <a:latin typeface="Aptos"/>
                          <a:ea typeface="Aptos"/>
                          <a:cs typeface="Aptos"/>
                        </a:rPr>
                        <a:t>0 / 1,156 significant at FDR &lt; 0.05;</a:t>
                      </a:r>
                    </a:p>
                    <a:p>
                      <a:r>
                        <a:rPr sz="1350">
                          <a:solidFill>
                            <a:srgbClr val="F4F8FB"/>
                          </a:solidFill>
                          <a:latin typeface="Aptos"/>
                          <a:ea typeface="Aptos"/>
                          <a:cs typeface="Aptos"/>
                        </a:rPr>
                        <a:t>Moran ranking ≠ pathway activation</a:t>
                      </a:r>
                    </a:p>
                  </a:txBody>
                  <a:tcPr marL="114300" marR="95250" marT="114300" marB="114300">
                    <a:solidFill>
                      <a:srgbClr val="112634"/>
                    </a:solidFill>
                  </a:tcPr>
                </a:tc>
              </a:tr>
            </a:tbl>
          </a:graphicData>
        </a:graphic>
      </p:graphicFrame>
      <p:sp>
        <p:nvSpPr>
          <p:cNvPr id="11" name="">
            <a:extLst xmlns:a="http://schemas.openxmlformats.org/drawingml/2006/main">
              <a:ext uri="{FF2B5EF4-FFF2-40B4-BE49-F238E27FC236}">
                <a16:creationId xmlns:a16="http://schemas.microsoft.com/office/drawing/2014/main" id="{92D1479B-7916-48C2-8E68-8D4046BEC3EC}"/>
              </a:ext>
            </a:extLst>
          </p:cNvPr>
          <p:cNvSpPr>
            <a:spLocks xmlns:a="http://schemas.openxmlformats.org/drawingml/2006/main" noGrp="1"/>
          </p:cNvSpPr>
          <p:nvPr/>
        </p:nvSpPr>
        <p:spPr>
          <a:xfrm xmlns:a="http://schemas.openxmlformats.org/drawingml/2006/main">
            <a:off x="571500" y="61531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6A04D"/>
                </a:solidFill>
                <a:latin typeface="Aptos"/>
                <a:ea typeface="Aptos"/>
                <a:cs typeface="Aptos"/>
              </a:defRPr>
            </a:pPr>
            <a:r>
              <a:rPr sz="1500" b="1">
                <a:solidFill>
                  <a:srgbClr val="F6A04D"/>
                </a:solidFill>
                <a:latin typeface="Aptos"/>
                <a:ea typeface="Aptos"/>
                <a:cs typeface="Aptos"/>
              </a:rPr>
              <a:t>Direct gene-expression patterns are more defensible than the current inferred cell composition.</a:t>
            </a:r>
          </a:p>
        </p:txBody>
      </p:sp>
      <p:sp>
        <p:nvSpPr>
          <p:cNvPr id="12" name="">
            <a:extLst xmlns:a="http://schemas.openxmlformats.org/drawingml/2006/main">
              <a:ext uri="{FF2B5EF4-FFF2-40B4-BE49-F238E27FC236}">
                <a16:creationId xmlns:a16="http://schemas.microsoft.com/office/drawing/2014/main" id="{286B2383-DD68-45BF-AF64-F4ADF66195BD}"/>
              </a:ext>
            </a:extLst>
          </p:cNvPr>
          <p:cNvSpPr>
            <a:spLocks xmlns:a="http://schemas.openxmlformats.org/drawingml/2006/main" noGrp="1"/>
          </p:cNvSpPr>
          <p:nvPr/>
        </p:nvSpPr>
        <p:spPr>
          <a:xfrm xmlns:a="http://schemas.openxmlformats.org/drawingml/2006/main">
            <a:off x="571500" y="6543675"/>
            <a:ext cx="10525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7F9AAF"/>
                </a:solidFill>
                <a:latin typeface="Aptos"/>
                <a:ea typeface="Aptos"/>
                <a:cs typeface="Aptos"/>
              </a:defRPr>
            </a:pPr>
            <a:r>
              <a:rPr sz="1050" b="0">
                <a:solidFill>
                  <a:srgbClr val="7F9AAF"/>
                </a:solidFill>
                <a:latin typeface="Aptos"/>
                <a:ea typeface="Aptos"/>
                <a:cs typeface="Aptos"/>
              </a:rPr>
              <a:t>Control-only benchmark · section and donor effects remain · cell-type proportions require validation</a:t>
            </a:r>
          </a:p>
        </p:txBody>
      </p:sp>
    </p:spTree>
    <p:extLst>
      <p:ext uri="{BB962C8B-B14F-4D97-AF65-F5344CB8AC3E}">
        <p14:creationId xmlns:p14="http://schemas.microsoft.com/office/powerpoint/2010/main" val="798907440"/>
      </p:ext>
    </p:extLst>
  </p:cSld>
</p:sld>
</file>

<file path=ppt/slides/slide2.xml><?xml version="1.0" encoding="utf-8"?>
<p:sld xmlns:p="http://schemas.openxmlformats.org/presentationml/2006/main">
  <p:cSld>
    <p:bg>
      <p:bgPr>
        <a:solidFill xmlns:a="http://schemas.openxmlformats.org/drawingml/2006/main">
          <a:srgbClr val="0B18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DF8EBF2-E443-4A6B-89D1-F13372EAB96F}"/>
              </a:ext>
            </a:extLst>
          </p:cNvPr>
          <p:cNvSpPr>
            <a:spLocks xmlns:a="http://schemas.openxmlformats.org/drawingml/2006/main" noGrp="1"/>
          </p:cNvSpPr>
          <p:nvPr/>
        </p:nvSpPr>
        <p:spPr>
          <a:xfrm xmlns:a="http://schemas.openxmlformats.org/drawingml/2006/main">
            <a:off x="571500" y="2857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5D0C7"/>
                </a:solidFill>
                <a:latin typeface="Aptos"/>
                <a:ea typeface="Aptos"/>
                <a:cs typeface="Aptos"/>
              </a:defRPr>
            </a:pPr>
            <a:r>
              <a:rPr sz="1275" b="1">
                <a:solidFill>
                  <a:srgbClr val="55D0C7"/>
                </a:solidFill>
                <a:latin typeface="Aptos"/>
                <a:ea typeface="Aptos"/>
                <a:cs typeface="Aptos"/>
              </a:rPr>
              <a:t>10 / SPATIAL BIOLOGICAL INTERPRETATION</a:t>
            </a:r>
          </a:p>
        </p:txBody>
      </p:sp>
      <p:sp>
        <p:nvSpPr>
          <p:cNvPr id="2" name="">
            <a:extLst xmlns:a="http://schemas.openxmlformats.org/drawingml/2006/main">
              <a:ext uri="{FF2B5EF4-FFF2-40B4-BE49-F238E27FC236}">
                <a16:creationId xmlns:a16="http://schemas.microsoft.com/office/drawing/2014/main" id="{5769B645-B012-4715-BB2A-A389147FEC37}"/>
              </a:ext>
            </a:extLst>
          </p:cNvPr>
          <p:cNvSpPr>
            <a:spLocks xmlns:a="http://schemas.openxmlformats.org/drawingml/2006/main" noGrp="1"/>
          </p:cNvSpPr>
          <p:nvPr/>
        </p:nvSpPr>
        <p:spPr>
          <a:xfrm xmlns:a="http://schemas.openxmlformats.org/drawingml/2006/main">
            <a:off x="571500" y="7334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8FB"/>
                </a:solidFill>
                <a:latin typeface="Aptos"/>
                <a:ea typeface="Aptos"/>
                <a:cs typeface="Aptos"/>
              </a:defRPr>
            </a:pPr>
            <a:r>
              <a:rPr sz="2550" b="1">
                <a:solidFill>
                  <a:srgbClr val="F4F8FB"/>
                </a:solidFill>
                <a:latin typeface="Aptos"/>
                <a:ea typeface="Aptos"/>
                <a:cs typeface="Aptos"/>
              </a:rPr>
              <a:t>Cardiac expression varies across control sections</a:t>
            </a:r>
          </a:p>
        </p:txBody>
      </p:sp>
      <p:sp>
        <p:nvSpPr>
          <p:cNvPr id="3" name="">
            <a:extLst xmlns:a="http://schemas.openxmlformats.org/drawingml/2006/main">
              <a:ext uri="{FF2B5EF4-FFF2-40B4-BE49-F238E27FC236}">
                <a16:creationId xmlns:a16="http://schemas.microsoft.com/office/drawing/2014/main" id="{E25F5FBC-E489-4E68-9356-CE298B4AFC73}"/>
              </a:ext>
            </a:extLst>
          </p:cNvPr>
          <p:cNvSpPr>
            <a:spLocks xmlns:a="http://schemas.openxmlformats.org/drawingml/2006/main" noGrp="1"/>
          </p:cNvSpPr>
          <p:nvPr/>
        </p:nvSpPr>
        <p:spPr>
          <a:xfrm xmlns:a="http://schemas.openxmlformats.org/drawingml/2006/main">
            <a:off x="571500" y="1371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AC6"/>
                </a:solidFill>
                <a:latin typeface="Aptos"/>
                <a:ea typeface="Aptos"/>
                <a:cs typeface="Aptos"/>
              </a:defRPr>
            </a:pPr>
            <a:r>
              <a:rPr sz="1650" b="0">
                <a:solidFill>
                  <a:srgbClr val="A9BAC6"/>
                </a:solidFill>
                <a:latin typeface="Aptos"/>
                <a:ea typeface="Aptos"/>
                <a:cs typeface="Aptos"/>
              </a:rPr>
              <a:t>Direct spatial expression · shared NPPB colour scale · mixed-cell Visium spots</a:t>
            </a:r>
          </a:p>
        </p:txBody>
      </p:sp>
      <p:sp>
        <p:nvSpPr>
          <p:cNvPr id="4" name="">
            <a:extLst xmlns:a="http://schemas.openxmlformats.org/drawingml/2006/main">
              <a:ext uri="{FF2B5EF4-FFF2-40B4-BE49-F238E27FC236}">
                <a16:creationId xmlns:a16="http://schemas.microsoft.com/office/drawing/2014/main" id="{6E234B7D-6F09-42A4-BBAD-2B9B94E535B5}"/>
              </a:ext>
            </a:extLst>
          </p:cNvPr>
          <p:cNvSpPr>
            <a:spLocks xmlns:a="http://schemas.openxmlformats.org/drawingml/2006/main" noGrp="1"/>
          </p:cNvSpPr>
          <p:nvPr/>
        </p:nvSpPr>
        <p:spPr>
          <a:xfrm xmlns:a="http://schemas.openxmlformats.org/drawingml/2006/main">
            <a:off x="11239500" y="65436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F9AAF"/>
                </a:solidFill>
                <a:latin typeface="Aptos"/>
                <a:ea typeface="Aptos"/>
                <a:cs typeface="Aptos"/>
              </a:defRPr>
            </a:pPr>
            <a:r>
              <a:rPr sz="1125" b="0">
                <a:solidFill>
                  <a:srgbClr val="7F9AAF"/>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BEF5D79F-FE4F-4C41-90A2-8630DB71FB4E}"/>
              </a:ext>
            </a:extLst>
          </p:cNvPr>
          <p:cNvSpPr>
            <a:spLocks xmlns:a="http://schemas.openxmlformats.org/drawingml/2006/main" noGrp="1"/>
          </p:cNvSpPr>
          <p:nvPr/>
        </p:nvSpPr>
        <p:spPr>
          <a:xfrm xmlns:a="http://schemas.openxmlformats.org/drawingml/2006/main">
            <a:off x="571500" y="19145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5D0C7"/>
                </a:solidFill>
                <a:latin typeface="Aptos"/>
                <a:ea typeface="Aptos"/>
                <a:cs typeface="Aptos"/>
              </a:defRPr>
            </a:pPr>
            <a:r>
              <a:rPr sz="1350" b="1">
                <a:solidFill>
                  <a:srgbClr val="55D0C7"/>
                </a:solidFill>
                <a:latin typeface="Aptos"/>
                <a:ea typeface="Aptos"/>
                <a:cs typeface="Aptos"/>
              </a:rPr>
              <a:t>NPPB: STRONG SECTION DIFFERENCES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748ec59df7147c0"/>
          <a:stretch xmlns:a="http://schemas.openxmlformats.org/drawingml/2006/main"/>
        </p:blipFill>
        <p:spPr>
          <a:xfrm xmlns:a="http://schemas.openxmlformats.org/drawingml/2006/main">
            <a:off x="523875" y="2229871"/>
            <a:ext cx="11144250" cy="262685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BADB8C2-1ED8-46D1-8FCD-1C57D9BCA484}"/>
              </a:ext>
            </a:extLst>
          </p:cNvPr>
          <p:cNvSpPr>
            <a:spLocks xmlns:a="http://schemas.openxmlformats.org/drawingml/2006/main" noGrp="1"/>
          </p:cNvSpPr>
          <p:nvPr/>
        </p:nvSpPr>
        <p:spPr>
          <a:xfrm xmlns:a="http://schemas.openxmlformats.org/drawingml/2006/main">
            <a:off x="57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MYL2</a:t>
            </a:r>
          </a:p>
        </p:txBody>
      </p:sp>
      <p:sp>
        <p:nvSpPr>
          <p:cNvPr id="8" name="">
            <a:extLst xmlns:a="http://schemas.openxmlformats.org/drawingml/2006/main">
              <a:ext uri="{FF2B5EF4-FFF2-40B4-BE49-F238E27FC236}">
                <a16:creationId xmlns:a16="http://schemas.microsoft.com/office/drawing/2014/main" id="{D5F859D4-4543-4CCD-9F34-BAF38ECDFEC0}"/>
              </a:ext>
            </a:extLst>
          </p:cNvPr>
          <p:cNvSpPr>
            <a:spLocks xmlns:a="http://schemas.openxmlformats.org/drawingml/2006/main" noGrp="1"/>
          </p:cNvSpPr>
          <p:nvPr/>
        </p:nvSpPr>
        <p:spPr>
          <a:xfrm xmlns:a="http://schemas.openxmlformats.org/drawingml/2006/main">
            <a:off x="57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Contractile-expression component</a:t>
            </a:r>
          </a:p>
        </p:txBody>
      </p:sp>
      <p:sp>
        <p:nvSpPr>
          <p:cNvPr id="9" name="">
            <a:extLst xmlns:a="http://schemas.openxmlformats.org/drawingml/2006/main">
              <a:ext uri="{FF2B5EF4-FFF2-40B4-BE49-F238E27FC236}">
                <a16:creationId xmlns:a16="http://schemas.microsoft.com/office/drawing/2014/main" id="{EF3227A3-BA3D-46BF-9854-ADC8AF0E676A}"/>
              </a:ext>
            </a:extLst>
          </p:cNvPr>
          <p:cNvSpPr>
            <a:spLocks xmlns:a="http://schemas.openxmlformats.org/drawingml/2006/main" noGrp="1"/>
          </p:cNvSpPr>
          <p:nvPr/>
        </p:nvSpPr>
        <p:spPr>
          <a:xfrm xmlns:a="http://schemas.openxmlformats.org/drawingml/2006/main">
            <a:off x="57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Widespread in all four sections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Moran’s I = 0.759</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Expression ≠ contractile function</a:t>
            </a:r>
          </a:p>
        </p:txBody>
      </p:sp>
      <p:sp>
        <p:nvSpPr>
          <p:cNvPr id="10" name="">
            <a:extLst xmlns:a="http://schemas.openxmlformats.org/drawingml/2006/main">
              <a:ext uri="{FF2B5EF4-FFF2-40B4-BE49-F238E27FC236}">
                <a16:creationId xmlns:a16="http://schemas.microsoft.com/office/drawing/2014/main" id="{2330B685-5BE5-4717-A2FE-56436B307B65}"/>
              </a:ext>
            </a:extLst>
          </p:cNvPr>
          <p:cNvSpPr>
            <a:spLocks xmlns:a="http://schemas.openxmlformats.org/drawingml/2006/main" noGrp="1"/>
          </p:cNvSpPr>
          <p:nvPr/>
        </p:nvSpPr>
        <p:spPr>
          <a:xfrm xmlns:a="http://schemas.openxmlformats.org/drawingml/2006/main">
            <a:off x="438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NPPB</a:t>
            </a:r>
          </a:p>
        </p:txBody>
      </p:sp>
      <p:sp>
        <p:nvSpPr>
          <p:cNvPr id="11" name="">
            <a:extLst xmlns:a="http://schemas.openxmlformats.org/drawingml/2006/main">
              <a:ext uri="{FF2B5EF4-FFF2-40B4-BE49-F238E27FC236}">
                <a16:creationId xmlns:a16="http://schemas.microsoft.com/office/drawing/2014/main" id="{6419D6EE-E54B-4DEC-B7B7-F21C9F2C3E1D}"/>
              </a:ext>
            </a:extLst>
          </p:cNvPr>
          <p:cNvSpPr>
            <a:spLocks xmlns:a="http://schemas.openxmlformats.org/drawingml/2006/main" noGrp="1"/>
          </p:cNvSpPr>
          <p:nvPr/>
        </p:nvSpPr>
        <p:spPr>
          <a:xfrm xmlns:a="http://schemas.openxmlformats.org/drawingml/2006/main">
            <a:off x="438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Candidate stress-associated pattern</a:t>
            </a:r>
          </a:p>
        </p:txBody>
      </p:sp>
      <p:sp>
        <p:nvSpPr>
          <p:cNvPr id="12" name="">
            <a:extLst xmlns:a="http://schemas.openxmlformats.org/drawingml/2006/main">
              <a:ext uri="{FF2B5EF4-FFF2-40B4-BE49-F238E27FC236}">
                <a16:creationId xmlns:a16="http://schemas.microsoft.com/office/drawing/2014/main" id="{32243E5A-DE29-4130-8228-1CAF90D347B8}"/>
              </a:ext>
            </a:extLst>
          </p:cNvPr>
          <p:cNvSpPr>
            <a:spLocks xmlns:a="http://schemas.openxmlformats.org/drawingml/2006/main" noGrp="1"/>
          </p:cNvSpPr>
          <p:nvPr/>
        </p:nvSpPr>
        <p:spPr>
          <a:xfrm xmlns:a="http://schemas.openxmlformats.org/drawingml/2006/main">
            <a:off x="438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Detected in 84% of P1 spots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Only 1–6% in the other sections</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No disease-induced change established</a:t>
            </a:r>
          </a:p>
        </p:txBody>
      </p:sp>
      <p:sp>
        <p:nvSpPr>
          <p:cNvPr id="13" name="">
            <a:extLst xmlns:a="http://schemas.openxmlformats.org/drawingml/2006/main">
              <a:ext uri="{FF2B5EF4-FFF2-40B4-BE49-F238E27FC236}">
                <a16:creationId xmlns:a16="http://schemas.microsoft.com/office/drawing/2014/main" id="{D381333B-2D18-42F6-9BA8-55AEDE405220}"/>
              </a:ext>
            </a:extLst>
          </p:cNvPr>
          <p:cNvSpPr>
            <a:spLocks xmlns:a="http://schemas.openxmlformats.org/drawingml/2006/main" noGrp="1"/>
          </p:cNvSpPr>
          <p:nvPr/>
        </p:nvSpPr>
        <p:spPr>
          <a:xfrm xmlns:a="http://schemas.openxmlformats.org/drawingml/2006/main">
            <a:off x="8191500" y="49720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5D0C7"/>
                </a:solidFill>
                <a:latin typeface="Aptos"/>
                <a:ea typeface="Aptos"/>
                <a:cs typeface="Aptos"/>
              </a:defRPr>
            </a:pPr>
            <a:r>
              <a:rPr sz="1875" b="1">
                <a:solidFill>
                  <a:srgbClr val="55D0C7"/>
                </a:solidFill>
                <a:latin typeface="Aptos"/>
                <a:ea typeface="Aptos"/>
                <a:cs typeface="Aptos"/>
              </a:rPr>
              <a:t>ANKRD1</a:t>
            </a:r>
          </a:p>
        </p:txBody>
      </p:sp>
      <p:sp>
        <p:nvSpPr>
          <p:cNvPr id="14" name="">
            <a:extLst xmlns:a="http://schemas.openxmlformats.org/drawingml/2006/main">
              <a:ext uri="{FF2B5EF4-FFF2-40B4-BE49-F238E27FC236}">
                <a16:creationId xmlns:a16="http://schemas.microsoft.com/office/drawing/2014/main" id="{42971963-E4D6-422D-A82E-DF373A484DE7}"/>
              </a:ext>
            </a:extLst>
          </p:cNvPr>
          <p:cNvSpPr>
            <a:spLocks xmlns:a="http://schemas.openxmlformats.org/drawingml/2006/main" noGrp="1"/>
          </p:cNvSpPr>
          <p:nvPr/>
        </p:nvSpPr>
        <p:spPr>
          <a:xfrm xmlns:a="http://schemas.openxmlformats.org/drawingml/2006/main">
            <a:off x="8191500" y="53149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4F8FB"/>
                </a:solidFill>
                <a:latin typeface="Aptos"/>
                <a:ea typeface="Aptos"/>
                <a:cs typeface="Aptos"/>
              </a:defRPr>
            </a:pPr>
            <a:r>
              <a:rPr sz="1350" b="1">
                <a:solidFill>
                  <a:srgbClr val="F4F8FB"/>
                </a:solidFill>
                <a:latin typeface="Aptos"/>
                <a:ea typeface="Aptos"/>
                <a:cs typeface="Aptos"/>
              </a:rPr>
              <a:t>Supporting cardiac-state marker</a:t>
            </a:r>
          </a:p>
        </p:txBody>
      </p:sp>
      <p:sp>
        <p:nvSpPr>
          <p:cNvPr id="15" name="">
            <a:extLst xmlns:a="http://schemas.openxmlformats.org/drawingml/2006/main">
              <a:ext uri="{FF2B5EF4-FFF2-40B4-BE49-F238E27FC236}">
                <a16:creationId xmlns:a16="http://schemas.microsoft.com/office/drawing/2014/main" id="{5A1E4D86-4341-457A-A0FD-92CAFE47DCA5}"/>
              </a:ext>
            </a:extLst>
          </p:cNvPr>
          <p:cNvSpPr>
            <a:spLocks xmlns:a="http://schemas.openxmlformats.org/drawingml/2006/main" noGrp="1"/>
          </p:cNvSpPr>
          <p:nvPr/>
        </p:nvSpPr>
        <p:spPr>
          <a:xfrm xmlns:a="http://schemas.openxmlformats.org/drawingml/2006/main">
            <a:off x="8191500" y="565785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Higher mean expression in P1 / P8</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Moran’s I = 0.611</a:t>
            </a:r>
          </a:p>
          <a:p xmlns:a="http://schemas.openxmlformats.org/drawingml/2006/main">
            <a:pPr>
              <a:defRPr sz="1350" b="0">
                <a:solidFill>
                  <a:srgbClr val="A9BAC6"/>
                </a:solidFill>
                <a:latin typeface="Aptos"/>
                <a:ea typeface="Aptos"/>
                <a:cs typeface="Aptos"/>
              </a:defRPr>
            </a:pPr>
            <a:r>
              <a:rPr sz="1350" b="0">
                <a:solidFill>
                  <a:srgbClr val="A9BAC6"/>
                </a:solidFill>
                <a:latin typeface="Aptos"/>
                <a:ea typeface="Aptos"/>
                <a:cs typeface="Aptos"/>
              </a:rPr>
              <a:t>Section effects require investigation</a:t>
            </a:r>
          </a:p>
        </p:txBody>
      </p:sp>
      <p:sp>
        <p:nvSpPr>
          <p:cNvPr id="16" name="">
            <a:extLst xmlns:a="http://schemas.openxmlformats.org/drawingml/2006/main">
              <a:ext uri="{FF2B5EF4-FFF2-40B4-BE49-F238E27FC236}">
                <a16:creationId xmlns:a16="http://schemas.microsoft.com/office/drawing/2014/main" id="{44390611-3712-4EFB-8EF9-8B85B35B0413}"/>
              </a:ext>
            </a:extLst>
          </p:cNvPr>
          <p:cNvSpPr>
            <a:spLocks xmlns:a="http://schemas.openxmlformats.org/drawingml/2006/main" noGrp="1"/>
          </p:cNvSpPr>
          <p:nvPr/>
        </p:nvSpPr>
        <p:spPr>
          <a:xfrm xmlns:a="http://schemas.openxmlformats.org/drawingml/2006/main">
            <a:off x="571500" y="6543675"/>
            <a:ext cx="10525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F6A04D"/>
                </a:solidFill>
                <a:latin typeface="Aptos"/>
                <a:ea typeface="Aptos"/>
                <a:cs typeface="Aptos"/>
              </a:defRPr>
            </a:pPr>
            <a:r>
              <a:rPr sz="1050" b="0">
                <a:solidFill>
                  <a:srgbClr val="F6A04D"/>
                </a:solidFill>
                <a:latin typeface="Aptos"/>
                <a:ea typeface="Aptos"/>
                <a:cs typeface="Aptos"/>
              </a:rPr>
              <a:t>Control-only data: patterns generate hypotheses; they do not establish injury or pathway activation.</a:t>
            </a:r>
          </a:p>
        </p:txBody>
      </p:sp>
    </p:spTree>
    <p:extLst>
      <p:ext uri="{BB962C8B-B14F-4D97-AF65-F5344CB8AC3E}">
        <p14:creationId xmlns:p14="http://schemas.microsoft.com/office/powerpoint/2010/main" val="8267490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2026-10-05T13:15:07.0640000Z</dcterms:created>
  <dcterms:modified xsi:type="dcterms:W3CDTF">2026-10-05T13:15:07.0640000Z</dcterms:modified>
</coreProperties>
</file>