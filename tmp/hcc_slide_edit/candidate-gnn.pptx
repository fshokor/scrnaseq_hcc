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8"/>
    <p:sldId id="258" r:id="rId9"/>
    <p:sldId id="259" r:id="rId10"/>
    <p:sldId id="260" r:id="rId11"/>
    <p:sldId id="261" r:id="rId12"/>
    <p:sldId id="264" r:id="rId15"/>
    <p:sldId id="265" r:id="rId16"/>
    <p:sldId id="262" r:id="rId13"/>
    <p:sldId id="26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../slides/slide9.xml" Id="R74c7de36fabc443c"/><Relationship Type="http://schemas.openxmlformats.org/officeDocument/2006/relationships/notesMaster" Target="../notesMasters/notesMaster1.xml" Id="Rb1cb9f8c82fe466d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../slides/slide10.xml" Id="R7b3230365f38481d"/><Relationship Type="http://schemas.openxmlformats.org/officeDocument/2006/relationships/notesMaster" Target="../notesMasters/notesMaster1.xml" Id="R22925e03236a4f57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pooled HCC2-versus-HCC1 results, not malignant-cell comparisons. APOA2 log2FC -12.198462; SERPINA1 -6.4540467; FTL -4.614934. All meet FDR &lt;0.05 and absolute log2FC &gt;=1. Stored gene FDR values underflow to zero and must not be called literally zero probabilities. KEGG cholesterol metabolism NES -2.28463661861109, adjusted p 9.56994237462538e-09; complement and coagulation cascades NES -2.34291493486101, adjusted p 4.32318970305741e-13; ferroptosis NES -2.08599306895663, adjusted p 8.63458370357047e-06. Each selected gene is verified in the corresponding leading edge. Negative NES is relative enrichment, not functional pathway suppression. APOA2 detection in HCC1 T cells is 93.3%, raising ambient RNA/technical concerns. Only one HCC2 hepatocyte-labelled cell is present. HCC1/HCC2 labels follow Wang, with source-metadata ambiguity. No validated efficacy claim: SERPINA1-IGMESINE is a database association with unresolved mechanism; no FTL drug association in the current snapshot. See docs/interview_preparation/FIVE_PAPER_GENES_AUDIT.md and supporting CSVs. Biological sources: https://www.ncbi.nlm.nih.gov/gene/336/ ; https://medlineplus.gov/genetics/gene/serpina1/ ; https://www.ncbi.nlm.nih.gov/gene/2512 . Reference: https://doi.org/10.1038/s41698-025-00952-3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completed notebook 03 pooled evidence-score regression run. Inputs: gene/drug nodes on known unweighted DGIdb graph; typed node features and pair evidence/metadata. The composite target uses max-normalized DGIdb interaction evidence, recorded approval and hub centrality, weights 0.65/0.15/0.20. Publication/phase weights are zero. Approval is not HCC approval. Available score ingredients explain why a linear Ridge approximator nearly reconstructs the target. GraphSAGE selected among GNNs by mean validation MSE; Ridge best among learned approximators by validation. Displayed test metrics from results/tables/evidence_score_regression/pooled/test_metrics.csv, also docs/interview_preparation/model_comparison.csv. Gene × candidate alias groups kept together in label splits; train 19207, validation 4127, test 4118. Known graph associations remain visible during label holdout, so this is not novel-link or cold-start evaluation. Seeds 42/43/44 show initialization stability, not patient uncertainty. Only one test association has reference score &gt;0.5, limiting top-tail evaluation. No drug response, binding or efficacy ground truth. Primary prioritisation is the original transparent score, with biological/source review required. Subsequent audit found XIST mapped to HNRNPU in upstream STRING mapping: upstream hub features require mapping audit before biological validation, and these metrics describe the saved run rather than an independently validated therapeutic model. Supporting files: current notebook 03 provenance, test_metrics.csv, validation_comparison.csv and test_score_band_metrics.csv. Model parameters/provenance: {"hidden":64,"embed":32,"dropout":0.2,"lr":0.003,"weight_decay":0.0001,"epochs":300,"patience":40}.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02920"/>
            <a:ext cx="11430000" cy="0"/>
          </a:xfrm>
          <a:prstGeom prst="line">
            <a:avLst/>
          </a:prstGeom>
          <a:noFill/>
          <a:ln w="7620">
            <a:solidFill>
              <a:srgbClr val="163144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355080"/>
            <a:ext cx="11430000" cy="0"/>
          </a:xfrm>
          <a:prstGeom prst="line">
            <a:avLst/>
          </a:prstGeom>
          <a:noFill/>
          <a:ln w="7620">
            <a:solidFill>
              <a:srgbClr val="163144">
                <a:alpha val="55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C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C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.xml" Id="Rd8d4e098713c487a"/><Relationship Type="http://schemas.openxmlformats.org/officeDocument/2006/relationships/notesSlide" Target="../notesSlides/notesSlide9.xml" Id="R0dc3277c52874d7d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.xml" Id="R1e851eb76ca04414"/><Relationship Type="http://schemas.openxmlformats.org/officeDocument/2006/relationships/notesSlide" Target="../notesSlides/notesSlide10.xml" Id="R9f4900c3a6a4442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83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69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55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1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27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09728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4884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20040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25196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530352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7132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48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FATIMA SHOKOR, PhD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1069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Computational Biology  •  Omics  •  Machine Learning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1691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BIOLOGY TO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0080" y="2121408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TRANSLATIONAL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COMPUTATIONAL OMICS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658368" y="3401568"/>
            <a:ext cx="0" cy="676656"/>
          </a:xfrm>
          <a:prstGeom prst="line">
            <a:avLst/>
          </a:prstGeom>
          <a:noFill/>
          <a:ln w="27940">
            <a:solidFill>
              <a:srgbClr val="48A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392424"/>
            <a:ext cx="40416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scientific journey from understanding biological systems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modelling them across genes, cells, tissues and patients.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074920" y="3063240"/>
            <a:ext cx="6309360" cy="0"/>
          </a:xfrm>
          <a:prstGeom prst="line">
            <a:avLst/>
          </a:prstGeom>
          <a:noFill/>
          <a:ln w="21590">
            <a:solidFill>
              <a:srgbClr val="2342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6208" y="2962656"/>
            <a:ext cx="201168" cy="201168"/>
          </a:xfrm>
          <a:prstGeom prst="chevron">
            <a:avLst/>
          </a:prstGeom>
          <a:solidFill>
            <a:srgbClr val="234255"/>
          </a:solidFill>
          <a:ln w="12700">
            <a:solidFill>
              <a:srgbClr val="2342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6448" y="2962656"/>
            <a:ext cx="201168" cy="201168"/>
          </a:xfrm>
          <a:prstGeom prst="chevron">
            <a:avLst/>
          </a:prstGeom>
          <a:solidFill>
            <a:srgbClr val="234255"/>
          </a:solidFill>
          <a:ln w="12700">
            <a:solidFill>
              <a:srgbClr val="2342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76688" y="2962656"/>
            <a:ext cx="201168" cy="201168"/>
          </a:xfrm>
          <a:prstGeom prst="chevron">
            <a:avLst/>
          </a:prstGeom>
          <a:solidFill>
            <a:srgbClr val="234255"/>
          </a:solidFill>
          <a:ln w="12700">
            <a:solidFill>
              <a:srgbClr val="2342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48656" y="2779776"/>
            <a:ext cx="566928" cy="566928"/>
          </a:xfrm>
          <a:prstGeom prst="ellipse">
            <a:avLst/>
          </a:prstGeom>
          <a:solidFill>
            <a:srgbClr val="0D1D29"/>
          </a:solidFill>
          <a:ln w="16510">
            <a:solidFill>
              <a:srgbClr val="55D0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31536" y="2962656"/>
            <a:ext cx="201168" cy="201168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21224" y="1810512"/>
            <a:ext cx="621792" cy="621792"/>
          </a:xfrm>
          <a:prstGeom prst="ellipse">
            <a:avLst/>
          </a:prstGeom>
          <a:solidFill>
            <a:srgbClr val="0B1822"/>
          </a:solidFill>
          <a:ln w="13970">
            <a:solidFill>
              <a:srgbClr val="55D0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40680" y="2011680"/>
            <a:ext cx="182880" cy="182880"/>
          </a:xfrm>
          <a:prstGeom prst="ellipse">
            <a:avLst/>
          </a:prstGeom>
          <a:solidFill>
            <a:srgbClr val="55D0C7">
              <a:alpha val="85000"/>
            </a:srgbClr>
          </a:solidFill>
          <a:ln w="10160">
            <a:solidFill>
              <a:srgbClr val="55D0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0428" y="2098548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1546" y="2289830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46662" y="2216999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46286" y="1980616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0937" y="1907068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D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4632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BIOLOGY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4818888" y="413308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BSc in Biology</a:t>
            </a:r>
            <a:endParaRPr lang="en-US" sz="940" dirty="0"/>
          </a:p>
        </p:txBody>
      </p:sp>
      <p:sp>
        <p:nvSpPr>
          <p:cNvPr id="39" name="Text 37"/>
          <p:cNvSpPr/>
          <p:nvPr/>
        </p:nvSpPr>
        <p:spPr>
          <a:xfrm>
            <a:off x="4782312" y="4553712"/>
            <a:ext cx="1499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Curiosity about how complex living systems function.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168896" y="2779776"/>
            <a:ext cx="566928" cy="566928"/>
          </a:xfrm>
          <a:prstGeom prst="ellipse">
            <a:avLst/>
          </a:prstGeom>
          <a:solidFill>
            <a:srgbClr val="0D1D29"/>
          </a:solidFill>
          <a:ln w="16510">
            <a:solidFill>
              <a:srgbClr val="48A3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51776" y="2962656"/>
            <a:ext cx="201168" cy="20116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23176" y="1883664"/>
            <a:ext cx="658368" cy="137160"/>
          </a:xfrm>
          <a:prstGeom prst="roundRect">
            <a:avLst>
              <a:gd name="adj" fmla="val 26667"/>
            </a:avLst>
          </a:prstGeom>
          <a:solidFill>
            <a:srgbClr val="48A3FF">
              <a:alpha val="45000"/>
            </a:srgbClr>
          </a:solidFill>
          <a:ln w="8890">
            <a:solidFill>
              <a:srgbClr val="48A3FF">
                <a:alpha val="9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87184" y="2057400"/>
            <a:ext cx="530352" cy="137160"/>
          </a:xfrm>
          <a:prstGeom prst="roundRect">
            <a:avLst>
              <a:gd name="adj" fmla="val 26667"/>
            </a:avLst>
          </a:prstGeom>
          <a:solidFill>
            <a:srgbClr val="48A3FF">
              <a:alpha val="37000"/>
            </a:srgbClr>
          </a:solidFill>
          <a:ln w="8890">
            <a:solidFill>
              <a:srgbClr val="48A3FF">
                <a:alpha val="9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42048" y="2231136"/>
            <a:ext cx="420624" cy="137160"/>
          </a:xfrm>
          <a:prstGeom prst="roundRect">
            <a:avLst>
              <a:gd name="adj" fmla="val 26667"/>
            </a:avLst>
          </a:prstGeom>
          <a:solidFill>
            <a:srgbClr val="48A3FF">
              <a:alpha val="29000"/>
            </a:srgbClr>
          </a:solidFill>
          <a:ln w="8890">
            <a:solidFill>
              <a:srgbClr val="48A3FF">
                <a:alpha val="9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8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76656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OMICS &amp;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BIOINFORMATICS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6739128" y="413308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MSc in Omics / Bioinformatics</a:t>
            </a:r>
            <a:endParaRPr lang="en-US" sz="940" dirty="0"/>
          </a:p>
        </p:txBody>
      </p:sp>
      <p:sp>
        <p:nvSpPr>
          <p:cNvPr id="48" name="Text 46"/>
          <p:cNvSpPr/>
          <p:nvPr/>
        </p:nvSpPr>
        <p:spPr>
          <a:xfrm>
            <a:off x="6702552" y="4553712"/>
            <a:ext cx="1499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high-throughput data to study biology at scale.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089136" y="2779776"/>
            <a:ext cx="566928" cy="566928"/>
          </a:xfrm>
          <a:prstGeom prst="ellipse">
            <a:avLst/>
          </a:prstGeom>
          <a:solidFill>
            <a:srgbClr val="0D1D29"/>
          </a:solidFill>
          <a:ln w="16510">
            <a:solidFill>
              <a:srgbClr val="55D0C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72016" y="2962656"/>
            <a:ext cx="201168" cy="201168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16568" y="1975104"/>
            <a:ext cx="256032" cy="-118872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72600" y="1856232"/>
            <a:ext cx="256032" cy="118872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16568" y="1975104"/>
            <a:ext cx="109728" cy="274320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372600" y="1856232"/>
            <a:ext cx="-146304" cy="393192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372600" y="1856232"/>
            <a:ext cx="164592" cy="374904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28632" y="1975104"/>
            <a:ext cx="-91440" cy="256032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26296" y="2249424"/>
            <a:ext cx="146304" cy="182880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537192" y="2231136"/>
            <a:ext cx="-164592" cy="201168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26296" y="2249424"/>
            <a:ext cx="310896" cy="-18288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79992" y="1938528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36024" y="1819656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592056" y="1938528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89720" y="2212848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500616" y="2194560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36024" y="2395728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09828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D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68680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GENOMICS + AI</a:t>
            </a:r>
            <a:endParaRPr lang="en-US" sz="1120" dirty="0"/>
          </a:p>
        </p:txBody>
      </p:sp>
      <p:sp>
        <p:nvSpPr>
          <p:cNvPr id="68" name="Text 66"/>
          <p:cNvSpPr/>
          <p:nvPr/>
        </p:nvSpPr>
        <p:spPr>
          <a:xfrm>
            <a:off x="8659368" y="413308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PhD in Genetics &amp; Bioinformatics</a:t>
            </a:r>
            <a:endParaRPr lang="en-US" sz="940" dirty="0"/>
          </a:p>
        </p:txBody>
      </p:sp>
      <p:sp>
        <p:nvSpPr>
          <p:cNvPr id="69" name="Text 67"/>
          <p:cNvSpPr/>
          <p:nvPr/>
        </p:nvSpPr>
        <p:spPr>
          <a:xfrm>
            <a:off x="8622792" y="4553712"/>
            <a:ext cx="1499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for genomic prediction and non-linear biological relationships.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0826496" y="2779776"/>
            <a:ext cx="566928" cy="566928"/>
          </a:xfrm>
          <a:prstGeom prst="ellipse">
            <a:avLst/>
          </a:prstGeom>
          <a:solidFill>
            <a:srgbClr val="0D1D29"/>
          </a:solidFill>
          <a:ln w="16510">
            <a:solidFill>
              <a:srgbClr val="48A3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009376" y="2962656"/>
            <a:ext cx="201168" cy="20116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799064" y="1883664"/>
            <a:ext cx="621792" cy="475488"/>
          </a:xfrm>
          <a:prstGeom prst="ellipse">
            <a:avLst/>
          </a:prstGeom>
          <a:solidFill>
            <a:srgbClr val="48A3FF">
              <a:alpha val="22000"/>
            </a:srgbClr>
          </a:solidFill>
          <a:ln w="10160">
            <a:solidFill>
              <a:srgbClr val="48A3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913364" y="1943100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096244" y="1933956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251692" y="2016252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023092" y="2098548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215116" y="2180844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876788" y="2162556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096244" y="2253996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83564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8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1042416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FOCUS</a:t>
            </a:r>
            <a:endParaRPr lang="en-US" sz="1120" dirty="0"/>
          </a:p>
        </p:txBody>
      </p:sp>
      <p:sp>
        <p:nvSpPr>
          <p:cNvPr id="82" name="Text 80"/>
          <p:cNvSpPr/>
          <p:nvPr/>
        </p:nvSpPr>
        <p:spPr>
          <a:xfrm>
            <a:off x="10396728" y="413308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Translational Computational Omics</a:t>
            </a:r>
            <a:endParaRPr lang="en-US" sz="940" dirty="0"/>
          </a:p>
        </p:txBody>
      </p:sp>
      <p:sp>
        <p:nvSpPr>
          <p:cNvPr id="83" name="Text 81"/>
          <p:cNvSpPr/>
          <p:nvPr/>
        </p:nvSpPr>
        <p:spPr>
          <a:xfrm>
            <a:off x="10360152" y="4553712"/>
            <a:ext cx="1499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Single-cell • Spatial • Multi-omics • Human disease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001768" y="57150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AAF"/>
                </a:solidFill>
              </a:rPr>
              <a:t>BIOLOGICAL QUESTION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7251192" y="57150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AAF"/>
                </a:solidFill>
              </a:rPr>
              <a:t>DATA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9189720" y="57150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AAF"/>
                </a:solidFill>
              </a:rPr>
              <a:t>MODELS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10735056" y="57150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AAF"/>
                </a:solidFill>
              </a:rPr>
              <a:t>TRANSLATION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40080" y="599846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48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genes  →  cells  →  tissues  →  patients</a:t>
            </a:r>
            <a:endParaRPr lang="en-US" sz="1050" dirty="0"/>
          </a:p>
        </p:txBody>
      </p:sp>
      <p:sp>
        <p:nvSpPr>
          <p:cNvPr id="8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C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783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069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212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355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98079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41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784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27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68580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164592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0040" y="260604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0040" y="356616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0040" y="452628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0040" y="548640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0040" y="644652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438912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02 / EXPERTISE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768096"/>
            <a:ext cx="10241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4F8FB"/>
                </a:solidFill>
                <a:latin typeface="Aptos Display"/>
              </a:rPr>
              <a:t>COMPUTATIONAL &amp; BIOLOGICAL EXPERTISE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335024"/>
            <a:ext cx="9509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9BAC6"/>
                </a:solidFill>
                <a:latin typeface="Aptos"/>
              </a:rPr>
              <a:t>A connected toolbox — from biological questions to interpretable, reproducible analysis.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27448" y="2542032"/>
            <a:ext cx="2743200" cy="987552"/>
          </a:xfrm>
          <a:prstGeom prst="roundRect">
            <a:avLst/>
          </a:prstGeom>
          <a:solidFill>
            <a:srgbClr val="0D1D29"/>
          </a:solidFill>
          <a:ln w="2032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24912"/>
            <a:ext cx="241401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55D0C7"/>
                </a:solidFill>
                <a:latin typeface="Aptos"/>
              </a:rPr>
              <a:t>COMPUTATIONAL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971800"/>
            <a:ext cx="24140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4F8FB"/>
                </a:solidFill>
                <a:latin typeface="Aptos Display"/>
              </a:rPr>
              <a:t>BIOLOGY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3749039" y="2560320"/>
            <a:ext cx="2350009" cy="475488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099048" y="2560320"/>
            <a:ext cx="2340864" cy="475488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3749039" y="3035808"/>
            <a:ext cx="2350009" cy="1325880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9048" y="3035808"/>
            <a:ext cx="2340864" cy="1325880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99048" y="3035808"/>
            <a:ext cx="4572" cy="1124712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85800" y="1938528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1938528"/>
            <a:ext cx="50292" cy="1261872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86968" y="2121408"/>
            <a:ext cx="347472" cy="64008"/>
          </a:xfrm>
          <a:prstGeom prst="round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3544" y="2221992"/>
            <a:ext cx="274320" cy="64008"/>
          </a:xfrm>
          <a:prstGeom prst="round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0120" y="2322576"/>
            <a:ext cx="201168" cy="64008"/>
          </a:xfrm>
          <a:prstGeom prst="round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44168" y="2093976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OMICS &amp; BIOLOGICAL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2468880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Genomics · Transcriptomics
scRNA-seq · Spatial
Multi-omics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39912" y="1938528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39912" y="1938528"/>
            <a:ext cx="50292" cy="1261872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41080" y="2340864"/>
            <a:ext cx="68580" cy="146304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50808" y="2231136"/>
            <a:ext cx="68580" cy="256032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60536" y="2130552"/>
            <a:ext cx="68580" cy="356616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2093976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STATISTICS &amp; MODELING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2468880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Statistical genetics
Differential &amp; pathway analysis
Validation design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3749039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5800" y="3749039"/>
            <a:ext cx="50292" cy="1261872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86968" y="3931920"/>
            <a:ext cx="347472" cy="347472"/>
          </a:xfrm>
          <a:prstGeom prst="ellipse">
            <a:avLst/>
          </a:prstGeom>
          <a:noFill/>
          <a:ln w="1524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05840" y="4050791"/>
            <a:ext cx="109728" cy="109728"/>
          </a:xfrm>
          <a:prstGeom prst="ellipse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44168" y="3904487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BIOLOGICAL INTERPRETATION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" y="4279392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Cell types &amp; states
Networks &amp; pathways
Translational interpretation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39912" y="3749039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439912" y="3749039"/>
            <a:ext cx="50292" cy="1261872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8686800" y="3977639"/>
            <a:ext cx="146304" cy="146305"/>
          </a:xfrm>
          <a:prstGeom prst="line">
            <a:avLst/>
          </a:prstGeom>
          <a:ln w="1397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833104" y="3977639"/>
            <a:ext cx="146304" cy="146305"/>
          </a:xfrm>
          <a:prstGeom prst="line">
            <a:avLst/>
          </a:prstGeom>
          <a:ln w="1397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8641080" y="4078224"/>
            <a:ext cx="100584" cy="100584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787384" y="3931920"/>
            <a:ext cx="100584" cy="100584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933688" y="4078224"/>
            <a:ext cx="100584" cy="100584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98280" y="3904487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PIPELINES &amp; DATA ENGINEERING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41080" y="4279392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QC · preprocessing · harmonization
Reproducible workflows
Versioned environments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0" y="4160520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0" y="4160520"/>
            <a:ext cx="50292" cy="1261872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4805172" y="4375404"/>
            <a:ext cx="155448" cy="7315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805172" y="4448556"/>
            <a:ext cx="155448" cy="91440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805172" y="4448556"/>
            <a:ext cx="155448" cy="25603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805172" y="4375404"/>
            <a:ext cx="155448" cy="25603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805172" y="4539996"/>
            <a:ext cx="155448" cy="91440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805172" y="4631436"/>
            <a:ext cx="155448" cy="7315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960620" y="4375404"/>
            <a:ext cx="173736" cy="16459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960620" y="4539996"/>
            <a:ext cx="173736" cy="0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960620" y="4539996"/>
            <a:ext cx="173736" cy="16459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4773168" y="4416552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773168" y="4599432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928616" y="4343400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928616" y="4507992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928616" y="4672584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102352" y="4507992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230368" y="4315968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MACHINE LEARNING &amp; AI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73168" y="4690872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Deep &amp; multimodal learning
Transfer / representation learning
Graph neural networks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85800" y="5742432"/>
            <a:ext cx="10817352" cy="566928"/>
          </a:xfrm>
          <a:prstGeom prst="roundRect">
            <a:avLst/>
          </a:prstGeom>
          <a:solidFill>
            <a:srgbClr val="0D1D29"/>
          </a:solidFill>
          <a:ln w="10160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4400" y="5897880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55D0C7"/>
                </a:solidFill>
                <a:latin typeface="Aptos"/>
              </a:rPr>
              <a:t>TOOLS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74519" y="5843016"/>
            <a:ext cx="9052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F8FB"/>
                </a:solidFill>
                <a:latin typeface="Aptos"/>
              </a:rPr>
              <a:t>Python   •   R   •   PyTorch   •   Scanpy   •   Seurat   •   Bash   •   Git   •   Docker / Conda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3232" y="6455664"/>
            <a:ext cx="7223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A9BAC6"/>
                </a:solidFill>
                <a:latin typeface="Aptos"/>
              </a:rPr>
              <a:t>The case studies that follow focus only on the domains most relevant to the project.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292840" y="6437376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9BAC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21208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03 / PhD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33272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4F8FB"/>
                </a:solidFill>
                <a:latin typeface="Aptos Display"/>
              </a:rPr>
              <a:t>DEEP LEARNING FOR GENOMIC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14984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A9BAC6"/>
                </a:solidFill>
                <a:latin typeface="Aptos"/>
              </a:rPr>
              <a:t>Can deep learning capture biological relationships that classical genomic models may miss?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3200400" cy="3584448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96512" y="1874519"/>
            <a:ext cx="3968496" cy="3584448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74519"/>
            <a:ext cx="3227832" cy="3584448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6517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1  COMPLEX BIOLOGY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039112"/>
            <a:ext cx="30175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48A3FF"/>
                </a:solidFill>
                <a:latin typeface="Aptos"/>
              </a:rPr>
              <a:t>2  MY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2039112"/>
            <a:ext cx="2560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3  KEY LESSON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578608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568" y="2578608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16736" y="2578608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17904" y="2578608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9072" y="2578608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20240" y="2578608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21408" y="2578608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22576" y="2578608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2779776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15568" y="2779776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16736" y="2779776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17904" y="2779776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9072" y="2779776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20240" y="2779776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21408" y="2779776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22576" y="2779776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2980944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15568" y="2980944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16736" y="2980944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17904" y="2980944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19072" y="2980944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20240" y="2980944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21408" y="2980944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22576" y="2980944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3182112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15568" y="3182112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16736" y="3182112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17904" y="3182112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19072" y="3182112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20240" y="3182112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21408" y="3182112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22576" y="3182112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" y="3383279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15568" y="3383279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16736" y="3383279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517904" y="3383279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719072" y="3383279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920240" y="3383279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121408" y="3383279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22576" y="3383279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42616" y="2532888"/>
            <a:ext cx="91440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7F9AAF"/>
                </a:solidFill>
                <a:latin typeface="Aptos"/>
              </a:rPr>
              <a:t>GENOMIC
DATA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" y="3730752"/>
            <a:ext cx="146304" cy="246888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88720" y="3520439"/>
            <a:ext cx="146304" cy="457200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444752" y="3648456"/>
            <a:ext cx="146304" cy="329184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00784" y="3383279"/>
            <a:ext cx="146304" cy="594360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84831" y="3666744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7F9AAF"/>
                </a:solidFill>
                <a:latin typeface="Aptos"/>
              </a:rPr>
              <a:t>PHENOTYPE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932688" y="3794760"/>
            <a:ext cx="1307592" cy="621792"/>
          </a:xfrm>
          <a:prstGeom prst="line">
            <a:avLst/>
          </a:prstGeom>
          <a:ln w="17780">
            <a:solidFill>
              <a:srgbClr val="7F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359152" y="4206240"/>
            <a:ext cx="219456" cy="201168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578608" y="4206240"/>
            <a:ext cx="192024" cy="73152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770632" y="3913632"/>
            <a:ext cx="201168" cy="365760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971800" y="3913632"/>
            <a:ext cx="210312" cy="109728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182112" y="3703320"/>
            <a:ext cx="219456" cy="320040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96112" y="4718304"/>
            <a:ext cx="274320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4F8FB"/>
                </a:solidFill>
                <a:latin typeface="Aptos"/>
              </a:rPr>
              <a:t>High-dimensional traits can combine
additive and non-linear relationships.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70832" y="2578608"/>
            <a:ext cx="9601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7F9AAF"/>
                </a:solidFill>
                <a:latin typeface="Aptos"/>
              </a:rPr>
              <a:t>INPUT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370832" y="2871216"/>
            <a:ext cx="868680" cy="105156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71416" y="2980944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8FB"/>
                </a:solidFill>
                <a:latin typeface="Aptos"/>
              </a:rPr>
              <a:t>SNPs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71416" y="3300984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8FB"/>
                </a:solidFill>
                <a:latin typeface="Aptos"/>
              </a:rPr>
              <a:t>Traits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71416" y="3621024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Covariates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285232" y="3392424"/>
            <a:ext cx="448056" cy="0"/>
          </a:xfrm>
          <a:prstGeom prst="line">
            <a:avLst/>
          </a:prstGeom>
          <a:ln w="1778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5760720" y="2679192"/>
            <a:ext cx="1554480" cy="11155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97880" y="2807208"/>
            <a:ext cx="128016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8A3FF"/>
                </a:solidFill>
                <a:latin typeface="Aptos"/>
              </a:rPr>
              <a:t>STATISTICAL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97880" y="3081528"/>
            <a:ext cx="12801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4F8FB"/>
                </a:solidFill>
                <a:latin typeface="Aptos"/>
              </a:rPr>
              <a:t>GBLUP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79592" y="3410712"/>
            <a:ext cx="1316736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A9BAC6"/>
                </a:solidFill>
                <a:latin typeface="Aptos"/>
              </a:rPr>
              <a:t>additive signal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760720" y="3995928"/>
            <a:ext cx="1554480" cy="109728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97880" y="4114800"/>
            <a:ext cx="12801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55D0C7"/>
                </a:solidFill>
                <a:latin typeface="Aptos"/>
              </a:rPr>
              <a:t>DEEP LEARNING</a:t>
            </a:r>
          </a:p>
        </p:txBody>
      </p:sp>
      <p:sp>
        <p:nvSpPr>
          <p:cNvPr id="76" name="Oval 75"/>
          <p:cNvSpPr/>
          <p:nvPr/>
        </p:nvSpPr>
        <p:spPr>
          <a:xfrm>
            <a:off x="6021324" y="4604004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313932" y="4402836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313932" y="4805172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615684" y="4366260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615684" y="4631436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615684" y="4878324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917436" y="4594860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6062472" y="4443984"/>
            <a:ext cx="292608" cy="201168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062472" y="4645152"/>
            <a:ext cx="292608" cy="201168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355080" y="4407408"/>
            <a:ext cx="301752" cy="36576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355080" y="4443984"/>
            <a:ext cx="301752" cy="228600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355080" y="4672584"/>
            <a:ext cx="301752" cy="173736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355080" y="4846320"/>
            <a:ext cx="301752" cy="73152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656832" y="4407408"/>
            <a:ext cx="301752" cy="228600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56832" y="4636008"/>
            <a:ext cx="301752" cy="36576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6656832" y="4636008"/>
            <a:ext cx="301752" cy="283464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315200" y="3236976"/>
            <a:ext cx="182879" cy="512063"/>
          </a:xfrm>
          <a:prstGeom prst="line">
            <a:avLst/>
          </a:prstGeom>
          <a:ln w="1778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315200" y="4041648"/>
            <a:ext cx="182879" cy="512064"/>
          </a:xfrm>
          <a:prstGeom prst="line">
            <a:avLst/>
          </a:prstGeom>
          <a:ln w="1778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/>
          <p:cNvSpPr/>
          <p:nvPr/>
        </p:nvSpPr>
        <p:spPr>
          <a:xfrm>
            <a:off x="7424927" y="3703320"/>
            <a:ext cx="512064" cy="512064"/>
          </a:xfrm>
          <a:prstGeom prst="diamond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498079" y="3813048"/>
            <a:ext cx="365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4F8FB"/>
                </a:solidFill>
                <a:latin typeface="Aptos"/>
              </a:rPr>
              <a:t>GV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70832" y="5084064"/>
            <a:ext cx="35204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8FB"/>
                </a:solidFill>
                <a:latin typeface="Aptos"/>
              </a:rPr>
              <a:t>Statistical baseline  +  neural model</a:t>
            </a:r>
          </a:p>
        </p:txBody>
      </p:sp>
      <p:sp>
        <p:nvSpPr>
          <p:cNvPr id="97" name="Oval 96"/>
          <p:cNvSpPr/>
          <p:nvPr/>
        </p:nvSpPr>
        <p:spPr>
          <a:xfrm>
            <a:off x="8522208" y="2615184"/>
            <a:ext cx="292608" cy="292608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540496" y="2660903"/>
            <a:ext cx="25603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01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51976" y="2596896"/>
            <a:ext cx="225856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4F8FB"/>
                </a:solidFill>
                <a:latin typeface="Aptos"/>
              </a:rPr>
              <a:t>Strong baseline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51976" y="2871215"/>
            <a:ext cx="21945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Classical models remain robust
for additive genetic effects.</a:t>
            </a:r>
          </a:p>
        </p:txBody>
      </p:sp>
      <p:sp>
        <p:nvSpPr>
          <p:cNvPr id="101" name="Oval 100"/>
          <p:cNvSpPr/>
          <p:nvPr/>
        </p:nvSpPr>
        <p:spPr>
          <a:xfrm>
            <a:off x="8522208" y="3483864"/>
            <a:ext cx="292608" cy="292608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540496" y="3529584"/>
            <a:ext cx="25603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02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51976" y="3465576"/>
            <a:ext cx="225856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4F8FB"/>
                </a:solidFill>
                <a:latin typeface="Aptos"/>
              </a:rPr>
              <a:t>Selective DL value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51976" y="3739896"/>
            <a:ext cx="21945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DL helps when additional
non-linear structure exists.</a:t>
            </a:r>
          </a:p>
        </p:txBody>
      </p:sp>
      <p:sp>
        <p:nvSpPr>
          <p:cNvPr id="105" name="Oval 104"/>
          <p:cNvSpPr/>
          <p:nvPr/>
        </p:nvSpPr>
        <p:spPr>
          <a:xfrm>
            <a:off x="8522208" y="4352544"/>
            <a:ext cx="292608" cy="292608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540496" y="4398264"/>
            <a:ext cx="25603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03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51976" y="4334256"/>
            <a:ext cx="225856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4F8FB"/>
                </a:solidFill>
                <a:latin typeface="Aptos"/>
              </a:rPr>
              <a:t>Justify complexity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51976" y="4608576"/>
            <a:ext cx="21945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Complex models should earn
their place against baselines.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58368" y="5678424"/>
            <a:ext cx="10872216" cy="512064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32688" y="5769864"/>
            <a:ext cx="103327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55D0C7"/>
                </a:solidFill>
                <a:latin typeface="Aptos"/>
              </a:rPr>
              <a:t>DEEP LEARNING AS A COMPLEMENT TO ESTABLISHED STATISTICAL MODELS — NOT A REPLACEMENT.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13232" y="6245352"/>
            <a:ext cx="43891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7F9AAF"/>
                </a:solidFill>
                <a:latin typeface="Aptos"/>
              </a:rPr>
              <a:t>Python  •  PyTorch  •  statistical genetics  •  simulation + real data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265408" y="6245352"/>
            <a:ext cx="2286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04 / OMICSAGE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332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4F8FB"/>
                </a:solidFill>
                <a:latin typeface="Aptos Display"/>
              </a:rPr>
              <a:t>FROM ISOLATED ANALYSES TO REPRODUCIBLE MULTI-OMICS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71016"/>
            <a:ext cx="9966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9BAC6"/>
                </a:solidFill>
                <a:latin typeface="Aptos"/>
              </a:rPr>
              <a:t>A modular framework connecting single-cell, spatial and multimodal analysis with reproducible biological interpretation.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2331720" cy="352044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39111"/>
            <a:ext cx="1929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BIOLOGICAL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13431"/>
            <a:ext cx="192938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8FB"/>
                </a:solidFill>
                <a:latin typeface="Aptos"/>
              </a:rPr>
              <a:t>Different assays,
one analysis framework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054095"/>
            <a:ext cx="347472" cy="347472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5409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RNA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53312" y="2999231"/>
            <a:ext cx="1417320" cy="457200"/>
          </a:xfrm>
          <a:prstGeom prst="roundRect">
            <a:avLst/>
          </a:prstGeom>
          <a:solidFill>
            <a:srgbClr val="112634"/>
          </a:solidFill>
          <a:ln w="1397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2999231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4F8FB"/>
                </a:solidFill>
                <a:latin typeface="Aptos"/>
              </a:rPr>
              <a:t>scRNA-seq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648455"/>
            <a:ext cx="347472" cy="347472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4845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XY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53312" y="3593591"/>
            <a:ext cx="1417320" cy="457200"/>
          </a:xfrm>
          <a:prstGeom prst="roundRect">
            <a:avLst/>
          </a:prstGeom>
          <a:solidFill>
            <a:srgbClr val="112634"/>
          </a:solidFill>
          <a:ln w="1397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3593591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4F8FB"/>
                </a:solidFill>
                <a:latin typeface="Aptos"/>
              </a:rPr>
              <a:t>Spatial transcriptomics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242815"/>
            <a:ext cx="347472" cy="347472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53312" y="4187951"/>
            <a:ext cx="1417320" cy="457200"/>
          </a:xfrm>
          <a:prstGeom prst="roundRect">
            <a:avLst/>
          </a:prstGeom>
          <a:solidFill>
            <a:srgbClr val="112634"/>
          </a:solidFill>
          <a:ln w="1397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3312" y="4187951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4F8FB"/>
                </a:solidFill>
                <a:latin typeface="Aptos"/>
              </a:rPr>
              <a:t>ATAC / CITE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837175"/>
            <a:ext cx="347472" cy="347472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3717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REF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3312" y="4782311"/>
            <a:ext cx="1417320" cy="457200"/>
          </a:xfrm>
          <a:prstGeom prst="roundRect">
            <a:avLst/>
          </a:prstGeom>
          <a:solidFill>
            <a:srgbClr val="112634"/>
          </a:solidFill>
          <a:ln w="1397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3312" y="4782311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4F8FB"/>
                </a:solidFill>
                <a:latin typeface="Aptos"/>
              </a:rPr>
              <a:t>Paired references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1874519"/>
            <a:ext cx="4572000" cy="3520440"/>
          </a:xfrm>
          <a:prstGeom prst="roundRect">
            <a:avLst/>
          </a:prstGeom>
          <a:solidFill>
            <a:srgbClr val="0D1D29"/>
          </a:solidFill>
          <a:ln w="1651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039111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8A3FF"/>
                </a:solidFill>
                <a:latin typeface="Aptos"/>
              </a:rPr>
              <a:t>MODULAR ANALYSIS HUB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2496311"/>
            <a:ext cx="2377440" cy="749808"/>
          </a:xfrm>
          <a:prstGeom prst="roundRect">
            <a:avLst/>
          </a:prstGeom>
          <a:solidFill>
            <a:srgbClr val="102B38"/>
          </a:solidFill>
          <a:ln w="2159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2551175"/>
            <a:ext cx="2377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4F8FB"/>
                </a:solidFill>
                <a:latin typeface="Aptos"/>
              </a:rPr>
              <a:t>OMIC 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2889503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55D0C7"/>
                </a:solidFill>
                <a:latin typeface="Aptos"/>
              </a:rPr>
              <a:t>Modular  •  Reproducible  •  Extensible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3538727"/>
            <a:ext cx="1783080" cy="6583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39312" y="3621023"/>
            <a:ext cx="256032" cy="256032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9312" y="3621023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50208" y="3630167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PREPROCESS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877055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A9BAC6"/>
                </a:solidFill>
                <a:latin typeface="Aptos"/>
              </a:rPr>
              <a:t>QC · normalize · HVGs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96712" y="3538727"/>
            <a:ext cx="1783080" cy="6583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69864" y="3621023"/>
            <a:ext cx="256032" cy="256032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9864" y="3621023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3630167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REPRESENT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3872" y="3877055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A9BAC6"/>
                </a:solidFill>
                <a:latin typeface="Aptos"/>
              </a:rPr>
              <a:t>PCA · neighbors · clusters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66160" y="4416551"/>
            <a:ext cx="1783080" cy="6583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39312" y="4498847"/>
            <a:ext cx="256032" cy="256032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39312" y="4498847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0208" y="4507991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INTEGRATE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4754879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A9BAC6"/>
                </a:solidFill>
                <a:latin typeface="Aptos"/>
              </a:rPr>
              <a:t>DE · deconvolution · mapping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96712" y="4416551"/>
            <a:ext cx="1783080" cy="6583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769864" y="4498847"/>
            <a:ext cx="256032" cy="256032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9864" y="4498847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4507991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INTERPRET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33872" y="4754879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A9BAC6"/>
                </a:solidFill>
                <a:latin typeface="Aptos"/>
              </a:rPr>
              <a:t>pathways · niches · communication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532120" y="3246119"/>
            <a:ext cx="0" cy="219456"/>
          </a:xfrm>
          <a:prstGeom prst="line">
            <a:avLst/>
          </a:prstGeom>
          <a:ln w="1905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349240" y="3867911"/>
            <a:ext cx="347472" cy="0"/>
          </a:xfrm>
          <a:prstGeom prst="line">
            <a:avLst/>
          </a:prstGeom>
          <a:ln w="15240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349240" y="4745735"/>
            <a:ext cx="347472" cy="0"/>
          </a:xfrm>
          <a:prstGeom prst="line">
            <a:avLst/>
          </a:prstGeom>
          <a:ln w="15240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532120" y="4197095"/>
            <a:ext cx="0" cy="219456"/>
          </a:xfrm>
          <a:prstGeom prst="line">
            <a:avLst/>
          </a:prstGeom>
          <a:ln w="12700">
            <a:solidFill>
              <a:srgbClr val="132A3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ight Arrow 52"/>
          <p:cNvSpPr/>
          <p:nvPr/>
        </p:nvSpPr>
        <p:spPr>
          <a:xfrm>
            <a:off x="3090672" y="3538727"/>
            <a:ext cx="429768" cy="530352"/>
          </a:xfrm>
          <a:prstGeom prst="rightArrow">
            <a:avLst/>
          </a:prstGeom>
          <a:solidFill>
            <a:srgbClr val="18303F"/>
          </a:solidFill>
          <a:ln>
            <a:solidFill>
              <a:srgbClr val="183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ight Arrow 53"/>
          <p:cNvSpPr/>
          <p:nvPr/>
        </p:nvSpPr>
        <p:spPr>
          <a:xfrm>
            <a:off x="7891272" y="3538727"/>
            <a:ext cx="429768" cy="530352"/>
          </a:xfrm>
          <a:prstGeom prst="rightArrow">
            <a:avLst/>
          </a:prstGeom>
          <a:solidFill>
            <a:srgbClr val="18303F"/>
          </a:solidFill>
          <a:ln>
            <a:solidFill>
              <a:srgbClr val="183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046720" y="1874519"/>
            <a:ext cx="3429000" cy="352044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47888" y="2039111"/>
            <a:ext cx="30266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BIOLOGICAL OUTPUTS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47888" y="2313431"/>
            <a:ext cx="302666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8FB"/>
                </a:solidFill>
                <a:latin typeface="Aptos"/>
              </a:rPr>
              <a:t>From processing
to interpretable results</a:t>
            </a:r>
          </a:p>
        </p:txBody>
      </p:sp>
      <p:sp>
        <p:nvSpPr>
          <p:cNvPr id="58" name="Oval 57"/>
          <p:cNvSpPr/>
          <p:nvPr/>
        </p:nvSpPr>
        <p:spPr>
          <a:xfrm>
            <a:off x="8266176" y="3108959"/>
            <a:ext cx="237744" cy="237744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66176" y="3108959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13648" y="3044951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CELL STATES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13648" y="3273551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clusters · annotations · DE</a:t>
            </a:r>
          </a:p>
        </p:txBody>
      </p:sp>
      <p:sp>
        <p:nvSpPr>
          <p:cNvPr id="62" name="Oval 61"/>
          <p:cNvSpPr/>
          <p:nvPr/>
        </p:nvSpPr>
        <p:spPr>
          <a:xfrm>
            <a:off x="8266176" y="3721607"/>
            <a:ext cx="237744" cy="237744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66176" y="3721607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13648" y="3657599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SPATIAL CONTEXT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13648" y="3886199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SVGs · niches · neighborhoods</a:t>
            </a:r>
          </a:p>
        </p:txBody>
      </p:sp>
      <p:sp>
        <p:nvSpPr>
          <p:cNvPr id="66" name="Oval 65"/>
          <p:cNvSpPr/>
          <p:nvPr/>
        </p:nvSpPr>
        <p:spPr>
          <a:xfrm>
            <a:off x="8266176" y="4334255"/>
            <a:ext cx="237744" cy="237744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66176" y="4334255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13648" y="4270247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INTERACTIONS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13648" y="4498847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co-occurrence · ligand–receptor</a:t>
            </a:r>
          </a:p>
        </p:txBody>
      </p:sp>
      <p:sp>
        <p:nvSpPr>
          <p:cNvPr id="70" name="Oval 69"/>
          <p:cNvSpPr/>
          <p:nvPr/>
        </p:nvSpPr>
        <p:spPr>
          <a:xfrm>
            <a:off x="8266176" y="4946903"/>
            <a:ext cx="237744" cy="237744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66176" y="4946903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13648" y="4882895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REPRODUCIBLE REPORTS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13648" y="5111495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configs · reruns · documented outputs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68680" y="5605272"/>
            <a:ext cx="10149840" cy="576072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5840" y="5660136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1">
                <a:solidFill>
                  <a:srgbClr val="F4F8FB"/>
                </a:solidFill>
                <a:latin typeface="Aptos"/>
              </a:rPr>
              <a:t>A common framework for moving from raw omics data to interpretable biological results.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40" y="5907024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0">
                <a:solidFill>
                  <a:srgbClr val="55D0C7"/>
                </a:solidFill>
                <a:latin typeface="Aptos"/>
              </a:rPr>
              <a:t>Reusable analysis logic  •  project-specific biological questions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05 / HCC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332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50" b="1">
                <a:solidFill>
                  <a:srgbClr val="F4F8FB"/>
                </a:solidFill>
                <a:latin typeface="Aptos Display"/>
              </a:rPr>
              <a:t>HCC SINGLE-CELL TRANSCRIPTOMICS — WORKFLOW &amp; ANALYTICAL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52728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9BAC6"/>
                </a:solidFill>
                <a:latin typeface="Aptos"/>
              </a:rPr>
              <a:t>An end-to-end exploratory scRNA-seq workflow, from quality control to cell-type-specific biological interpretation.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6583680" cy="361188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194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ANALYSIS FLOW</a:t>
            </a:r>
          </a:p>
        </p:txBody>
      </p:sp>
      <p:sp>
        <p:nvSpPr>
          <p:cNvPr id="7" name="Oval 6"/>
          <p:cNvSpPr/>
          <p:nvPr/>
        </p:nvSpPr>
        <p:spPr>
          <a:xfrm>
            <a:off x="768096" y="2249424"/>
            <a:ext cx="475488" cy="475488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25,189 cells
2 samples (HCC1 / HCC2)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80160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792224" y="2249424"/>
            <a:ext cx="475488" cy="475488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2224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QC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200–7,500 genes
mt &lt;15%
18,309 retained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04288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816352" y="2249424"/>
            <a:ext cx="475488" cy="475488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REPRESENT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Normalize · log1p
2,000 HVGs
20 PCs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28416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840480" y="2249424"/>
            <a:ext cx="475488" cy="475488"/>
          </a:xfrm>
          <a:prstGeom prst="ellipse">
            <a:avLst/>
          </a:prstGeom>
          <a:solidFill>
            <a:srgbClr val="F6A04D"/>
          </a:solidFill>
          <a:ln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1024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CLUSTER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1296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15 neighbors
Leiden 0.5
19 clusters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52544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864608" y="2249424"/>
            <a:ext cx="475488" cy="475488"/>
          </a:xfrm>
          <a:prstGeom prst="ellipse">
            <a:avLst/>
          </a:prstGeom>
          <a:solidFill>
            <a:srgbClr val="F7C95C"/>
          </a:solidFill>
          <a:ln>
            <a:solidFill>
              <a:srgbClr val="F7C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ANNOTATE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5424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CellTypist + ScType
SingleR + markers
11 broad labels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76672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888736" y="2249424"/>
            <a:ext cx="475488" cy="475488"/>
          </a:xfrm>
          <a:prstGeom prst="ellipse">
            <a:avLst/>
          </a:prstGeom>
          <a:solidFill>
            <a:srgbClr val="7AD17A"/>
          </a:solidFill>
          <a:ln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88736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COMPARE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59552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Pooled and cell-type-specific
DE + GSEA
interpretation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4023360"/>
            <a:ext cx="6217920" cy="109728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5" y="4151376"/>
            <a:ext cx="1645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48A3FF"/>
                </a:solidFill>
                <a:latin typeface="Aptos"/>
              </a:rPr>
              <a:t>KEY TAKEAWAYS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" y="4407408"/>
            <a:ext cx="5760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A9BAC6"/>
                </a:solidFill>
                <a:latin typeface="Aptos"/>
              </a:rPr>
              <a:t>• Distribution-informed QC rather than copying the paper thresholds.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" y="4608576"/>
            <a:ext cx="5760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A9BAC6"/>
                </a:solidFill>
                <a:latin typeface="Aptos"/>
              </a:rPr>
              <a:t>• Annotation supported by multiple references plus marker review.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" y="4809744"/>
            <a:ext cx="5760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A9BAC6"/>
                </a:solidFill>
                <a:latin typeface="Aptos"/>
              </a:rPr>
              <a:t>• Cell-type-specific contrasts used to avoid over-interpreting pooled sample differences.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52360" y="1783080"/>
            <a:ext cx="3886200" cy="361188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53527" y="1920240"/>
            <a:ext cx="2103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DESIGN &amp; INTERPRETATION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62672" y="2212848"/>
            <a:ext cx="3456432" cy="82296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27264" y="2286000"/>
            <a:ext cx="3154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4F8FB"/>
                </a:solidFill>
                <a:latin typeface="Aptos"/>
              </a:rPr>
              <a:t>Experimental unit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27264" y="248716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0" b="0">
                <a:solidFill>
                  <a:srgbClr val="A9BAC6"/>
                </a:solidFill>
                <a:latin typeface="Aptos"/>
              </a:rPr>
              <a:t>1 sample per analysis group.
Cells are observations within samples, not independent biological replicates.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62672" y="3182112"/>
            <a:ext cx="3456432" cy="100584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27264" y="3255264"/>
            <a:ext cx="2926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4F8FB"/>
                </a:solidFill>
                <a:latin typeface="Aptos"/>
              </a:rPr>
              <a:t>How to position the results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27264" y="347472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0" b="0">
                <a:solidFill>
                  <a:srgbClr val="A9BAC6"/>
                </a:solidFill>
                <a:latin typeface="Aptos"/>
              </a:rPr>
              <a:t>Exploratory, sample-associated differences.
Good for workflow development and biological hypotheses, not population-level HCC conclusions.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62672" y="4352544"/>
            <a:ext cx="3456432" cy="77724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27264" y="4443984"/>
            <a:ext cx="2926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4F8FB"/>
                </a:solidFill>
                <a:latin typeface="Aptos"/>
              </a:rPr>
              <a:t>Main message for the interview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27264" y="4663440"/>
            <a:ext cx="2999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55D0C7"/>
                </a:solidFill>
                <a:latin typeface="Aptos"/>
              </a:rPr>
              <a:t>I can build and critically audit a complete scRNA-seq workflow.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06 / BIOLOGICAL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332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4F8FB"/>
                </a:solidFill>
                <a:latin typeface="Aptos Display"/>
              </a:rPr>
              <a:t>WHAT DID SINGLE-CELL RESOLUTION CHANGE BIOLOGICALLY?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52728"/>
            <a:ext cx="9966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9BAC6"/>
                </a:solidFill>
                <a:latin typeface="Aptos"/>
              </a:rPr>
              <a:t>The strongest finding is cellular composition; stratifying by cell type changes how expression differences are interpreted.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532120" cy="370332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560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A. RECOVERED CELL 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9BAC6"/>
                </a:solidFill>
                <a:latin typeface="Aptos"/>
              </a:rPr>
              <a:t>Fractions are among retained annotated cells — not direct tissue abundance.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359152"/>
            <a:ext cx="1508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HCC1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359152"/>
            <a:ext cx="1508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HCC2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60904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T cells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2642616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94560" y="2642616"/>
            <a:ext cx="275952" cy="164592"/>
          </a:xfrm>
          <a:prstGeom prst="roundRect">
            <a:avLst/>
          </a:prstGeom>
          <a:solidFill>
            <a:srgbClr val="48A3FF"/>
          </a:solidFill>
          <a:ln w="635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624328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18.29%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642616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60520" y="2642616"/>
            <a:ext cx="1173060" cy="164592"/>
          </a:xfrm>
          <a:prstGeom prst="roundRect">
            <a:avLst/>
          </a:prstGeom>
          <a:solidFill>
            <a:srgbClr val="48A3FF"/>
          </a:solidFill>
          <a:ln w="635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2624328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77.75%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91256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Macrophages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3172968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94560" y="3172968"/>
            <a:ext cx="779576" cy="164592"/>
          </a:xfrm>
          <a:prstGeom prst="roundRect">
            <a:avLst/>
          </a:prstGeom>
          <a:solidFill>
            <a:srgbClr val="55D0C7"/>
          </a:solidFill>
          <a:ln w="635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0752" y="3154680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51.67%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172968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60520" y="3172968"/>
            <a:ext cx="8147" cy="164592"/>
          </a:xfrm>
          <a:prstGeom prst="roundRect">
            <a:avLst/>
          </a:prstGeom>
          <a:solidFill>
            <a:srgbClr val="55D0C7"/>
          </a:solidFill>
          <a:ln w="635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96712" y="3154680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0.54%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21608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Hepatocytes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3703320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94560" y="3703320"/>
            <a:ext cx="292246" cy="164592"/>
          </a:xfrm>
          <a:prstGeom prst="roundRect">
            <a:avLst/>
          </a:prstGeom>
          <a:solidFill>
            <a:srgbClr val="F6A04D"/>
          </a:solidFill>
          <a:ln w="6350"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0752" y="3685032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19.37%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3703320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60520" y="3703320"/>
            <a:ext cx="301" cy="164592"/>
          </a:xfrm>
          <a:prstGeom prst="roundRect">
            <a:avLst/>
          </a:prstGeom>
          <a:solidFill>
            <a:srgbClr val="F6A04D"/>
          </a:solidFill>
          <a:ln w="6350"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3685032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0.02%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251960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B cells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94560" y="4233672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194560" y="4233672"/>
            <a:ext cx="19312" cy="164592"/>
          </a:xfrm>
          <a:prstGeom prst="roundRect">
            <a:avLst/>
          </a:prstGeom>
          <a:solidFill>
            <a:srgbClr val="A78BFA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30752" y="4215384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1.28%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0520" y="4233672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160520" y="4233672"/>
            <a:ext cx="96560" cy="164592"/>
          </a:xfrm>
          <a:prstGeom prst="roundRect">
            <a:avLst/>
          </a:prstGeom>
          <a:solidFill>
            <a:srgbClr val="A78BFA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96712" y="4215384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6.40%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782312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Fibroblasts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94560" y="4764024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194560" y="4764024"/>
            <a:ext cx="31382" cy="164592"/>
          </a:xfrm>
          <a:prstGeom prst="roundRect">
            <a:avLst/>
          </a:prstGeom>
          <a:solidFill>
            <a:srgbClr val="7AD17A"/>
          </a:solidFill>
          <a:ln w="6350"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30752" y="4745736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2.08%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60520" y="4764024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60520" y="4764024"/>
            <a:ext cx="31683" cy="164592"/>
          </a:xfrm>
          <a:prstGeom prst="roundRect">
            <a:avLst/>
          </a:prstGeom>
          <a:solidFill>
            <a:srgbClr val="7AD17A"/>
          </a:solidFill>
          <a:ln w="6350"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96712" y="4745736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2.10%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4846320"/>
            <a:ext cx="5166360" cy="438912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4919472"/>
            <a:ext cx="48920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40" b="1">
                <a:solidFill>
                  <a:srgbClr val="55D0C7"/>
                </a:solidFill>
                <a:latin typeface="Aptos"/>
              </a:rPr>
              <a:t>HCC2 is T-cell dominated, whereas HCC1 contains many more macrophage- and hepatocyte-labelled cells.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1783080"/>
            <a:ext cx="4937760" cy="370332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01968" y="192024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B. WHY CELL-TYPE STRATIFICATION MATTERS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01968" y="2148840"/>
            <a:ext cx="4297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9BAC6"/>
                </a:solidFill>
                <a:latin typeface="Aptos"/>
              </a:rPr>
              <a:t>Example: broad T-cell comparison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75120" y="2514600"/>
            <a:ext cx="1051560" cy="38404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93408" y="2542032"/>
            <a:ext cx="10149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4F8FB"/>
                </a:solidFill>
                <a:latin typeface="Aptos"/>
              </a:rPr>
              <a:t>Marker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26680" y="2514600"/>
            <a:ext cx="1005840" cy="38404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44968" y="2542032"/>
            <a:ext cx="96926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4F8FB"/>
                </a:solidFill>
                <a:latin typeface="Aptos"/>
              </a:rPr>
              <a:t>Pooled
log2FC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32520" y="2514600"/>
            <a:ext cx="1143000" cy="38404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50808" y="2542032"/>
            <a:ext cx="11064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4F8FB"/>
                </a:solidFill>
                <a:latin typeface="Aptos"/>
              </a:rPr>
              <a:t>Within T cells
log2FC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75520" y="2514600"/>
            <a:ext cx="1417320" cy="38404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3808" y="2542032"/>
            <a:ext cx="138074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4F8FB"/>
                </a:solidFill>
                <a:latin typeface="Aptos"/>
              </a:rPr>
              <a:t>Interpretation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75120" y="2898648"/>
            <a:ext cx="105156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11696" y="2953512"/>
            <a:ext cx="9784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F8FB"/>
                </a:solidFill>
                <a:latin typeface="Aptos"/>
              </a:rPr>
              <a:t>CD8A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26680" y="2898648"/>
            <a:ext cx="100584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63256" y="2953512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+4.469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32520" y="2898648"/>
            <a:ext cx="114300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69096" y="2953512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+2.495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875520" y="2898648"/>
            <a:ext cx="141732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12096" y="2953512"/>
            <a:ext cx="1344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Higher CD8-associated
expression persists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75120" y="3474720"/>
            <a:ext cx="105156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11696" y="3529584"/>
            <a:ext cx="9784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F8FB"/>
                </a:solidFill>
                <a:latin typeface="Aptos"/>
              </a:rPr>
              <a:t>PDCD1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726680" y="3474720"/>
            <a:ext cx="100584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63256" y="3529584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+3.541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732520" y="3474720"/>
            <a:ext cx="114300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69096" y="3529584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+1.700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875520" y="3474720"/>
            <a:ext cx="141732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12096" y="3529584"/>
            <a:ext cx="1344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Checkpoint-associated
signal remains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675120" y="4050792"/>
            <a:ext cx="105156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11696" y="4105656"/>
            <a:ext cx="9784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F8FB"/>
                </a:solidFill>
                <a:latin typeface="Aptos"/>
              </a:rPr>
              <a:t>IFNG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726680" y="4050792"/>
            <a:ext cx="100584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63256" y="4105656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+2.329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732520" y="4050792"/>
            <a:ext cx="114300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769096" y="4105656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+0.116
(ns)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875520" y="4050792"/>
            <a:ext cx="141732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12096" y="4105656"/>
            <a:ext cx="1344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Pooled increase largely
reflects composition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601968" y="4572000"/>
            <a:ext cx="4553712" cy="7315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784848" y="4636008"/>
            <a:ext cx="1554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4F8FB"/>
                </a:solidFill>
                <a:latin typeface="Aptos"/>
              </a:rPr>
              <a:t>Selected pathway themes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84848" y="4837176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0">
                <a:solidFill>
                  <a:srgbClr val="A9BAC6"/>
                </a:solidFill>
                <a:latin typeface="Aptos"/>
              </a:rPr>
              <a:t>T cells: ↑ chemokine / FoxO, ↓ oxidative phosphorylation
Fibroblasts: provisional contractile / actomyosin program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41248" y="5596128"/>
            <a:ext cx="10222992" cy="530352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5840" y="5669280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4F8FB"/>
                </a:solidFill>
                <a:latin typeface="Aptos"/>
              </a:rPr>
              <a:t>Interpretation is exploratory: one sample per group, composition confounding, and possible ambient RNA (e.g., widespread ALB signal).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09 / SPATIAL TRANSCRIPTOMICS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4F8FB"/>
                </a:solidFill>
                <a:latin typeface="Aptos Display"/>
              </a:rPr>
              <a:t>SPATIAL TRANSCRIPTOMICS — ADDING TISSUE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058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A9BAC6"/>
                </a:solidFill>
                <a:latin typeface="Aptos"/>
              </a:rPr>
              <a:t>Single-cell tells us what cells are doing; spatial analysis adds where those states occur and which cellular environments surround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154680" cy="2148840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029967"/>
            <a:ext cx="384048" cy="384048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29967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2057399"/>
            <a:ext cx="23500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F4F8FB"/>
                </a:solidFill>
                <a:latin typeface="Aptos"/>
              </a:rPr>
              <a:t>SINGLE-CELL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32887"/>
            <a:ext cx="264261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A9BAC6"/>
                </a:solidFill>
                <a:latin typeface="Aptos"/>
              </a:rPr>
              <a:t>Cell types
Cell states
Differential expression
Pathway programs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" y="3584447"/>
            <a:ext cx="2569464" cy="2743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584447"/>
            <a:ext cx="256946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48A3FF"/>
                </a:solidFill>
                <a:latin typeface="Aptos"/>
              </a:rPr>
              <a:t>High molecular resolution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874519"/>
            <a:ext cx="3154680" cy="2148840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15968" y="2029967"/>
            <a:ext cx="384048" cy="384048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2029967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057399"/>
            <a:ext cx="23500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F4F8FB"/>
                </a:solidFill>
                <a:latin typeface="Aptos"/>
              </a:rPr>
              <a:t>SPATIAL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532887"/>
            <a:ext cx="264261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A9BAC6"/>
                </a:solidFill>
                <a:latin typeface="Aptos"/>
              </a:rPr>
              <a:t>Physical location
Spatially variable genes
Tissue regions / niches
Spatial neighbors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53128" y="3584447"/>
            <a:ext cx="2569464" cy="2743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3584447"/>
            <a:ext cx="256946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55D0C7"/>
                </a:solidFill>
                <a:latin typeface="Aptos"/>
              </a:rPr>
              <a:t>Tissue architecture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1874519"/>
            <a:ext cx="3154680" cy="2148840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90688" y="2029967"/>
            <a:ext cx="384048" cy="384048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0688" y="2029967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2057399"/>
            <a:ext cx="23500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F4F8FB"/>
                </a:solidFill>
                <a:latin typeface="Aptos"/>
              </a:rPr>
              <a:t>INTEGRATED INTERPRETATION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2532887"/>
            <a:ext cx="264261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A9BAC6"/>
                </a:solidFill>
                <a:latin typeface="Aptos"/>
              </a:rPr>
              <a:t>Reference mapping / deconvolution
Neighborhood enrichment
Co-occurrence
Ligand–receptor hypotheses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27848" y="3584447"/>
            <a:ext cx="2569464" cy="2743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7848" y="3584447"/>
            <a:ext cx="256946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A78BFA"/>
                </a:solidFill>
                <a:latin typeface="Aptos"/>
              </a:rPr>
              <a:t>Cellular context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877056" y="2697479"/>
            <a:ext cx="256032" cy="438912"/>
          </a:xfrm>
          <a:prstGeom prst="rightArrow">
            <a:avLst/>
          </a:prstGeom>
          <a:solidFill>
            <a:srgbClr val="1A3442"/>
          </a:solidFill>
          <a:ln>
            <a:solidFill>
              <a:srgbClr val="1A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7351776" y="2697479"/>
            <a:ext cx="256032" cy="438912"/>
          </a:xfrm>
          <a:prstGeom prst="rightArrow">
            <a:avLst/>
          </a:prstGeom>
          <a:solidFill>
            <a:srgbClr val="1A3442"/>
          </a:solidFill>
          <a:ln>
            <a:solidFill>
              <a:srgbClr val="1A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4279392"/>
            <a:ext cx="6903720" cy="129844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398264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55D0C7"/>
                </a:solidFill>
                <a:latin typeface="Aptos"/>
              </a:rPr>
              <a:t>OMIC SAGE — HANDS-ON SPATIAL WORKFLOW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Visium /
Visium HD /
Xenium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645920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865376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65376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QC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578608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798064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98064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Spatial
graph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511296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730752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30752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Moran’s I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443984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663440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Deconvolution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376672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596128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96128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Niches /
communication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309360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528816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28816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Imputation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358384"/>
            <a:ext cx="635508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0">
                <a:solidFill>
                  <a:srgbClr val="A9BAC6"/>
                </a:solidFill>
                <a:latin typeface="Aptos"/>
              </a:rPr>
              <a:t>Reference-based deconvolution: NNLS + cell2location  •  Transcriptome mapping/imputation: Tangram / gimVI  •  Tested on published Visium + matched snRNA benchmark data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18120" y="4279392"/>
            <a:ext cx="3520440" cy="129844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19288" y="4389120"/>
            <a:ext cx="311810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55D0C7"/>
                </a:solidFill>
                <a:latin typeface="Aptos"/>
              </a:rPr>
              <a:t>WHY THIS MATTERS FOR DELTA-DECODE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37576" y="4681728"/>
            <a:ext cx="14630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8A3FF"/>
                </a:solidFill>
                <a:latin typeface="Aptos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02168" y="4672584"/>
            <a:ext cx="2971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A9BAC6"/>
                </a:solidFill>
                <a:latin typeface="Aptos"/>
              </a:rPr>
              <a:t>Where are disease-associated hepatocyte states located?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37576" y="4882896"/>
            <a:ext cx="14630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8A3FF"/>
                </a:solidFill>
                <a:latin typeface="Aptos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02168" y="4873752"/>
            <a:ext cx="2971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A9BAC6"/>
                </a:solidFill>
                <a:latin typeface="Aptos"/>
              </a:rPr>
              <a:t>Which immune populations form local neighborhoods around them?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37576" y="5084064"/>
            <a:ext cx="14630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8A3FF"/>
                </a:solidFill>
                <a:latin typeface="Aptos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02168" y="5074920"/>
            <a:ext cx="2971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A9BAC6"/>
                </a:solidFill>
                <a:latin typeface="Aptos"/>
              </a:rPr>
              <a:t>Are inflammatory or fibrotic programs spatially restricted?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37576" y="5285232"/>
            <a:ext cx="14630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8A3FF"/>
                </a:solidFill>
                <a:latin typeface="Aptos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02168" y="5276088"/>
            <a:ext cx="2971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A9BAC6"/>
                </a:solidFill>
                <a:latin typeface="Aptos"/>
              </a:rPr>
              <a:t>Do particular niches associate with disease severity?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8680" y="5733288"/>
            <a:ext cx="10149840" cy="420624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5797296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4F8FB"/>
                </a:solidFill>
                <a:latin typeface="Aptos"/>
              </a:rPr>
              <a:t>Spatial analysis extends cell-state discovery into tissue architecture and local cellular interactions.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10 /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332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50" b="1">
                <a:solidFill>
                  <a:srgbClr val="F4F8FB"/>
                </a:solidFill>
                <a:latin typeface="Aptos Display"/>
              </a:rPr>
              <a:t>A MULTIDISCIPLINARY, PROBLEM-SOLVING RESEARCH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A9BAC6"/>
                </a:solidFill>
                <a:latin typeface="Aptos"/>
              </a:rPr>
              <a:t>The biological question comes first — the method can range from established bioinformatics to custom statistical or AI solutions.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2679192"/>
            <a:ext cx="2286000" cy="950976"/>
          </a:xfrm>
          <a:prstGeom prst="roundRect">
            <a:avLst/>
          </a:prstGeom>
          <a:solidFill>
            <a:srgbClr val="102B38"/>
          </a:solidFill>
          <a:ln w="2159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83480" y="2880360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F4F8FB"/>
                </a:solidFill>
                <a:latin typeface="Aptos"/>
              </a:rPr>
              <a:t>BIOLOGICAL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172968"/>
            <a:ext cx="1920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40" b="0">
                <a:solidFill>
                  <a:srgbClr val="55D0C7"/>
                </a:solidFill>
                <a:latin typeface="Aptos"/>
              </a:rPr>
              <a:t>What do we need to understand?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337560" cy="148132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8116" y="2016251"/>
            <a:ext cx="320040" cy="320040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" y="2016251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B1822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20823"/>
            <a:ext cx="26243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MULTIDISCIPLINARY BACKGROUND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386583"/>
            <a:ext cx="289864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9BAC6"/>
                </a:solidFill>
                <a:latin typeface="Aptos"/>
              </a:rPr>
              <a:t>Biology → Omics → Statistics → AI
Understanding the problem from multiple computational and biological perspectives.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74519"/>
            <a:ext cx="3337560" cy="148132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43316" y="2016251"/>
            <a:ext cx="320040" cy="320040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3316" y="2016251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B1822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020823"/>
            <a:ext cx="26243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TRANSFERABLE RESEARCH 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386583"/>
            <a:ext cx="289864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9BAC6"/>
                </a:solidFill>
                <a:latin typeface="Aptos"/>
              </a:rPr>
              <a:t>Genomics · transcriptomics · single-cell · spatial · multi-omics
Different biological systems, transferable analytical reasoning.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86200"/>
            <a:ext cx="3337560" cy="148132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8116" y="4027932"/>
            <a:ext cx="320040" cy="320040"/>
          </a:xfrm>
          <a:prstGeom prst="ellipse">
            <a:avLst/>
          </a:prstGeom>
          <a:solidFill>
            <a:srgbClr val="F6A04D"/>
          </a:solidFill>
          <a:ln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" y="402793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B1822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032504"/>
            <a:ext cx="26243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TOOL &amp; METHOD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" y="4398264"/>
            <a:ext cx="289864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9BAC6"/>
                </a:solidFill>
                <a:latin typeface="Aptos"/>
              </a:rPr>
              <a:t>Existing tools → adapt / integrate → custom workflows → ML/DL when justified
Choose or develop the method that best answers the biological question.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886200"/>
            <a:ext cx="3337560" cy="148132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3316" y="4027932"/>
            <a:ext cx="320040" cy="320040"/>
          </a:xfrm>
          <a:prstGeom prst="ellipse">
            <a:avLst/>
          </a:prstGeom>
          <a:solidFill>
            <a:srgbClr val="7AD17A"/>
          </a:solidFill>
          <a:ln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3316" y="402793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B1822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4032504"/>
            <a:ext cx="26243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INTERDISCIPLINARY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4398264"/>
            <a:ext cx="289864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9BAC6"/>
                </a:solidFill>
                <a:latin typeface="Aptos"/>
              </a:rPr>
              <a:t>Bioinformatics ↔ biology / clinical expertise ↔ wet lab
Computation prioritizes hypotheses; domain expertise guides interpretation; experiments validate them.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14800" y="2615184"/>
            <a:ext cx="704088" cy="356616"/>
          </a:xfrm>
          <a:prstGeom prst="line">
            <a:avLst/>
          </a:prstGeom>
          <a:ln w="2032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159752" y="2615184"/>
            <a:ext cx="932688" cy="356616"/>
          </a:xfrm>
          <a:prstGeom prst="line">
            <a:avLst/>
          </a:prstGeom>
          <a:ln w="2032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114800" y="3337560"/>
            <a:ext cx="704088" cy="1280160"/>
          </a:xfrm>
          <a:prstGeom prst="line">
            <a:avLst/>
          </a:prstGeom>
          <a:ln w="2032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7159752" y="3337560"/>
            <a:ext cx="932688" cy="1280160"/>
          </a:xfrm>
          <a:prstGeom prst="line">
            <a:avLst/>
          </a:prstGeom>
          <a:ln w="2032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270248" y="4005072"/>
            <a:ext cx="3429000" cy="713232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4078224"/>
            <a:ext cx="3017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55D0C7"/>
                </a:solidFill>
                <a:latin typeface="Aptos"/>
              </a:rPr>
              <a:t>METHOD SPECTRUM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5696" y="4279392"/>
            <a:ext cx="3154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0" b="1">
                <a:solidFill>
                  <a:srgbClr val="F4F8FB"/>
                </a:solidFill>
                <a:latin typeface="Aptos"/>
              </a:rPr>
              <a:t>Classical tools  →  custom pipelines  →  statistics / ML / DL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74519" y="5504688"/>
            <a:ext cx="8275320" cy="5029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1680" y="5577840"/>
            <a:ext cx="8001000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" b="0">
                <a:solidFill>
                  <a:srgbClr val="A9BAC6"/>
                </a:solidFill>
                <a:latin typeface="Aptos"/>
              </a:rPr>
              <a:t>Biological question  →  computational hypothesis  →  domain-guided interpretation  →  experimental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089904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8FB"/>
                </a:solidFill>
                <a:latin typeface="Aptos"/>
              </a:rPr>
              <a:t>Building the computational bridge from biological questions to testable hypotheses.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8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40176-4F97-4098-8329-61E0D04A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07 / HCC GENE AND PATHWAY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D8386-C34C-4B22-B4A7-B7312B78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Selected genes with lower expression in HCC2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1FBF6-0BB3-4D5D-8AAB-6A0E7AFC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Pooled HCC2 versus HCC1 comparison. Each gene belongs to the listed GSEA leading edge.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2057400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57300"/>
                <a:gridCol w="1066800"/>
                <a:gridCol w="3505200"/>
                <a:gridCol w="5219700"/>
              </a:tblGrid>
              <a:tr h="4953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Gene</a:t>
                      </a:r>
                    </a:p>
                  </a:txBody>
                  <a:tcPr marL="133350" marR="133350" marT="142875" marB="142875">
                    <a:solidFill>
                      <a:srgbClr val="2454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log2FC</a:t>
                      </a:r>
                    </a:p>
                  </a:txBody>
                  <a:tcPr marL="133350" marR="133350" marT="142875" marB="142875">
                    <a:solidFill>
                      <a:srgbClr val="2454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Enriched gene set</a:t>
                      </a:r>
                    </a:p>
                  </a:txBody>
                  <a:tcPr marL="133350" marR="133350" marT="142875" marB="142875">
                    <a:solidFill>
                      <a:srgbClr val="2454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Biological context</a:t>
                      </a:r>
                    </a:p>
                  </a:txBody>
                  <a:tcPr marL="133350" marR="133350" marT="142875" marB="142875">
                    <a:solidFill>
                      <a:srgbClr val="245466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APOA2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6A04D"/>
                          </a:solidFill>
                          <a:latin typeface="Aptos"/>
                          <a:ea typeface="Aptos"/>
                          <a:cs typeface="Aptos"/>
                        </a:rPr>
                        <a:t>−12.20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Cholesterol metabolism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NES −2.28  ·  FDR 9.57 × 10⁻⁹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Lipoprotein transport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Lower contribution of liver-associated transcripts.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SERPINA1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6A04D"/>
                          </a:solidFill>
                          <a:latin typeface="Aptos"/>
                          <a:ea typeface="Aptos"/>
                          <a:cs typeface="Aptos"/>
                        </a:rPr>
                        <a:t>−6.45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Complement and coagulation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NES −2.34  ·  FDR 4.32 × 10⁻¹³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Alpha-1 antitrypsin / protease regulation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Lower contribution of secreted-protein transcripts.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FTL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6A04D"/>
                          </a:solidFill>
                          <a:latin typeface="Aptos"/>
                          <a:ea typeface="Aptos"/>
                          <a:cs typeface="Aptos"/>
                        </a:rPr>
                        <a:t>−4.61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Ferroptosis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NES −2.09  ·  FDR 8.63 × 10⁻⁶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Ferritin light chain / iron storage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Iron-related expression differs between samples.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31D66-3E21-4AD6-A74A-9EFEEDA1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0542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These are sample-associated differences, not confirmed changes in malignant cells.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857BF-A4F7-47B8-AF62-1424527C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One sample per group; composition and possible ambient RNA remain. Negative NES favors HCC1.</a:t>
            </a:r>
          </a:p>
          <a:p xmlns:a="http://schemas.openxmlformats.org/drawingml/2006/main">
            <a:pPr>
              <a:defRPr sz="135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Expression and enrichment do not establish functional activity or drug efficacy.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8B913-A07D-4814-8FF0-7A0F977F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F9AA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F9AAF"/>
                </a:solidFill>
                <a:latin typeface="Aptos"/>
                <a:ea typeface="Aptos"/>
                <a:cs typeface="Aptos"/>
              </a:rPr>
              <a:t>Current DE and GSEA results · GSE166635 · selected examples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B84F2-E56E-4874-898A-2AAF6AB8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F9A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F9AA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86189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8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2640D-7AAE-435A-B948-2B66AEB8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08 / HCC GRAPH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D6F5F-E3D2-4337-9E49-228F1F43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Graph neural networks for evidence-score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C4FE6-9CE2-46A7-AC0C-1EF9AE6D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Task: estimate a constructed score for known drug–gene associations.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1A620-75AC-4514-BE53-964E103F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INPUT AND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482B7-68EC-458E-808F-FCC6EB5E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533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Bipartite graph: genes and drug database IDs</a:t>
            </a:r>
          </a:p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Edges: known DGIdb associations</a:t>
            </a:r>
          </a:p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Features: gene expression, hub scores and</a:t>
            </a:r>
          </a:p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drug / interaction evidence metadata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DA598-439E-4722-8428-78EE8844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9572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Architectures: GCN, GAT and GraphSAGE</a:t>
            </a:r>
          </a:p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Grouped label splits; validation-only selection</a:t>
            </a:r>
          </a:p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Three initialization seeds per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97988-767B-4835-A3A1-F8A307CB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6A0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A04D"/>
                </a:solidFill>
                <a:latin typeface="Aptos"/>
                <a:ea typeface="Aptos"/>
                <a:cs typeface="Aptos"/>
              </a:rPr>
              <a:t>Target: 0.65 × interaction + 0.15 × approval</a:t>
            </a:r>
          </a:p>
          <a:p xmlns:a="http://schemas.openxmlformats.org/drawingml/2006/main">
            <a:pPr>
              <a:defRPr sz="1425" b="0">
                <a:solidFill>
                  <a:srgbClr val="F6A0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A04D"/>
                </a:solidFill>
                <a:latin typeface="Aptos"/>
                <a:ea typeface="Aptos"/>
                <a:cs typeface="Aptos"/>
              </a:rPr>
              <a:t>             + 0.20 × hub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922FE-66AC-477A-8733-6DD3B088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HELD-OUT TEST RESULTS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324600" y="2543175"/>
          <a:ext xmlns:a="http://schemas.openxmlformats.org/drawingml/2006/main" cx="523875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1952625"/>
                <a:gridCol w="1143000"/>
              </a:tblGrid>
              <a:tr h="438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Model</a:t>
                      </a:r>
                    </a:p>
                  </a:txBody>
                  <a:tcPr marL="114300" marR="95250" marT="114300" marB="114300">
                    <a:solidFill>
                      <a:srgbClr val="2454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MSE</a:t>
                      </a:r>
                    </a:p>
                  </a:txBody>
                  <a:tcPr marL="114300" marR="95250" marT="114300" marB="114300">
                    <a:solidFill>
                      <a:srgbClr val="2454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R²</a:t>
                      </a:r>
                    </a:p>
                  </a:txBody>
                  <a:tcPr marL="114300" marR="95250" marT="114300" marB="114300">
                    <a:solidFill>
                      <a:srgbClr val="24546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GraphSAGE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4.80 × 10⁻⁵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0.991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MLP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7.93 × 10⁻⁵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0.985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Without neighbors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6.83 × 10⁻⁵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0.987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Ridge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1.18 × 10⁻¹¹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≈1.000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Training mean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5.41 × 10⁻³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−0.001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80AA7-4FEA-438A-AEF3-9216B85B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Ridge best reconstructs the rule-derived score; the transparent ranking remains primary.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57778-DE38-49A9-9F92-2BC60A4A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GraphSAGE wins among the tested GNNs. This evaluates score approximation on a known graph.</a:t>
            </a:r>
          </a:p>
          <a:p xmlns:a="http://schemas.openxmlformats.org/drawingml/2006/main">
            <a:pPr>
              <a:defRPr sz="1275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No experimental efficacy labels; no validation of novel links or responses in unseen drugs.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DA52F-B028-444B-B824-1ACC493C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F9A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F9AAF"/>
                </a:solidFill>
                <a:latin typeface="Aptos"/>
                <a:ea typeface="Aptos"/>
                <a:cs typeface="Aptos"/>
              </a:rPr>
              <a:t>Current pooled model run · baseline comparison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4FA04-7D7C-4CF2-9A8E-0628DA32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F9AA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F9AA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6414014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Fatima Shokor - Scientific Journey</dc:title>
  <dc:subject>Interview Presentation - Slide 1</dc:subject>
  <dc:creator>OpenAI</dc:creator>
  <cp:lastModifiedBy>OpenAI</cp:lastModifiedBy>
  <cp:revision>1</cp:revision>
  <dcterms:created xsi:type="dcterms:W3CDTF">2026-10-02T19:19:11Z</dcterms:created>
  <dcterms:modified xsi:type="dcterms:W3CDTF">2026-10-02T19:19:11Z</dcterms:modified>
</cp:coreProperties>
</file>