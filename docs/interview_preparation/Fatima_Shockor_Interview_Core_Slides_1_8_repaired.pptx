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0292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35508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25196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530352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713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FATIMA SHOKOR, PhD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069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Biology  •  Omics  •  Machine Learning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BIOLOGY TO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21214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TRANSLATIONAL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 OMICS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0" cy="676656"/>
          </a:xfrm>
          <a:prstGeom prst="line">
            <a:avLst/>
          </a:prstGeom>
          <a:noFill/>
          <a:ln w="27940">
            <a:solidFill>
              <a:srgbClr val="48A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392424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scientific journey from understanding biological systems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modelling them across genes, cells, tissues and patients.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074920" y="3063240"/>
            <a:ext cx="6309360" cy="0"/>
          </a:xfrm>
          <a:prstGeom prst="line">
            <a:avLst/>
          </a:prstGeom>
          <a:noFill/>
          <a:ln w="21590">
            <a:solidFill>
              <a:srgbClr val="234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7668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865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224" y="1810512"/>
            <a:ext cx="621792" cy="621792"/>
          </a:xfrm>
          <a:prstGeom prst="ellipse">
            <a:avLst/>
          </a:prstGeom>
          <a:solidFill>
            <a:srgbClr val="0B1822"/>
          </a:solidFill>
          <a:ln w="13970">
            <a:solidFill>
              <a:srgbClr val="55D0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2011680"/>
            <a:ext cx="182880" cy="182880"/>
          </a:xfrm>
          <a:prstGeom prst="ellipse">
            <a:avLst/>
          </a:prstGeom>
          <a:solidFill>
            <a:srgbClr val="55D0C7">
              <a:alpha val="85000"/>
            </a:srgbClr>
          </a:solidFill>
          <a:ln w="10160">
            <a:solidFill>
              <a:srgbClr val="55D0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0428" y="209854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1546" y="2289830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6662" y="2216999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6286" y="1980616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0937" y="190706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81888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BSc in Biology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478231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 about how complex living systems function.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688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517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23176" y="1883664"/>
            <a:ext cx="658368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45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2057400"/>
            <a:ext cx="530352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37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2048" y="2231136"/>
            <a:ext cx="420624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29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665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OMICS &amp;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BIOINFORMATICS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67391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 in Omics / Bioinformatics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67025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high-throughput data to study biology at scale.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8913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7201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16568" y="1975104"/>
            <a:ext cx="256032" cy="-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2600" y="1856232"/>
            <a:ext cx="256032" cy="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16568" y="1975104"/>
            <a:ext cx="109728" cy="27432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72600" y="1856232"/>
            <a:ext cx="-146304" cy="39319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72600" y="1856232"/>
            <a:ext cx="164592" cy="374904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28632" y="1975104"/>
            <a:ext cx="-91440" cy="25603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26296" y="2249424"/>
            <a:ext cx="146304" cy="18288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37192" y="2231136"/>
            <a:ext cx="-164592" cy="20116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26296" y="2249424"/>
            <a:ext cx="310896" cy="-1828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9992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36024" y="1819656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92056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9720" y="221284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00616" y="2194560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36024" y="23957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9828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8680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GENOMICS + AI</a:t>
            </a:r>
            <a:endParaRPr lang="en-US" sz="1120" dirty="0"/>
          </a:p>
        </p:txBody>
      </p:sp>
      <p:sp>
        <p:nvSpPr>
          <p:cNvPr id="68" name="Text 66"/>
          <p:cNvSpPr/>
          <p:nvPr/>
        </p:nvSpPr>
        <p:spPr>
          <a:xfrm>
            <a:off x="865936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PhD in Genetics &amp; Bioinformatics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862279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for genomic prediction and non-linear biological relationships.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8264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093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99064" y="1883664"/>
            <a:ext cx="621792" cy="475488"/>
          </a:xfrm>
          <a:prstGeom prst="ellipse">
            <a:avLst/>
          </a:prstGeom>
          <a:solidFill>
            <a:srgbClr val="48A3FF">
              <a:alpha val="22000"/>
            </a:srgbClr>
          </a:solidFill>
          <a:ln w="10160">
            <a:solidFill>
              <a:srgbClr val="48A3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13364" y="1943100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96244" y="19339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51692" y="2016252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023092" y="2098548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15116" y="2180844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876788" y="21625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96244" y="225399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8356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4241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lang="en-US" sz="1120" dirty="0"/>
          </a:p>
        </p:txBody>
      </p:sp>
      <p:sp>
        <p:nvSpPr>
          <p:cNvPr id="82" name="Text 80"/>
          <p:cNvSpPr/>
          <p:nvPr/>
        </p:nvSpPr>
        <p:spPr>
          <a:xfrm>
            <a:off x="103967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 Computational Omics</a:t>
            </a:r>
            <a:endParaRPr lang="en-US" sz="940" dirty="0"/>
          </a:p>
        </p:txBody>
      </p:sp>
      <p:sp>
        <p:nvSpPr>
          <p:cNvPr id="83" name="Text 81"/>
          <p:cNvSpPr/>
          <p:nvPr/>
        </p:nvSpPr>
        <p:spPr>
          <a:xfrm>
            <a:off x="103601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Single-cell • Spatial • Multi-omics • Human disease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001768" y="5715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BIOLOGICAL QUESTION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251192" y="5715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DATA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189720" y="5715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MODELS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735056" y="57150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TRANSLATION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0080" y="59984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  →  cells  →  tissues  →  patients</a:t>
            </a:r>
            <a:endParaRPr lang="en-US" sz="105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783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69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212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355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1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27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16459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260604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" y="356616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54864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64465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3891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02 /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68096"/>
            <a:ext cx="10241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COMPUTATIONAL &amp; BIOLOGICAL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335024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9BAC6"/>
                </a:solidFill>
                <a:latin typeface="Aptos"/>
              </a:rPr>
              <a:t>A connected toolbox — from biological questions to interpretable, reproducible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2542032"/>
            <a:ext cx="2743200" cy="987552"/>
          </a:xfrm>
          <a:prstGeom prst="roundRect">
            <a:avLst/>
          </a:prstGeom>
          <a:solidFill>
            <a:srgbClr val="0D1D29"/>
          </a:solidFill>
          <a:ln w="2032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24912"/>
            <a:ext cx="241401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55D0C7"/>
                </a:solidFill>
                <a:latin typeface="Aptos"/>
              </a:rPr>
              <a:t>COMPUTATIONAL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71800"/>
            <a:ext cx="24140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4F8FB"/>
                </a:solidFill>
                <a:latin typeface="Aptos Display"/>
              </a:rPr>
              <a:t>BIOLOGY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749039" y="2560320"/>
            <a:ext cx="2350009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9048" y="2560320"/>
            <a:ext cx="2340864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749039" y="3035808"/>
            <a:ext cx="2350009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9048" y="3035808"/>
            <a:ext cx="2340864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9048" y="3035808"/>
            <a:ext cx="4572" cy="1124712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1938528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968" y="2121408"/>
            <a:ext cx="347472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" y="2221992"/>
            <a:ext cx="274320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2322576"/>
            <a:ext cx="201168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4168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OMICS &amp; BIOLOGICAL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Genomics · Transcriptomics
scRNA-seq · Spatial
Multi-omics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9912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39912" y="1938528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2340864"/>
            <a:ext cx="68580" cy="146304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0808" y="2231136"/>
            <a:ext cx="68580" cy="25603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0536" y="2130552"/>
            <a:ext cx="68580" cy="356616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STATISTICS &amp; MODELING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Statistical genetics
Differential &amp; pathway analysis
Validation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3749039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6968" y="3931920"/>
            <a:ext cx="347472" cy="347472"/>
          </a:xfrm>
          <a:prstGeom prst="ellipse">
            <a:avLst/>
          </a:prstGeom>
          <a:noFill/>
          <a:ln w="1524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4050791"/>
            <a:ext cx="109728" cy="109728"/>
          </a:xfrm>
          <a:prstGeom prst="ellipse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4168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BIOLOGICAL 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Cell types &amp; states
Networks &amp; pathways
Translational interpretation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39912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39912" y="3749039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8686800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33104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641080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787384" y="3931920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933688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PIPELINES &amp; DATA ENGINEERING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QC · preprocessing · harmonization
Reproducible workflows
Versioned environments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160520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4160520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4805172" y="4375404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05172" y="444855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05172" y="4448556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05172" y="4375404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05172" y="453999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05172" y="4631436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60620" y="4375404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60620" y="4539996"/>
            <a:ext cx="173736" cy="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960620" y="4539996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773168" y="441655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773168" y="459943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928616" y="4343400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28616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28616" y="4672584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02352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0368" y="4315968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MACHINE LEARNING &amp;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73168" y="469087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Deep &amp; multimodal learning
Transfer / representation learning
Graph neural networks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5742432"/>
            <a:ext cx="10817352" cy="566928"/>
          </a:xfrm>
          <a:prstGeom prst="roundRect">
            <a:avLst/>
          </a:prstGeom>
          <a:solidFill>
            <a:srgbClr val="0D1D29"/>
          </a:solidFill>
          <a:ln w="10160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589788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5D0C7"/>
                </a:solidFill>
                <a:latin typeface="Aptos"/>
              </a:rPr>
              <a:t>TOOLS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74519" y="5843016"/>
            <a:ext cx="9052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Python   •   R   •   PyTorch   •   Scanpy   •   Seurat   •   Bash   •   Git   •   Docker / Conda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6455664"/>
            <a:ext cx="7223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9BAC6"/>
                </a:solidFill>
                <a:latin typeface="Aptos"/>
              </a:rPr>
              <a:t>The case studies that follow focus only on the domains most relevant to the project.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643737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9BAC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2120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03 / PhD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3327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DEEP LEARNING FOR GENOMIC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1498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A9BAC6"/>
                </a:solidFill>
                <a:latin typeface="Aptos"/>
              </a:rPr>
              <a:t>Can deep learning capture biological relationships that classical genomic models may miss?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200400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96512" y="1874519"/>
            <a:ext cx="3968496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74519"/>
            <a:ext cx="3227832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1  COMPLEX BIOLOGY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3911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2  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03911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3  KEY LESSON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56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6736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904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9072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2140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2576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5568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7904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9072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1408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2257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5568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16736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17904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9072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21408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22576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5568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16736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17904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9072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21408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22576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5568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17904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19072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20240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21408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2257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42616" y="2532888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GENOMIC
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" y="3730752"/>
            <a:ext cx="146304" cy="246888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88720" y="3520439"/>
            <a:ext cx="146304" cy="45720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44752" y="3648456"/>
            <a:ext cx="146304" cy="329184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00784" y="3383279"/>
            <a:ext cx="146304" cy="59436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84831" y="3666744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PHENOTYPE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932688" y="3794760"/>
            <a:ext cx="1307592" cy="621792"/>
          </a:xfrm>
          <a:prstGeom prst="line">
            <a:avLst/>
          </a:prstGeom>
          <a:ln w="17780">
            <a:solidFill>
              <a:srgbClr val="7F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59152" y="4206240"/>
            <a:ext cx="219456" cy="20116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78608" y="4206240"/>
            <a:ext cx="192024" cy="73152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70632" y="3913632"/>
            <a:ext cx="201168" cy="36576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71800" y="3913632"/>
            <a:ext cx="210312" cy="10972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182112" y="3703320"/>
            <a:ext cx="219456" cy="32004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96112" y="4718304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4F8FB"/>
                </a:solidFill>
                <a:latin typeface="Aptos"/>
              </a:rPr>
              <a:t>High-dimensional traits can combine
additive and non-linear relationships.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2" y="2578608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INPUT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70832" y="2871216"/>
            <a:ext cx="868680" cy="10515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71416" y="298094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SNPs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330098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Traits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1416" y="362102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Covariates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85232" y="3392424"/>
            <a:ext cx="448056" cy="0"/>
          </a:xfrm>
          <a:prstGeom prst="line">
            <a:avLst/>
          </a:prstGeom>
          <a:ln w="1778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760720" y="2679192"/>
            <a:ext cx="1554480" cy="11155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80" y="2807208"/>
            <a:ext cx="12801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8A3FF"/>
                </a:solidFill>
                <a:latin typeface="Aptos"/>
              </a:rPr>
              <a:t>STATISTICAL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3081528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4F8FB"/>
                </a:solidFill>
                <a:latin typeface="Aptos"/>
              </a:rPr>
              <a:t>GBLUP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9592" y="3410712"/>
            <a:ext cx="1316736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A9BAC6"/>
                </a:solidFill>
                <a:latin typeface="Aptos"/>
              </a:rPr>
              <a:t>additive signal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60720" y="3995928"/>
            <a:ext cx="155448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97880" y="411480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5D0C7"/>
                </a:solidFill>
                <a:latin typeface="Aptos"/>
              </a:rPr>
              <a:t>DEEP LEARNING</a:t>
            </a:r>
          </a:p>
        </p:txBody>
      </p:sp>
      <p:sp>
        <p:nvSpPr>
          <p:cNvPr id="76" name="Oval 75"/>
          <p:cNvSpPr/>
          <p:nvPr/>
        </p:nvSpPr>
        <p:spPr>
          <a:xfrm>
            <a:off x="6021324" y="460400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13932" y="44028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13932" y="4805172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15684" y="43662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615684" y="46314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15684" y="487832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17436" y="45948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6062472" y="4443984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62472" y="4645152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355080" y="44074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55080" y="4443984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355080" y="4672584"/>
            <a:ext cx="301752" cy="17373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355080" y="4846320"/>
            <a:ext cx="301752" cy="73152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56832" y="4407408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56832" y="46360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56832" y="4636008"/>
            <a:ext cx="301752" cy="283464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315200" y="3236976"/>
            <a:ext cx="182879" cy="512063"/>
          </a:xfrm>
          <a:prstGeom prst="line">
            <a:avLst/>
          </a:prstGeom>
          <a:ln w="1778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315200" y="4041648"/>
            <a:ext cx="182879" cy="512064"/>
          </a:xfrm>
          <a:prstGeom prst="line">
            <a:avLst/>
          </a:prstGeom>
          <a:ln w="1778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/>
          <p:cNvSpPr/>
          <p:nvPr/>
        </p:nvSpPr>
        <p:spPr>
          <a:xfrm>
            <a:off x="7424927" y="3703320"/>
            <a:ext cx="512064" cy="512064"/>
          </a:xfrm>
          <a:prstGeom prst="diamond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79" y="3813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GV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70832" y="5084064"/>
            <a:ext cx="3520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Statistical baseline  +  neural model</a:t>
            </a:r>
          </a:p>
        </p:txBody>
      </p:sp>
      <p:sp>
        <p:nvSpPr>
          <p:cNvPr id="97" name="Oval 96"/>
          <p:cNvSpPr/>
          <p:nvPr/>
        </p:nvSpPr>
        <p:spPr>
          <a:xfrm>
            <a:off x="8522208" y="261518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40496" y="2660903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51976" y="259689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Strong baseline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51976" y="2871215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Classical models remain robust
for additive genetic effects.</a:t>
            </a:r>
          </a:p>
        </p:txBody>
      </p:sp>
      <p:sp>
        <p:nvSpPr>
          <p:cNvPr id="101" name="Oval 100"/>
          <p:cNvSpPr/>
          <p:nvPr/>
        </p:nvSpPr>
        <p:spPr>
          <a:xfrm>
            <a:off x="8522208" y="3483864"/>
            <a:ext cx="292608" cy="29260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0496" y="352958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51976" y="346557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Selective DL value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51976" y="373989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DL helps when additional
non-linear structure exists.</a:t>
            </a:r>
          </a:p>
        </p:txBody>
      </p:sp>
      <p:sp>
        <p:nvSpPr>
          <p:cNvPr id="105" name="Oval 104"/>
          <p:cNvSpPr/>
          <p:nvPr/>
        </p:nvSpPr>
        <p:spPr>
          <a:xfrm>
            <a:off x="8522208" y="435254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40496" y="439826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51976" y="433425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Justify complexity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51976" y="460857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Complex models should earn
their place against baselines.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8368" y="5678424"/>
            <a:ext cx="10872216" cy="51206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2688" y="5769864"/>
            <a:ext cx="10332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5D0C7"/>
                </a:solidFill>
                <a:latin typeface="Aptos"/>
              </a:rPr>
              <a:t>DEEP LEARNING AS A COMPLEMENT TO ESTABLISHED STATISTICAL MODELS — NOT A REPLACEMENT.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6245352"/>
            <a:ext cx="4389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7F9AAF"/>
                </a:solidFill>
                <a:latin typeface="Aptos"/>
              </a:rPr>
              <a:t>Python  •  PyTorch  •  statistical genetics  •  simulation + real data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265408" y="624535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04 / OMICSAGE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FROM ISOLATED ANALYSES TO REPRODUCIBLE MULTI-OMICS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 modular framework connecting single-cell, spatial and multimodal analysis with reproducible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33172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39111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13431"/>
            <a:ext cx="19293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Different assays,
one analysis framework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5409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5409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299923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99923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scRNA-seq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4845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359359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59359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Spatial transcriptomics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4281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418795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18795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ATAC / CITE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3717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3717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478231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78231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Paired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1874519"/>
            <a:ext cx="4572000" cy="3520440"/>
          </a:xfrm>
          <a:prstGeom prst="roundRect">
            <a:avLst/>
          </a:prstGeom>
          <a:solidFill>
            <a:srgbClr val="0D1D29"/>
          </a:solidFill>
          <a:ln w="1651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039111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MODULAR ANALYSIS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1"/>
            <a:ext cx="2377440" cy="749808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551175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4F8FB"/>
                </a:solidFill>
                <a:latin typeface="Aptos"/>
              </a:rPr>
              <a:t>OMIC 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889503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55D0C7"/>
                </a:solidFill>
                <a:latin typeface="Aptos"/>
              </a:rPr>
              <a:t>Modular  •  Reproducible  •  Extensible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39312" y="3621023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PREPROCESS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QC · normalize · HVGs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69864" y="3621023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9864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PCA · neighbors · clusters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9312" y="4498847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INTEGRATE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DE · deconvolution · mapping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96712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9864" y="4498847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9864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INTERPRET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3872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pathways · niches · communication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32120.0" y="3246119"/>
            <a:ext cx="0.0" cy="219456"/>
          </a:xfrm>
          <a:prstGeom prst="line">
            <a:avLst/>
          </a:prstGeom>
          <a:ln w="1905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9240" y="3867911.0"/>
            <a:ext cx="347472" cy="0.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9240" y="4745735.0"/>
            <a:ext cx="347472" cy="0.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532120.0" y="4197095"/>
            <a:ext cx="0.0" cy="219456"/>
          </a:xfrm>
          <a:prstGeom prst="line">
            <a:avLst/>
          </a:prstGeom>
          <a:ln w="12700">
            <a:solidFill>
              <a:srgbClr val="132A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Arrow 52"/>
          <p:cNvSpPr/>
          <p:nvPr/>
        </p:nvSpPr>
        <p:spPr>
          <a:xfrm>
            <a:off x="30906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78912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46720" y="1874519"/>
            <a:ext cx="342900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2039111"/>
            <a:ext cx="30266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OUTPUTS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2313431"/>
            <a:ext cx="30266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From processing
to interpretable results</a:t>
            </a:r>
          </a:p>
        </p:txBody>
      </p:sp>
      <p:sp>
        <p:nvSpPr>
          <p:cNvPr id="58" name="Oval 57"/>
          <p:cNvSpPr/>
          <p:nvPr/>
        </p:nvSpPr>
        <p:spPr>
          <a:xfrm>
            <a:off x="8266176" y="3108959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6176" y="3108959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30449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CELL STATES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3648" y="32735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clusters · annotations · DE</a:t>
            </a:r>
          </a:p>
        </p:txBody>
      </p:sp>
      <p:sp>
        <p:nvSpPr>
          <p:cNvPr id="62" name="Oval 61"/>
          <p:cNvSpPr/>
          <p:nvPr/>
        </p:nvSpPr>
        <p:spPr>
          <a:xfrm>
            <a:off x="8266176" y="3721607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6176" y="3721607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3648" y="36575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SPATIAL CONTEXT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3648" y="38861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SVGs · niches · neighborhoods</a:t>
            </a:r>
          </a:p>
        </p:txBody>
      </p:sp>
      <p:sp>
        <p:nvSpPr>
          <p:cNvPr id="66" name="Oval 65"/>
          <p:cNvSpPr/>
          <p:nvPr/>
        </p:nvSpPr>
        <p:spPr>
          <a:xfrm>
            <a:off x="8266176" y="4334255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66176" y="4334255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42702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INTERACTIONS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44988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co-occurrence · ligand–receptor</a:t>
            </a:r>
          </a:p>
        </p:txBody>
      </p:sp>
      <p:sp>
        <p:nvSpPr>
          <p:cNvPr id="70" name="Oval 69"/>
          <p:cNvSpPr/>
          <p:nvPr/>
        </p:nvSpPr>
        <p:spPr>
          <a:xfrm>
            <a:off x="8266176" y="4946903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6176" y="4946903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3648" y="48828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REPRODUCIBLE REPORTS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8" y="51114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configs · reruns · documented outputs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8680" y="5605272"/>
            <a:ext cx="10149840" cy="57607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" y="5660136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F4F8FB"/>
                </a:solidFill>
                <a:latin typeface="Aptos"/>
              </a:rPr>
              <a:t>A common framework for moving from raw omics data to interpretable biological results.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5907024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0">
                <a:solidFill>
                  <a:srgbClr val="55D0C7"/>
                </a:solidFill>
                <a:latin typeface="Aptos"/>
              </a:rPr>
              <a:t>Reusable analysis logic  •  project-specific biological questions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05 / HCC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50" b="1">
                <a:solidFill>
                  <a:srgbClr val="F4F8FB"/>
                </a:solidFill>
                <a:latin typeface="Aptos Display"/>
              </a:rPr>
              <a:t>HCC SINGLE-CELL TRANSCRIPTOMICS — WORKFLOW &amp; ANALYTICAL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An end-to-end exploratory scRNA-seq workflow, from quality control to cell-type-specific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58368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ANALYSIS FLOW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249424"/>
            <a:ext cx="475488" cy="47548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25,189 cells
2 samples (HCC1 / HCC2)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92224" y="2249424"/>
            <a:ext cx="475488" cy="47548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200–7,500 genes
mt &lt;15%
18,309 retained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816352" y="2249424"/>
            <a:ext cx="475488" cy="47548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Normalize · log1p
2,000 HVGs
20 PCs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28416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40480" y="2249424"/>
            <a:ext cx="475488" cy="475488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15 neighbors
Leiden 0.5
19 clusters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52544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249424"/>
            <a:ext cx="475488" cy="475488"/>
          </a:xfrm>
          <a:prstGeom prst="ellipse">
            <a:avLst/>
          </a:prstGeom>
          <a:solidFill>
            <a:srgbClr val="F7C95C"/>
          </a:solidFill>
          <a:ln>
            <a:solidFill>
              <a:srgbClr val="F7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ANNOTATE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CellTypist + ScType
SingleR + markers
11 broad labels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76672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88736" y="2249424"/>
            <a:ext cx="475488" cy="475488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and cell-type-specific
DE + GSEA
interpretation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023360"/>
            <a:ext cx="621792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" y="4151376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48A3FF"/>
                </a:solidFill>
                <a:latin typeface="Aptos"/>
              </a:rP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4407408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Distribution-informed QC rather than copying the paper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" y="4608576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Annotation supported by multiple references plus marker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4809744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Cell-type-specific contrasts used to avoid over-interpreting pooled sample differences.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783080"/>
            <a:ext cx="388620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527" y="1920240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DESIGN &amp; INTERPRETATION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2" y="2212848"/>
            <a:ext cx="3456432" cy="8229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7264" y="2286000"/>
            <a:ext cx="3154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Experimental unit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7264" y="248716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1 sample per analysis group.
Cells are observations within samples, not independent biological replicates.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62672" y="3182112"/>
            <a:ext cx="3456432" cy="10058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7264" y="325526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How to position the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7264" y="34747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Exploratory, sample-associated differences.
Good for workflow development and biological hypotheses, not population-level HCC conclusions.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62672" y="4352544"/>
            <a:ext cx="3456432" cy="7772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7264" y="444398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Main message for the interview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7264" y="4663440"/>
            <a:ext cx="2999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55D0C7"/>
                </a:solidFill>
                <a:latin typeface="Aptos"/>
              </a:rPr>
              <a:t>I can build and critically audit a complete scRNA-seq workflow.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06 / BIOLOGICAL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4F8FB"/>
                </a:solidFill>
                <a:latin typeface="Aptos Display"/>
              </a:rPr>
              <a:t>WHAT DID SINGLE-CELL RESOLUTION CHANGE BIOLOGICALLY?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The strongest finding is cellular composition; stratifying by cell type changes how expression differences are interpreted.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53212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A. RECOVERED CELL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Fractions are among retained annotated cells — not direct tissue abundance.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2642616"/>
            <a:ext cx="275952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18.29%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2642616"/>
            <a:ext cx="1173060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77.75%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91256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Macrophages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3172968"/>
            <a:ext cx="779576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51.67%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0520" y="3172968"/>
            <a:ext cx="8147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2160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Hepatocytes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3703320"/>
            <a:ext cx="292246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19.37%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60520" y="3703320"/>
            <a:ext cx="301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51960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B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233672"/>
            <a:ext cx="19312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1.28%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60520" y="4233672"/>
            <a:ext cx="96560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671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6.40%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782312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Fibroblasts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9456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94560" y="4764024"/>
            <a:ext cx="31382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2.08%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60520" y="4764024"/>
            <a:ext cx="31683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671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46320"/>
            <a:ext cx="5166360" cy="43891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919472"/>
            <a:ext cx="4892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1">
                <a:solidFill>
                  <a:srgbClr val="55D0C7"/>
                </a:solidFill>
                <a:latin typeface="Aptos"/>
              </a:rPr>
              <a:t>HCC2 is T-cell dominated, whereas HCC1 contains many more macrophage- and hepatocyte-labelled cells.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783080"/>
            <a:ext cx="493776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192024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B. WHY CELL-TYPE STRATIFICATION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148840"/>
            <a:ext cx="4297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Example: broad T-cell comparison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2514600"/>
            <a:ext cx="105156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2542032"/>
            <a:ext cx="10149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Marker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2514600"/>
            <a:ext cx="100584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44968" y="2542032"/>
            <a:ext cx="96926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Pooled
log2FC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514600"/>
            <a:ext cx="114300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0808" y="2542032"/>
            <a:ext cx="11064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Within T cells
log2FC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514600"/>
            <a:ext cx="141732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3808" y="2542032"/>
            <a:ext cx="1380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Interpretation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2898648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11696" y="2953512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CD8A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80" y="2898648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63256" y="2953512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+4.469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2898648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69096" y="2953512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+2.495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2898648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12096" y="2953512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Higher CD8-associated
expression persists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75120" y="3474720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11696" y="3529584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PDCD1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26680" y="3474720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63256" y="3529584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+3.541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32520" y="3474720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69096" y="3529584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+1.700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75520" y="3474720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12096" y="3529584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Checkpoint-associated
signal remains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4050792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11696" y="4105656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IFNG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26680" y="4050792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63256" y="4105656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+2.329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32520" y="4050792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69096" y="4105656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+0.116
(ns)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75520" y="4050792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12096" y="4105656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increase largely
reflects composition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01968" y="4572000"/>
            <a:ext cx="4553712" cy="7315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4848" y="4636008"/>
            <a:ext cx="1554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Selected pathway themes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4848" y="483717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A9BAC6"/>
                </a:solidFill>
                <a:latin typeface="Aptos"/>
              </a:rPr>
              <a:t>T cells: ↑ chemokine / FoxO, ↓ oxidative phosphorylation
Fibroblasts: provisional contractile / actomyosin program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1248" y="5596128"/>
            <a:ext cx="10222992" cy="53035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566928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4F8FB"/>
                </a:solidFill>
                <a:latin typeface="Aptos"/>
              </a:rPr>
              <a:t>Interpretation is exploratory: one sample per group, composition confounding, and possible ambient RNA (e.g., widespread ALB signal).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07 / SPATIAL TRANSCRIPTOMICS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SPATIAL TRANSCRIPTOMICS — ADDING TISSUE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Single-cell tells us what cells are doing; spatial analysis adds where those states occur and which cellular environments surround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9967"/>
            <a:ext cx="384048" cy="38404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SINGLE-CELL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Cell types
Cell states
Differential expression
Pathway programs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48A3FF"/>
                </a:solidFill>
                <a:latin typeface="Aptos"/>
              </a:rPr>
              <a:t>High molecular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029967"/>
            <a:ext cx="384048" cy="38404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SPATIAL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Physical location
Spatially variable genes
Tissue regions / niches
Spatial neighbors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55D0C7"/>
                </a:solidFill>
                <a:latin typeface="Aptos"/>
              </a:rPr>
              <a:t>Tissue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90688" y="2029967"/>
            <a:ext cx="384048" cy="38404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INTEGRATED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Reference mapping / deconvolution
Neighborhood enrichment
Co-occurrence
Ligand–receptor hypotheses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784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A78BFA"/>
                </a:solidFill>
                <a:latin typeface="Aptos"/>
              </a:rPr>
              <a:t>Cellular context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87705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35177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279392"/>
            <a:ext cx="690372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398264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OMIC SAGE — HANDS-ON SPATIAL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Visium /
Visium HD /
Xenium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4592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6537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6537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78608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798064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98064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Spatial
graph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511296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730752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Moran’s 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443984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663440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Deconvolution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76672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59612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Niches /
communication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2881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2881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Imputation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58384"/>
            <a:ext cx="6355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A9BAC6"/>
                </a:solidFill>
                <a:latin typeface="Aptos"/>
              </a:rPr>
              <a:t>Reference-based deconvolution: NNLS + cell2location  •  Transcriptome mapping/imputation: Tangram / gimVI  •  Tested on published Visium + matched snRNA benchmark data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4279392"/>
            <a:ext cx="352044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9288" y="4389120"/>
            <a:ext cx="31181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WHY THIS MATTERS FOR DELTA-DECODE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37576" y="4681728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8" y="4672584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Where are disease-associated hepatocyte states located?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4882896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8" y="4873752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Which immune populations form local neighborhoods around them?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37576" y="5084064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8" y="5074920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Are inflammatory or fibrotic programs spatially restricted?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7576" y="5285232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8" y="5276088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Do particular niches associate with disease severity?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733288"/>
            <a:ext cx="10149840" cy="42062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797296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4F8FB"/>
                </a:solidFill>
                <a:latin typeface="Aptos"/>
              </a:rPr>
              <a:t>Spatial analysis extends cell-state discovery into tissue architecture and local cellular interactions.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08 /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50" b="1">
                <a:solidFill>
                  <a:srgbClr val="F4F8FB"/>
                </a:solidFill>
                <a:latin typeface="Aptos Display"/>
              </a:rPr>
              <a:t>A MULTIDISCIPLINARY, PROBLEM-SOLVING RESEARCH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The biological question comes first — the method can range from established bioinformatics to custom statistical or AI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679192"/>
            <a:ext cx="2286000" cy="950976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288036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F4F8FB"/>
                </a:solidFill>
                <a:latin typeface="Aptos"/>
              </a:rPr>
              <a:t>BIOLOGICAL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72968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55D0C7"/>
                </a:solidFill>
                <a:latin typeface="Aptos"/>
              </a:rPr>
              <a:t>What do we need to understand?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" y="2016251"/>
            <a:ext cx="320040" cy="320040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MULTIDISCIPLINARY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Biology → Omics → Statistics → AI
Understanding the problem from multiple computational and biological perspectives.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3316" y="2016251"/>
            <a:ext cx="320040" cy="32004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3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TRANSFERABLE RESEARCH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Genomics · transcriptomics · single-cell · spatial · multi-omics
Different biological systems, transferable analytical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" y="4027932"/>
            <a:ext cx="320040" cy="320040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TOOL &amp; METHOD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Existing tools → adapt / integrate → custom workflows → ML/DL when justified
Choose or develop the method that best answers the biological question.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3316" y="4027932"/>
            <a:ext cx="320040" cy="320040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3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INTERDISCIPLINARY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Bioinformatics ↔ biology / clinical expertise ↔ wet lab
Computation prioritizes hypotheses; domain expertise guides interpretation; experiments validate them.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0" y="2615184"/>
            <a:ext cx="7040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159752" y="2615184"/>
            <a:ext cx="9326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114800" y="3337560"/>
            <a:ext cx="7040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159752" y="3337560"/>
            <a:ext cx="9326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70248" y="4005072"/>
            <a:ext cx="3429000" cy="71323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078224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55D0C7"/>
                </a:solidFill>
                <a:latin typeface="Aptos"/>
              </a:rPr>
              <a:t>METHOD SPECTRUM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4279392"/>
            <a:ext cx="3154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F4F8FB"/>
                </a:solidFill>
                <a:latin typeface="Aptos"/>
              </a:rPr>
              <a:t>Classical tools  →  custom pipelines  →  statistics / ML / DL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5504688"/>
            <a:ext cx="8275320" cy="5029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577840"/>
            <a:ext cx="800100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0">
                <a:solidFill>
                  <a:srgbClr val="A9BAC6"/>
                </a:solidFill>
                <a:latin typeface="Aptos"/>
              </a:rPr>
              <a:t>Biological question  →  computational hypothesis  →  domain-guided interpretation  →  experimental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089904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B"/>
                </a:solidFill>
                <a:latin typeface="Aptos"/>
              </a:rPr>
              <a:t>Building the computational bridge from biological questions to testable hypotheses.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Fatima Shokor - Scientific Journey</dc:title>
  <dc:subject>Interview Presentation - Slide 1</dc:subject>
  <dc:creator>OpenAI</dc:creator>
  <cp:lastModifiedBy>OpenAI</cp:lastModifiedBy>
  <cp:revision>1</cp:revision>
  <dcterms:created xsi:type="dcterms:W3CDTF">2026-10-02T19:19:11Z</dcterms:created>
  <dcterms:modified xsi:type="dcterms:W3CDTF">2026-10-02T19:19:11Z</dcterms:modified>
</cp:coreProperties>
</file>