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s/slide11.xml" ContentType="application/vnd.openxmlformats-officedocument.presentationml.slide+xml"/>
  <Default Extension="png" ContentType="image/png"/>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 id="257" r:id="rId8"/>
    <p:sldId id="258" r:id="rId9"/>
    <p:sldId id="259" r:id="rId10"/>
    <p:sldId id="260" r:id="rId11"/>
    <p:sldId id="261" r:id="rId12"/>
    <p:sldId id="264" r:id="rId15"/>
    <p:sldId id="265" r:id="rId16"/>
    <p:sldId id="262" r:id="rId13"/>
    <p:sldId id="266" r:id="rIdSpatialBiology"/>
    <p:sldId id="263"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SpatialBiology"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Type="http://schemas.openxmlformats.org/officeDocument/2006/relationships/slide" Target="../slides/slide9.xml" Id="R74c7de36fabc443c"/><Relationship Type="http://schemas.openxmlformats.org/officeDocument/2006/relationships/notesMaster" Target="../notesMasters/notesMaster1.xml" Id="Rb1cb9f8c82fe466d"/></Relationships>
</file>

<file path=ppt/notesSlides/_rels/notesSlide10.xml.rels><?xml version='1.0' encoding='UTF-8' standalone='yes'?>
<Relationships xmlns="http://schemas.openxmlformats.org/package/2006/relationships"><Relationship Type="http://schemas.openxmlformats.org/officeDocument/2006/relationships/slide" Target="../slides/slide10.xml" Id="R7b3230365f38481d"/><Relationship Type="http://schemas.openxmlformats.org/officeDocument/2006/relationships/notesMaster" Target="../notesMasters/notesMaster1.xml" Id="R22925e03236a4f57"/></Relationships>
</file>

<file path=ppt/notesSlides/_rels/notesSlide11.xml.rels><?xml version='1.0' encoding='UTF-8' standalone='yes'?>
<Relationships xmlns="http://schemas.openxmlformats.org/package/2006/relationships"><Relationship Type="http://schemas.openxmlformats.org/officeDocument/2006/relationships/slide" Target="../slides/slide7.xml" Id="R79af387ce1d649bc"/><Relationship Type="http://schemas.openxmlformats.org/officeDocument/2006/relationships/notesMaster" Target="../notesMasters/notesMaster1.xml" Id="Rb16e5164975f434b"/></Relationships>
</file>

<file path=ppt/notesSlides/_rels/notesSlide12.xml.rels><?xml version='1.0' encoding='UTF-8' standalone='yes'?>
<Relationships xmlns="http://schemas.openxmlformats.org/package/2006/relationships"><Relationship Type="http://schemas.openxmlformats.org/officeDocument/2006/relationships/slide" Target="../slides/slide7.xml" Id="R1c11f2081b774a3a"/><Relationship Type="http://schemas.openxmlformats.org/officeDocument/2006/relationships/notesMaster" Target="../notesMasters/notesMaster1.xml" Id="R017f1a65a30f46ff"/></Relationships>
</file>

<file path=ppt/notesSlides/_rels/notesSlide13.xml.rels><?xml version='1.0' encoding='UTF-8' standalone='yes'?>
<Relationships xmlns="http://schemas.openxmlformats.org/package/2006/relationships"><Relationship Type="http://schemas.openxmlformats.org/officeDocument/2006/relationships/slide" Target="../slides/slide11.xml" Id="Rfac05e317bfa483e"/><Relationship Type="http://schemas.openxmlformats.org/officeDocument/2006/relationships/notesMaster" Target="../notesMasters/notesMaster1.xml" Id="R454cac36dc3d4d26"/></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pooled HCC2-versus-HCC1 results, not malignant-cell comparisons. APOA2 log2FC -12.198462; SERPINA1 -6.4540467; FTL -4.614934. All meet FDR &lt;0.05 and absolute log2FC &gt;=1. Stored gene FDR values underflow to zero and must not be called literally zero probabilities. KEGG cholesterol metabolism NES -2.28463661861109, adjusted p 9.56994237462538e-09; complement and coagulation cascades NES -2.34291493486101, adjusted p 4.32318970305741e-13; ferroptosis NES -2.08599306895663, adjusted p 8.63458370357047e-06. Each selected gene is verified in the corresponding leading edge. Negative NES is relative enrichment, not functional pathway suppression. APOA2 detection in HCC1 T cells is 93.3%, raising ambient RNA/technical concerns. Only one HCC2 hepatocyte-labelled cell is present. HCC1/HCC2 labels follow Wang, with source-metadata ambiguity. No validated efficacy claim: SERPINA1-IGMESINE is a database association with unresolved mechanism; no FTL drug association in the current snapshot. See docs/interview_preparation/FIVE_PAPER_GENES_AUDIT.md and supporting CSVs. Biological sources: https://www.ncbi.nlm.nih.gov/gene/336/ ; https://medlineplus.gov/genetics/gene/serpina1/ ; https://www.ncbi.nlm.nih.gov/gene/2512 . Reference: https://doi.org/10.1038/s41698-025-00952-3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completed notebook 03 pooled evidence-score regression run. Inputs: gene/drug nodes on known unweighted DGIdb graph; typed node features and pair evidence/metadata. The composite target uses max-normalized DGIdb interaction evidence, recorded approval and hub centrality, weights 0.65/0.15/0.20. Publication/phase weights are zero. Approval is not HCC approval. Available score ingredients explain why a linear Ridge approximator nearly reconstructs the target. GraphSAGE selected among GNNs by mean validation MSE; Ridge best among learned approximators by validation. Displayed test metrics from results/tables/evidence_score_regression/pooled/test_metrics.csv, also docs/interview_preparation/model_comparison.csv. Gene × candidate alias groups kept together in label splits; train 19207, validation 4127, test 4118. Known graph associations remain visible during label holdout, so this is not novel-link or cold-start evaluation. Seeds 42/43/44 show initialization stability, not patient uncertainty. Only one test association has reference score &gt;0.5, limiting top-tail evaluation. No drug response, binding or efficacy ground truth. Primary prioritisation is the original transparent score, with biological/source review required. Subsequent audit found XIST mapped to HNRNPU in upstream STRING mapping: upstream hub features require mapping audit before biological validation, and these metrics describe the saved run rather than an independently validated therapeutic model. Supporting files: current notebook 03 provenance, test_metrics.csv, validation_comparison.csv and test_score_band_metrics.csv. Model parameters/provenance: {"hidden":64,"embed":32,"dropout":0.2,"lr":0.003,"weight_decay":0.0001,"epochs":300,"patience":40}.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study verified against OmicSage config/runs/kuppe_heart.yaml, run_spatial_pipeline.py, saved reports/kuppe_heart and data/processed/kuppe_heart/01–07 checkpoints. Source: Kuppe et al., Spatial multi-omic map of human myocardial infarction, Nature 608, 766–777 (2022), https://doi.org/10.1038/s41586-022-05060-x. Only the published control subset was used here: Visium https://figshare.com/articles/dataset/Kuppe_Visium_Human_Heart_2022_Control/22132958 (file 39347357) and snRNA reference file 39347573. Spatial donors P1, P17, P7 and P8. This is a workflow implementation/benchmark, not a reproduction of the full myocardial-infarction disease analysis or spatial HCC analysis. QC counts 500–100000 and genes 200–10000; 19 spots removed, 11706 kept. No MT- feature symbols exist in ingested data and QC records zero matched mitochondrial genes: 20% cutoff did not provide an effective mitochondrial quality screen. Normalization to 10000 + log1p; 3000 Seurat-flavour HVGs; 50 PCs; expression KNN 15 neighbours/30 PCs; Leiden 0.5 yields five unannotated expression clusters. Expression clustering and spatial neighbour graphs are separate. Saved spatial_connectivities has 61021 stored adjacency entries, of which 49893 cross patient_region_id (81.76%), in both latest reduction and older downstream checkpoints; physical adjacency must be block diagonal per tissue section before Moran statistics or adjacency-based inference are interpreted. NNLS actually ran, not cell2location; reference cell_type_original, raw counts layer, 26698 shared genes, normalized coefficients reported as proportions rather than calibrated cell counts. Per_sample=true metadata is misleading for NNLS: implementation uses pooled reference signatures and solves each spot; only the cell2location branch implements a per-library fit loop. Adipocyte, Cycling cells and Fibroblast receive zero weights throughout; Endothelial mean 0.5695, Cardiomyocyte 0.3371, Lymphoid 0.0867. These are fitted coefficients, not established tissue composition. Zero/constant abundance and absolute-correlation ranking make some downstream marker lists unreliable. Tangram clusters mode projects 2000 genes; report rho=0.292 compares means for 50 overlapping genes, not held-out spatial prediction; no per-spot mapping score is available, so zero poor-score spots cannot establish success. Moran report lists 102/3000 FDR&lt;0.05; composition clustering lists 49 regions; GO prerank ranks Moran I, not differential expression, with one q&lt;0.05 among 1004 pathways. Do not call a negative NES pathway biologically downregulated. Ligand-receptor analysis was sq.gr.ligrec, seed42, 1000 permutations, expression-group test by dominant_cell_type; its call does not use spatial adjacency or an explicit colocalisation filter. Raw-p counts 8356 &lt;0.001 and 21452 &lt;0.05 are not FDR-validated spatial communication. Co-occurrence pools coordinates across sections; repeat per section. June16 ingest/reduce/cluster checkpoints coexist with June11–12 upstream provenance in deconvolve/downstream/impute: existing runner cache uses existence rather than input fingerprints. Rebuild graph per patient_region_id, invalidate descendants, validate signatures and marker sign/variance, use held-out gene validation, then interpret results. Future applications to liver niches are transferable questions, not completed analyses. Full audit: docs/interview_preparation/OMICSAGE_SPATIAL_CASE_STUDY_AUDIT.md.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corrected OmicSage reports/kuppe_heart_verified and 06_downstream.h5ad, completed 5 October 2026. Kuppe et al., Nature 608, 766–777 (2022), https://www.nature.com/articles/s41586-022-05060-x. Only control sections P1, P17, P7 and P8 are included; no infarction-versus-control comparison. 11719 retained spots, 36601 features including 13 MT genes. MT filtering disabled pending tissue-specific assessment; this does not certify every spot as healthy. Section-specific spatial graph has zero cross-library adjacency entries. 673/3000 candidate SVGs use analytical Moran p-values/BH correction, with pooled centering: section effects can contribute. Four largest expression clusters predominantly track individual sections. NNLS fits raw library-normalized shared nuclear genes against 11 mean snRNA reference signatures, yielding normalized coefficients rather than validated cell counts. Median relative residual norm ||x-Wp||/||x||=0.985; fibroblast, adipocyte and cycling signatures receive zero weights. Lymphoid-associated marker rankings include cardiac genes, a red flag. Therefore do not present 45 composition groups as validated anatomical niches or fitted means as tissue cell fractions. Marker correlations use the same data as fitting and are not independent validation. 1156 GO BP prerank tests use Moran I, with zero FDR&lt;0.05. Lack of significance does not imply lack of biological pathway activity. 7836 ligand-receptor hypotheses at BH q&lt;0.001 depend on uncertain dominant spot-label groups; group adjacency does not establish local contact or communication. Neighbourhood estimates inherit those label limitations. Tangram/imputation not rerun and not part of these updated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corrected 06_downstream.h5ad and spatial_cluster_report.html; independent descriptive extraction in selected_genes_by_section.csv. MYL2 pooled Moran I=0.759411, NPPB=0.762984, ANKRD1=0.611177. NPPB fraction with log-normalized expression &gt;0: P1 0.836138, P17 0.011719, P7 0.048398, P8 0.056934. NPPB mean log expression: 1.555582, 0.013128, 0.063347, 0.063399 respectively. All sections shown use the same NPPB colour scale, clipped at the pooled 99th percentile for visibility; no H&amp;E image underneath. These maps show RNA expression in mixed-cell spots, not individual annotated cells. Within-section descriptive Moran I for NPPB: P1 0.397305, P17 0.104548, P7 0.402763, P8 0.087396, computed on row-normalized saved section graphs; no new significance testing. Section mean differences contribute to pooled I, so do not call the pooled value replicated within-section evidence. ANKRD1 means P1 2.501681, P17 0.618102, P7 1.099303, P8 1.801183. MYL2 contractile context: https://www.ncbi.nlm.nih.gov/gene/4633. NPPB/ANKRD1 stress-state context: Kuppe et al., https://www.nature.com/articles/s41586-022-05060-x, Extended Data Figs. 6 and 7. The paper studied controls plus infarction tissue and validated stress-associated cardiomyocyte markers; this control-only workflow does not reproduce the disease findings. P1 pattern may reflect biology, sampled region, handling, or other donor/technical effects. Need section-specific validation, metadata and histology; no causal, disease or pathway activation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01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8"/>
          </a:solidFill>
          <a:ln w="12700">
            <a:solidFill>
              <a:srgbClr val="071018"/>
            </a:solidFill>
            <a:prstDash val="solid"/>
          </a:ln>
        </p:spPr>
      </p:sp>
      <p:sp>
        <p:nvSpPr>
          <p:cNvPr id="3" name="Shape 1"/>
          <p:cNvSpPr/>
          <p:nvPr/>
        </p:nvSpPr>
        <p:spPr>
          <a:xfrm>
            <a:off x="365760" y="502920"/>
            <a:ext cx="11430000" cy="0"/>
          </a:xfrm>
          <a:prstGeom prst="line">
            <a:avLst/>
          </a:prstGeom>
          <a:noFill/>
          <a:ln w="7620">
            <a:solidFill>
              <a:srgbClr val="163144">
                <a:alpha val="55000"/>
              </a:srgbClr>
            </a:solidFill>
            <a:prstDash val="solid"/>
          </a:ln>
        </p:spPr>
      </p:sp>
      <p:sp>
        <p:nvSpPr>
          <p:cNvPr id="4" name="Shape 2"/>
          <p:cNvSpPr/>
          <p:nvPr/>
        </p:nvSpPr>
        <p:spPr>
          <a:xfrm>
            <a:off x="365760" y="6355080"/>
            <a:ext cx="11430000" cy="0"/>
          </a:xfrm>
          <a:prstGeom prst="line">
            <a:avLst/>
          </a:prstGeom>
          <a:noFill/>
          <a:ln w="7620">
            <a:solidFill>
              <a:srgbClr val="163144">
                <a:alpha val="55000"/>
              </a:srgbClr>
            </a:solidFill>
            <a:prstDash val="solid"/>
          </a:ln>
        </p:spPr>
      </p:sp>
      <p:sp>
        <p:nvSpPr>
          <p:cNvPr id="25" name="Slide Number Placeholder 0"/>
          <p:cNvSpPr>
            <a:spLocks noGrp="1"/>
          </p:cNvSpPr>
          <p:nvPr>
            <p:ph type="sldNum" sz="quarter" idx="4294967295"/>
          </p:nvPr>
        </p:nvSpPr>
        <p:spPr>
          <a:xfrm>
            <a:off x="11475720" y="6428232"/>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607C91"/>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28232"/>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607C91"/>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1.xml" Id="R1955c523cad74199"/><Relationship Type="http://schemas.openxmlformats.org/officeDocument/2006/relationships/notesSlide" Target="../notesSlides/notesSlide12.xml" Id="R62d4a1eb3811431d"/></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Type="http://schemas.openxmlformats.org/officeDocument/2006/relationships/slideLayout" Target="../slideLayouts/slideLayout1.xml" Id="Rd8d4e098713c487a"/><Relationship Type="http://schemas.openxmlformats.org/officeDocument/2006/relationships/notesSlide" Target="../notesSlides/notesSlide9.xml" Id="R0dc3277c52874d7d"/></Relationships>
</file>

<file path=ppt/slides/_rels/slide10.xml.rels><?xml version='1.0' encoding='UTF-8' standalone='yes'?>
<Relationships xmlns="http://schemas.openxmlformats.org/package/2006/relationships"><Relationship Type="http://schemas.openxmlformats.org/officeDocument/2006/relationships/slideLayout" Target="../slideLayouts/slideLayout1.xml" Id="R1e851eb76ca04414"/><Relationship Type="http://schemas.openxmlformats.org/officeDocument/2006/relationships/notesSlide" Target="../notesSlides/notesSlide10.xml" Id="R9f4900c3a6a4442b"/></Relationships>
</file>

<file path=ppt/slides/_rels/slide11.xml.rels><?xml version='1.0' encoding='UTF-8' standalone='yes'?>
<Relationships xmlns="http://schemas.openxmlformats.org/package/2006/relationships"><Relationship Type="http://schemas.openxmlformats.org/officeDocument/2006/relationships/slideLayout" Target="../slideLayouts/slideLayout1.xml" Id="R77b6a62add4b4f09"/><Relationship Type="http://schemas.openxmlformats.org/officeDocument/2006/relationships/image" Target="../media/updated_spatial_image.png" Id="R1748ec59df7147c0"/><Relationship Type="http://schemas.openxmlformats.org/officeDocument/2006/relationships/notesSlide" Target="../notesSlides/notesSlide13.xml" Id="R3b1ac660f36d4aff"/></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548640"/>
            <a:ext cx="0" cy="5715000"/>
          </a:xfrm>
          <a:prstGeom prst="line">
            <a:avLst/>
          </a:prstGeom>
          <a:noFill/>
          <a:ln w="4445">
            <a:solidFill>
              <a:srgbClr val="183043">
                <a:alpha val="22000"/>
              </a:srgbClr>
            </a:solidFill>
            <a:prstDash val="solid"/>
          </a:ln>
        </p:spPr>
      </p:sp>
      <p:sp>
        <p:nvSpPr>
          <p:cNvPr id="3" name="Shape 1"/>
          <p:cNvSpPr/>
          <p:nvPr/>
        </p:nvSpPr>
        <p:spPr>
          <a:xfrm>
            <a:off x="1783080" y="548640"/>
            <a:ext cx="0" cy="5715000"/>
          </a:xfrm>
          <a:prstGeom prst="line">
            <a:avLst/>
          </a:prstGeom>
          <a:noFill/>
          <a:ln w="4445">
            <a:solidFill>
              <a:srgbClr val="183043">
                <a:alpha val="22000"/>
              </a:srgbClr>
            </a:solidFill>
            <a:prstDash val="solid"/>
          </a:ln>
        </p:spPr>
      </p:sp>
      <p:sp>
        <p:nvSpPr>
          <p:cNvPr id="4" name="Shape 2"/>
          <p:cNvSpPr/>
          <p:nvPr/>
        </p:nvSpPr>
        <p:spPr>
          <a:xfrm>
            <a:off x="2926080" y="548640"/>
            <a:ext cx="0" cy="5715000"/>
          </a:xfrm>
          <a:prstGeom prst="line">
            <a:avLst/>
          </a:prstGeom>
          <a:noFill/>
          <a:ln w="4445">
            <a:solidFill>
              <a:srgbClr val="183043">
                <a:alpha val="22000"/>
              </a:srgbClr>
            </a:solidFill>
            <a:prstDash val="solid"/>
          </a:ln>
        </p:spPr>
      </p:sp>
      <p:sp>
        <p:nvSpPr>
          <p:cNvPr id="5" name="Shape 3"/>
          <p:cNvSpPr/>
          <p:nvPr/>
        </p:nvSpPr>
        <p:spPr>
          <a:xfrm>
            <a:off x="4069080" y="548640"/>
            <a:ext cx="0" cy="5715000"/>
          </a:xfrm>
          <a:prstGeom prst="line">
            <a:avLst/>
          </a:prstGeom>
          <a:noFill/>
          <a:ln w="4445">
            <a:solidFill>
              <a:srgbClr val="183043">
                <a:alpha val="22000"/>
              </a:srgbClr>
            </a:solidFill>
            <a:prstDash val="solid"/>
          </a:ln>
        </p:spPr>
      </p:sp>
      <p:sp>
        <p:nvSpPr>
          <p:cNvPr id="6" name="Shape 4"/>
          <p:cNvSpPr/>
          <p:nvPr/>
        </p:nvSpPr>
        <p:spPr>
          <a:xfrm>
            <a:off x="5212080" y="548640"/>
            <a:ext cx="0" cy="5715000"/>
          </a:xfrm>
          <a:prstGeom prst="line">
            <a:avLst/>
          </a:prstGeom>
          <a:noFill/>
          <a:ln w="4445">
            <a:solidFill>
              <a:srgbClr val="183043">
                <a:alpha val="22000"/>
              </a:srgbClr>
            </a:solidFill>
            <a:prstDash val="solid"/>
          </a:ln>
        </p:spPr>
      </p:sp>
      <p:sp>
        <p:nvSpPr>
          <p:cNvPr id="7" name="Shape 5"/>
          <p:cNvSpPr/>
          <p:nvPr/>
        </p:nvSpPr>
        <p:spPr>
          <a:xfrm>
            <a:off x="6355080" y="548640"/>
            <a:ext cx="0" cy="5715000"/>
          </a:xfrm>
          <a:prstGeom prst="line">
            <a:avLst/>
          </a:prstGeom>
          <a:noFill/>
          <a:ln w="4445">
            <a:solidFill>
              <a:srgbClr val="183043">
                <a:alpha val="22000"/>
              </a:srgbClr>
            </a:solidFill>
            <a:prstDash val="solid"/>
          </a:ln>
        </p:spPr>
      </p:sp>
      <p:sp>
        <p:nvSpPr>
          <p:cNvPr id="8" name="Shape 6"/>
          <p:cNvSpPr/>
          <p:nvPr/>
        </p:nvSpPr>
        <p:spPr>
          <a:xfrm>
            <a:off x="7498080" y="548640"/>
            <a:ext cx="0" cy="5715000"/>
          </a:xfrm>
          <a:prstGeom prst="line">
            <a:avLst/>
          </a:prstGeom>
          <a:noFill/>
          <a:ln w="4445">
            <a:solidFill>
              <a:srgbClr val="183043">
                <a:alpha val="22000"/>
              </a:srgbClr>
            </a:solidFill>
            <a:prstDash val="solid"/>
          </a:ln>
        </p:spPr>
      </p:sp>
      <p:sp>
        <p:nvSpPr>
          <p:cNvPr id="9" name="Shape 7"/>
          <p:cNvSpPr/>
          <p:nvPr/>
        </p:nvSpPr>
        <p:spPr>
          <a:xfrm>
            <a:off x="8641080" y="548640"/>
            <a:ext cx="0" cy="5715000"/>
          </a:xfrm>
          <a:prstGeom prst="line">
            <a:avLst/>
          </a:prstGeom>
          <a:noFill/>
          <a:ln w="4445">
            <a:solidFill>
              <a:srgbClr val="183043">
                <a:alpha val="22000"/>
              </a:srgbClr>
            </a:solidFill>
            <a:prstDash val="solid"/>
          </a:ln>
        </p:spPr>
      </p:sp>
      <p:sp>
        <p:nvSpPr>
          <p:cNvPr id="10" name="Shape 8"/>
          <p:cNvSpPr/>
          <p:nvPr/>
        </p:nvSpPr>
        <p:spPr>
          <a:xfrm>
            <a:off x="9784080" y="548640"/>
            <a:ext cx="0" cy="5715000"/>
          </a:xfrm>
          <a:prstGeom prst="line">
            <a:avLst/>
          </a:prstGeom>
          <a:noFill/>
          <a:ln w="4445">
            <a:solidFill>
              <a:srgbClr val="183043">
                <a:alpha val="22000"/>
              </a:srgbClr>
            </a:solidFill>
            <a:prstDash val="solid"/>
          </a:ln>
        </p:spPr>
      </p:sp>
      <p:sp>
        <p:nvSpPr>
          <p:cNvPr id="11" name="Shape 9"/>
          <p:cNvSpPr/>
          <p:nvPr/>
        </p:nvSpPr>
        <p:spPr>
          <a:xfrm>
            <a:off x="10927080" y="548640"/>
            <a:ext cx="0" cy="5715000"/>
          </a:xfrm>
          <a:prstGeom prst="line">
            <a:avLst/>
          </a:prstGeom>
          <a:noFill/>
          <a:ln w="4445">
            <a:solidFill>
              <a:srgbClr val="183043">
                <a:alpha val="22000"/>
              </a:srgbClr>
            </a:solidFill>
            <a:prstDash val="solid"/>
          </a:ln>
        </p:spPr>
      </p:sp>
      <p:sp>
        <p:nvSpPr>
          <p:cNvPr id="12" name="Shape 10"/>
          <p:cNvSpPr/>
          <p:nvPr/>
        </p:nvSpPr>
        <p:spPr>
          <a:xfrm>
            <a:off x="365760" y="1097280"/>
            <a:ext cx="11430000" cy="0"/>
          </a:xfrm>
          <a:prstGeom prst="line">
            <a:avLst/>
          </a:prstGeom>
          <a:noFill/>
          <a:ln w="4445">
            <a:solidFill>
              <a:srgbClr val="183043">
                <a:alpha val="18000"/>
              </a:srgbClr>
            </a:solidFill>
            <a:prstDash val="solid"/>
          </a:ln>
        </p:spPr>
      </p:sp>
      <p:sp>
        <p:nvSpPr>
          <p:cNvPr id="13" name="Shape 11"/>
          <p:cNvSpPr/>
          <p:nvPr/>
        </p:nvSpPr>
        <p:spPr>
          <a:xfrm>
            <a:off x="365760" y="2148840"/>
            <a:ext cx="11430000" cy="0"/>
          </a:xfrm>
          <a:prstGeom prst="line">
            <a:avLst/>
          </a:prstGeom>
          <a:noFill/>
          <a:ln w="4445">
            <a:solidFill>
              <a:srgbClr val="183043">
                <a:alpha val="18000"/>
              </a:srgbClr>
            </a:solidFill>
            <a:prstDash val="solid"/>
          </a:ln>
        </p:spPr>
      </p:sp>
      <p:sp>
        <p:nvSpPr>
          <p:cNvPr id="14" name="Shape 12"/>
          <p:cNvSpPr/>
          <p:nvPr/>
        </p:nvSpPr>
        <p:spPr>
          <a:xfrm>
            <a:off x="365760" y="3200400"/>
            <a:ext cx="11430000" cy="0"/>
          </a:xfrm>
          <a:prstGeom prst="line">
            <a:avLst/>
          </a:prstGeom>
          <a:noFill/>
          <a:ln w="4445">
            <a:solidFill>
              <a:srgbClr val="183043">
                <a:alpha val="18000"/>
              </a:srgbClr>
            </a:solidFill>
            <a:prstDash val="solid"/>
          </a:ln>
        </p:spPr>
      </p:sp>
      <p:sp>
        <p:nvSpPr>
          <p:cNvPr id="15" name="Shape 13"/>
          <p:cNvSpPr/>
          <p:nvPr/>
        </p:nvSpPr>
        <p:spPr>
          <a:xfrm>
            <a:off x="365760" y="4251960"/>
            <a:ext cx="11430000" cy="0"/>
          </a:xfrm>
          <a:prstGeom prst="line">
            <a:avLst/>
          </a:prstGeom>
          <a:noFill/>
          <a:ln w="4445">
            <a:solidFill>
              <a:srgbClr val="183043">
                <a:alpha val="18000"/>
              </a:srgbClr>
            </a:solidFill>
            <a:prstDash val="solid"/>
          </a:ln>
        </p:spPr>
      </p:sp>
      <p:sp>
        <p:nvSpPr>
          <p:cNvPr id="16" name="Shape 14"/>
          <p:cNvSpPr/>
          <p:nvPr/>
        </p:nvSpPr>
        <p:spPr>
          <a:xfrm>
            <a:off x="365760" y="5303520"/>
            <a:ext cx="11430000" cy="0"/>
          </a:xfrm>
          <a:prstGeom prst="line">
            <a:avLst/>
          </a:prstGeom>
          <a:noFill/>
          <a:ln w="4445">
            <a:solidFill>
              <a:srgbClr val="183043">
                <a:alpha val="18000"/>
              </a:srgbClr>
            </a:solidFill>
            <a:prstDash val="solid"/>
          </a:ln>
        </p:spPr>
      </p:sp>
      <p:sp>
        <p:nvSpPr>
          <p:cNvPr id="17" name="Text 15"/>
          <p:cNvSpPr/>
          <p:nvPr/>
        </p:nvSpPr>
        <p:spPr>
          <a:xfrm>
            <a:off x="640080" y="713232"/>
            <a:ext cx="4114800" cy="320040"/>
          </a:xfrm>
          <a:prstGeom prst="rect">
            <a:avLst/>
          </a:prstGeom>
          <a:noFill/>
          <a:ln/>
        </p:spPr>
        <p:txBody>
          <a:bodyPr wrap="square" lIns="0" tIns="0" rIns="0" bIns="0" rtlCol="0" anchor="ctr"/>
          <a:lstStyle/>
          <a:p>
            <a:pPr indent="0" marL="0">
              <a:buNone/>
            </a:pPr>
            <a:r>
              <a:rPr lang="en-US" sz="1300" b="1" spc="160" kern="0" dirty="0">
                <a:solidFill>
                  <a:srgbClr val="48A3FF"/>
                </a:solidFill>
                <a:latin typeface="Aptos" pitchFamily="34" charset="0"/>
                <a:ea typeface="Aptos" pitchFamily="34" charset="-122"/>
                <a:cs typeface="Aptos" pitchFamily="34" charset="-120"/>
              </a:rPr>
              <a:t>FATIMA SHOKOR, PhD</a:t>
            </a:r>
            <a:endParaRPr lang="en-US" sz="1300" dirty="0"/>
          </a:p>
        </p:txBody>
      </p:sp>
      <p:sp>
        <p:nvSpPr>
          <p:cNvPr id="18" name="Text 16"/>
          <p:cNvSpPr/>
          <p:nvPr/>
        </p:nvSpPr>
        <p:spPr>
          <a:xfrm>
            <a:off x="640080" y="1069848"/>
            <a:ext cx="4754880" cy="274320"/>
          </a:xfrm>
          <a:prstGeom prst="rect">
            <a:avLst/>
          </a:prstGeom>
          <a:noFill/>
          <a:ln/>
        </p:spPr>
        <p:txBody>
          <a:bodyPr wrap="square" lIns="0" tIns="0" rIns="0" bIns="0" rtlCol="0" anchor="ctr"/>
          <a:lstStyle/>
          <a:p>
            <a:pPr indent="0" marL="0">
              <a:buNone/>
            </a:pPr>
            <a:r>
              <a:rPr lang="en-US" sz="1050" dirty="0">
                <a:solidFill>
                  <a:srgbClr val="BDD0DF"/>
                </a:solidFill>
                <a:latin typeface="Aptos" pitchFamily="34" charset="0"/>
                <a:ea typeface="Aptos" pitchFamily="34" charset="-122"/>
                <a:cs typeface="Aptos" pitchFamily="34" charset="-120"/>
              </a:rPr>
              <a:t>Computational Biology  •  Omics  •  Machine Learning</a:t>
            </a:r>
            <a:endParaRPr lang="en-US" sz="1050" dirty="0"/>
          </a:p>
        </p:txBody>
      </p:sp>
      <p:sp>
        <p:nvSpPr>
          <p:cNvPr id="19" name="Text 17"/>
          <p:cNvSpPr/>
          <p:nvPr/>
        </p:nvSpPr>
        <p:spPr>
          <a:xfrm>
            <a:off x="640080" y="1691640"/>
            <a:ext cx="4297680" cy="457200"/>
          </a:xfrm>
          <a:prstGeom prst="rect">
            <a:avLst/>
          </a:prstGeom>
          <a:noFill/>
          <a:ln/>
        </p:spPr>
        <p:txBody>
          <a:bodyPr wrap="square" lIns="0" tIns="0" rIns="0" bIns="0" rtlCol="0" anchor="ctr"/>
          <a:lstStyle/>
          <a:p>
            <a:pPr indent="0" marL="0">
              <a:buNone/>
            </a:pPr>
            <a:r>
              <a:rPr lang="en-US" sz="2600" b="1" dirty="0">
                <a:solidFill>
                  <a:srgbClr val="F2F7FB"/>
                </a:solidFill>
                <a:latin typeface="Aptos Display" pitchFamily="34" charset="0"/>
                <a:ea typeface="Aptos Display" pitchFamily="34" charset="-122"/>
                <a:cs typeface="Aptos Display" pitchFamily="34" charset="-120"/>
              </a:rPr>
              <a:t>FROM BIOLOGY TO</a:t>
            </a:r>
            <a:endParaRPr lang="en-US" sz="2600" dirty="0"/>
          </a:p>
        </p:txBody>
      </p:sp>
      <p:sp>
        <p:nvSpPr>
          <p:cNvPr id="20" name="Text 18"/>
          <p:cNvSpPr/>
          <p:nvPr/>
        </p:nvSpPr>
        <p:spPr>
          <a:xfrm>
            <a:off x="640080" y="2121408"/>
            <a:ext cx="4480560" cy="1051560"/>
          </a:xfrm>
          <a:prstGeom prst="rect">
            <a:avLst/>
          </a:prstGeom>
          <a:noFill/>
          <a:ln/>
        </p:spPr>
        <p:txBody>
          <a:bodyPr wrap="square" lIns="0" tIns="0" rIns="0" bIns="0" rtlCol="0" anchor="ctr">
            <a:normAutofit/>
          </a:bodyPr>
          <a:lstStyle/>
          <a:p>
            <a:pPr indent="0" marL="0">
              <a:buNone/>
            </a:pPr>
            <a:r>
              <a:rPr lang="en-US" sz="2500" b="1" dirty="0">
                <a:solidFill>
                  <a:srgbClr val="F2F7FB"/>
                </a:solidFill>
                <a:latin typeface="Aptos Display" pitchFamily="34" charset="0"/>
                <a:ea typeface="Aptos Display" pitchFamily="34" charset="-122"/>
                <a:cs typeface="Aptos Display" pitchFamily="34" charset="-120"/>
              </a:rPr>
              <a:t>TRANSLATIONAL</a:t>
            </a:r>
            <a:endParaRPr lang="en-US" sz="2500" dirty="0"/>
          </a:p>
          <a:p>
            <a:pPr indent="0" marL="0">
              <a:buNone/>
            </a:pPr>
            <a:r>
              <a:rPr lang="en-US" sz="2500" b="1" dirty="0">
                <a:solidFill>
                  <a:srgbClr val="F2F7FB"/>
                </a:solidFill>
                <a:latin typeface="Aptos Display" pitchFamily="34" charset="0"/>
                <a:ea typeface="Aptos Display" pitchFamily="34" charset="-122"/>
                <a:cs typeface="Aptos Display" pitchFamily="34" charset="-120"/>
              </a:rPr>
              <a:t>COMPUTATIONAL OMICS</a:t>
            </a:r>
            <a:endParaRPr lang="en-US" sz="2500" dirty="0"/>
          </a:p>
        </p:txBody>
      </p:sp>
      <p:sp>
        <p:nvSpPr>
          <p:cNvPr id="21" name="Shape 19"/>
          <p:cNvSpPr/>
          <p:nvPr/>
        </p:nvSpPr>
        <p:spPr>
          <a:xfrm>
            <a:off x="658368" y="3401568"/>
            <a:ext cx="0" cy="676656"/>
          </a:xfrm>
          <a:prstGeom prst="line">
            <a:avLst/>
          </a:prstGeom>
          <a:noFill/>
          <a:ln w="27940">
            <a:solidFill>
              <a:srgbClr val="48A3FF"/>
            </a:solidFill>
            <a:prstDash val="solid"/>
          </a:ln>
        </p:spPr>
      </p:sp>
      <p:sp>
        <p:nvSpPr>
          <p:cNvPr id="22" name="Text 20"/>
          <p:cNvSpPr/>
          <p:nvPr/>
        </p:nvSpPr>
        <p:spPr>
          <a:xfrm>
            <a:off x="841248" y="3392424"/>
            <a:ext cx="4041648" cy="786384"/>
          </a:xfrm>
          <a:prstGeom prst="rect">
            <a:avLst/>
          </a:prstGeom>
          <a:noFill/>
          <a:ln/>
        </p:spPr>
        <p:txBody>
          <a:bodyPr wrap="square" lIns="0" tIns="0" rIns="0" bIns="0" rtlCol="0" anchor="ctr">
            <a:normAutofit/>
          </a:bodyPr>
          <a:lstStyle/>
          <a:p>
            <a:pPr indent="0" marL="0">
              <a:buNone/>
            </a:pPr>
            <a:r>
              <a:rPr lang="en-US" sz="1220" dirty="0">
                <a:solidFill>
                  <a:srgbClr val="D9E7F2"/>
                </a:solidFill>
                <a:latin typeface="Aptos" pitchFamily="34" charset="0"/>
                <a:ea typeface="Aptos" pitchFamily="34" charset="-122"/>
                <a:cs typeface="Aptos" pitchFamily="34" charset="-120"/>
              </a:rPr>
              <a:t>A scientific journey from understanding biological systems</a:t>
            </a:r>
            <a:endParaRPr lang="en-US" sz="1220" dirty="0"/>
          </a:p>
          <a:p>
            <a:pPr indent="0" marL="0">
              <a:buNone/>
            </a:pPr>
            <a:r>
              <a:rPr lang="en-US" sz="1220" dirty="0">
                <a:solidFill>
                  <a:srgbClr val="D9E7F2"/>
                </a:solidFill>
                <a:latin typeface="Aptos" pitchFamily="34" charset="0"/>
                <a:ea typeface="Aptos" pitchFamily="34" charset="-122"/>
                <a:cs typeface="Aptos" pitchFamily="34" charset="-120"/>
              </a:rPr>
              <a:t>to modelling them across genes, cells, tissues and patients.</a:t>
            </a:r>
            <a:endParaRPr lang="en-US" sz="1220" dirty="0"/>
          </a:p>
        </p:txBody>
      </p:sp>
      <p:sp>
        <p:nvSpPr>
          <p:cNvPr id="23" name="Shape 21"/>
          <p:cNvSpPr/>
          <p:nvPr/>
        </p:nvSpPr>
        <p:spPr>
          <a:xfrm>
            <a:off x="5074920" y="3063240"/>
            <a:ext cx="6309360" cy="0"/>
          </a:xfrm>
          <a:prstGeom prst="line">
            <a:avLst/>
          </a:prstGeom>
          <a:noFill/>
          <a:ln w="21590">
            <a:solidFill>
              <a:srgbClr val="234255"/>
            </a:solidFill>
            <a:prstDash val="solid"/>
          </a:ln>
        </p:spPr>
      </p:sp>
      <p:sp>
        <p:nvSpPr>
          <p:cNvPr id="24" name="Shape 22"/>
          <p:cNvSpPr/>
          <p:nvPr/>
        </p:nvSpPr>
        <p:spPr>
          <a:xfrm>
            <a:off x="6236208" y="2962656"/>
            <a:ext cx="201168" cy="201168"/>
          </a:xfrm>
          <a:prstGeom prst="chevron">
            <a:avLst/>
          </a:prstGeom>
          <a:solidFill>
            <a:srgbClr val="234255"/>
          </a:solidFill>
          <a:ln w="12700">
            <a:solidFill>
              <a:srgbClr val="234255"/>
            </a:solidFill>
            <a:prstDash val="solid"/>
          </a:ln>
        </p:spPr>
      </p:sp>
      <p:sp>
        <p:nvSpPr>
          <p:cNvPr id="25" name="Shape 23"/>
          <p:cNvSpPr/>
          <p:nvPr/>
        </p:nvSpPr>
        <p:spPr>
          <a:xfrm>
            <a:off x="8156448" y="2962656"/>
            <a:ext cx="201168" cy="201168"/>
          </a:xfrm>
          <a:prstGeom prst="chevron">
            <a:avLst/>
          </a:prstGeom>
          <a:solidFill>
            <a:srgbClr val="234255"/>
          </a:solidFill>
          <a:ln w="12700">
            <a:solidFill>
              <a:srgbClr val="234255"/>
            </a:solidFill>
            <a:prstDash val="solid"/>
          </a:ln>
        </p:spPr>
      </p:sp>
      <p:sp>
        <p:nvSpPr>
          <p:cNvPr id="26" name="Shape 24"/>
          <p:cNvSpPr/>
          <p:nvPr/>
        </p:nvSpPr>
        <p:spPr>
          <a:xfrm>
            <a:off x="10076688" y="2962656"/>
            <a:ext cx="201168" cy="201168"/>
          </a:xfrm>
          <a:prstGeom prst="chevron">
            <a:avLst/>
          </a:prstGeom>
          <a:solidFill>
            <a:srgbClr val="234255"/>
          </a:solidFill>
          <a:ln w="12700">
            <a:solidFill>
              <a:srgbClr val="234255"/>
            </a:solidFill>
            <a:prstDash val="solid"/>
          </a:ln>
        </p:spPr>
      </p:sp>
      <p:sp>
        <p:nvSpPr>
          <p:cNvPr id="27" name="Shape 25"/>
          <p:cNvSpPr/>
          <p:nvPr/>
        </p:nvSpPr>
        <p:spPr>
          <a:xfrm>
            <a:off x="5248656" y="2779776"/>
            <a:ext cx="566928" cy="566928"/>
          </a:xfrm>
          <a:prstGeom prst="ellipse">
            <a:avLst/>
          </a:prstGeom>
          <a:solidFill>
            <a:srgbClr val="0D1D29"/>
          </a:solidFill>
          <a:ln w="16510">
            <a:solidFill>
              <a:srgbClr val="55D0C7"/>
            </a:solidFill>
            <a:prstDash val="solid"/>
          </a:ln>
        </p:spPr>
      </p:sp>
      <p:sp>
        <p:nvSpPr>
          <p:cNvPr id="28" name="Shape 26"/>
          <p:cNvSpPr/>
          <p:nvPr/>
        </p:nvSpPr>
        <p:spPr>
          <a:xfrm>
            <a:off x="5431536" y="2962656"/>
            <a:ext cx="201168" cy="201168"/>
          </a:xfrm>
          <a:prstGeom prst="ellipse">
            <a:avLst/>
          </a:prstGeom>
          <a:solidFill>
            <a:srgbClr val="55D0C7"/>
          </a:solidFill>
          <a:ln w="12700">
            <a:solidFill>
              <a:srgbClr val="55D0C7"/>
            </a:solidFill>
            <a:prstDash val="solid"/>
          </a:ln>
        </p:spPr>
      </p:sp>
      <p:sp>
        <p:nvSpPr>
          <p:cNvPr id="29" name="Shape 27"/>
          <p:cNvSpPr/>
          <p:nvPr/>
        </p:nvSpPr>
        <p:spPr>
          <a:xfrm>
            <a:off x="5221224" y="1810512"/>
            <a:ext cx="621792" cy="621792"/>
          </a:xfrm>
          <a:prstGeom prst="ellipse">
            <a:avLst/>
          </a:prstGeom>
          <a:solidFill>
            <a:srgbClr val="0B1822"/>
          </a:solidFill>
          <a:ln w="13970">
            <a:solidFill>
              <a:srgbClr val="55D0C7"/>
            </a:solidFill>
            <a:prstDash val="solid"/>
          </a:ln>
        </p:spPr>
      </p:sp>
      <p:sp>
        <p:nvSpPr>
          <p:cNvPr id="30" name="Shape 28"/>
          <p:cNvSpPr/>
          <p:nvPr/>
        </p:nvSpPr>
        <p:spPr>
          <a:xfrm>
            <a:off x="5440680" y="2011680"/>
            <a:ext cx="182880" cy="182880"/>
          </a:xfrm>
          <a:prstGeom prst="ellipse">
            <a:avLst/>
          </a:prstGeom>
          <a:solidFill>
            <a:srgbClr val="55D0C7">
              <a:alpha val="85000"/>
            </a:srgbClr>
          </a:solidFill>
          <a:ln w="10160">
            <a:solidFill>
              <a:srgbClr val="55D0C7"/>
            </a:solidFill>
            <a:prstDash val="solid"/>
          </a:ln>
        </p:spPr>
      </p:sp>
      <p:sp>
        <p:nvSpPr>
          <p:cNvPr id="31" name="Shape 29"/>
          <p:cNvSpPr/>
          <p:nvPr/>
        </p:nvSpPr>
        <p:spPr>
          <a:xfrm>
            <a:off x="5710428" y="2098548"/>
            <a:ext cx="45720" cy="45720"/>
          </a:xfrm>
          <a:prstGeom prst="ellipse">
            <a:avLst/>
          </a:prstGeom>
          <a:solidFill>
            <a:srgbClr val="55D0C7"/>
          </a:solidFill>
          <a:ln w="12700">
            <a:solidFill>
              <a:srgbClr val="55D0C7"/>
            </a:solidFill>
            <a:prstDash val="solid"/>
          </a:ln>
        </p:spPr>
      </p:sp>
      <p:sp>
        <p:nvSpPr>
          <p:cNvPr id="32" name="Shape 30"/>
          <p:cNvSpPr/>
          <p:nvPr/>
        </p:nvSpPr>
        <p:spPr>
          <a:xfrm>
            <a:off x="5571546" y="2289830"/>
            <a:ext cx="45720" cy="45720"/>
          </a:xfrm>
          <a:prstGeom prst="ellipse">
            <a:avLst/>
          </a:prstGeom>
          <a:solidFill>
            <a:srgbClr val="55D0C7"/>
          </a:solidFill>
          <a:ln w="12700">
            <a:solidFill>
              <a:srgbClr val="55D0C7"/>
            </a:solidFill>
            <a:prstDash val="solid"/>
          </a:ln>
        </p:spPr>
      </p:sp>
      <p:sp>
        <p:nvSpPr>
          <p:cNvPr id="33" name="Shape 31"/>
          <p:cNvSpPr/>
          <p:nvPr/>
        </p:nvSpPr>
        <p:spPr>
          <a:xfrm>
            <a:off x="5346662" y="2216999"/>
            <a:ext cx="45720" cy="45720"/>
          </a:xfrm>
          <a:prstGeom prst="ellipse">
            <a:avLst/>
          </a:prstGeom>
          <a:solidFill>
            <a:srgbClr val="55D0C7"/>
          </a:solidFill>
          <a:ln w="12700">
            <a:solidFill>
              <a:srgbClr val="55D0C7"/>
            </a:solidFill>
            <a:prstDash val="solid"/>
          </a:ln>
        </p:spPr>
      </p:sp>
      <p:sp>
        <p:nvSpPr>
          <p:cNvPr id="34" name="Shape 32"/>
          <p:cNvSpPr/>
          <p:nvPr/>
        </p:nvSpPr>
        <p:spPr>
          <a:xfrm>
            <a:off x="5346286" y="1980616"/>
            <a:ext cx="45720" cy="45720"/>
          </a:xfrm>
          <a:prstGeom prst="ellipse">
            <a:avLst/>
          </a:prstGeom>
          <a:solidFill>
            <a:srgbClr val="55D0C7"/>
          </a:solidFill>
          <a:ln w="12700">
            <a:solidFill>
              <a:srgbClr val="55D0C7"/>
            </a:solidFill>
            <a:prstDash val="solid"/>
          </a:ln>
        </p:spPr>
      </p:sp>
      <p:sp>
        <p:nvSpPr>
          <p:cNvPr id="35" name="Shape 33"/>
          <p:cNvSpPr/>
          <p:nvPr/>
        </p:nvSpPr>
        <p:spPr>
          <a:xfrm>
            <a:off x="5570937" y="1907068"/>
            <a:ext cx="45720" cy="45720"/>
          </a:xfrm>
          <a:prstGeom prst="ellipse">
            <a:avLst/>
          </a:prstGeom>
          <a:solidFill>
            <a:srgbClr val="55D0C7"/>
          </a:solidFill>
          <a:ln w="12700">
            <a:solidFill>
              <a:srgbClr val="55D0C7"/>
            </a:solidFill>
            <a:prstDash val="solid"/>
          </a:ln>
        </p:spPr>
      </p:sp>
      <p:sp>
        <p:nvSpPr>
          <p:cNvPr id="36" name="Text 34"/>
          <p:cNvSpPr/>
          <p:nvPr/>
        </p:nvSpPr>
        <p:spPr>
          <a:xfrm>
            <a:off x="5257800" y="3493008"/>
            <a:ext cx="548640" cy="182880"/>
          </a:xfrm>
          <a:prstGeom prst="rect">
            <a:avLst/>
          </a:prstGeom>
          <a:noFill/>
          <a:ln/>
        </p:spPr>
        <p:txBody>
          <a:bodyPr wrap="square" lIns="0" tIns="0" rIns="0" bIns="0" rtlCol="0" anchor="ctr"/>
          <a:lstStyle/>
          <a:p>
            <a:pPr algn="ctr" indent="0" marL="0">
              <a:buNone/>
            </a:pPr>
            <a:r>
              <a:rPr lang="en-US" sz="850" b="1" dirty="0">
                <a:solidFill>
                  <a:srgbClr val="55D0C7"/>
                </a:solidFill>
                <a:latin typeface="Aptos" pitchFamily="34" charset="0"/>
                <a:ea typeface="Aptos" pitchFamily="34" charset="-122"/>
                <a:cs typeface="Aptos" pitchFamily="34" charset="-120"/>
              </a:rPr>
              <a:t>01</a:t>
            </a:r>
            <a:endParaRPr lang="en-US" sz="850" dirty="0"/>
          </a:p>
        </p:txBody>
      </p:sp>
      <p:sp>
        <p:nvSpPr>
          <p:cNvPr id="37" name="Text 35"/>
          <p:cNvSpPr/>
          <p:nvPr/>
        </p:nvSpPr>
        <p:spPr>
          <a:xfrm>
            <a:off x="484632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BIOLOGY</a:t>
            </a:r>
            <a:endParaRPr lang="en-US" sz="1120" dirty="0"/>
          </a:p>
        </p:txBody>
      </p:sp>
      <p:sp>
        <p:nvSpPr>
          <p:cNvPr id="38" name="Text 36"/>
          <p:cNvSpPr/>
          <p:nvPr/>
        </p:nvSpPr>
        <p:spPr>
          <a:xfrm>
            <a:off x="481888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BSc in Biology</a:t>
            </a:r>
            <a:endParaRPr lang="en-US" sz="940" dirty="0"/>
          </a:p>
        </p:txBody>
      </p:sp>
      <p:sp>
        <p:nvSpPr>
          <p:cNvPr id="39" name="Text 37"/>
          <p:cNvSpPr/>
          <p:nvPr/>
        </p:nvSpPr>
        <p:spPr>
          <a:xfrm>
            <a:off x="478231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Curiosity about how complex living systems function.</a:t>
            </a:r>
            <a:endParaRPr lang="en-US" sz="850" dirty="0"/>
          </a:p>
        </p:txBody>
      </p:sp>
      <p:sp>
        <p:nvSpPr>
          <p:cNvPr id="40" name="Shape 38"/>
          <p:cNvSpPr/>
          <p:nvPr/>
        </p:nvSpPr>
        <p:spPr>
          <a:xfrm>
            <a:off x="7168896" y="2779776"/>
            <a:ext cx="566928" cy="566928"/>
          </a:xfrm>
          <a:prstGeom prst="ellipse">
            <a:avLst/>
          </a:prstGeom>
          <a:solidFill>
            <a:srgbClr val="0D1D29"/>
          </a:solidFill>
          <a:ln w="16510">
            <a:solidFill>
              <a:srgbClr val="48A3FF"/>
            </a:solidFill>
            <a:prstDash val="solid"/>
          </a:ln>
        </p:spPr>
      </p:sp>
      <p:sp>
        <p:nvSpPr>
          <p:cNvPr id="41" name="Shape 39"/>
          <p:cNvSpPr/>
          <p:nvPr/>
        </p:nvSpPr>
        <p:spPr>
          <a:xfrm>
            <a:off x="7351776" y="2962656"/>
            <a:ext cx="201168" cy="201168"/>
          </a:xfrm>
          <a:prstGeom prst="ellipse">
            <a:avLst/>
          </a:prstGeom>
          <a:solidFill>
            <a:srgbClr val="48A3FF"/>
          </a:solidFill>
          <a:ln w="12700">
            <a:solidFill>
              <a:srgbClr val="48A3FF"/>
            </a:solidFill>
            <a:prstDash val="solid"/>
          </a:ln>
        </p:spPr>
      </p:sp>
      <p:sp>
        <p:nvSpPr>
          <p:cNvPr id="42" name="Shape 40"/>
          <p:cNvSpPr/>
          <p:nvPr/>
        </p:nvSpPr>
        <p:spPr>
          <a:xfrm>
            <a:off x="7123176" y="1883664"/>
            <a:ext cx="658368" cy="137160"/>
          </a:xfrm>
          <a:prstGeom prst="roundRect">
            <a:avLst>
              <a:gd name="adj" fmla="val 26667"/>
            </a:avLst>
          </a:prstGeom>
          <a:solidFill>
            <a:srgbClr val="48A3FF">
              <a:alpha val="45000"/>
            </a:srgbClr>
          </a:solidFill>
          <a:ln w="8890">
            <a:solidFill>
              <a:srgbClr val="48A3FF">
                <a:alpha val="90000"/>
              </a:srgbClr>
            </a:solidFill>
            <a:prstDash val="solid"/>
          </a:ln>
        </p:spPr>
      </p:sp>
      <p:sp>
        <p:nvSpPr>
          <p:cNvPr id="43" name="Shape 41"/>
          <p:cNvSpPr/>
          <p:nvPr/>
        </p:nvSpPr>
        <p:spPr>
          <a:xfrm>
            <a:off x="7187184" y="2057400"/>
            <a:ext cx="530352" cy="137160"/>
          </a:xfrm>
          <a:prstGeom prst="roundRect">
            <a:avLst>
              <a:gd name="adj" fmla="val 26667"/>
            </a:avLst>
          </a:prstGeom>
          <a:solidFill>
            <a:srgbClr val="48A3FF">
              <a:alpha val="37000"/>
            </a:srgbClr>
          </a:solidFill>
          <a:ln w="8890">
            <a:solidFill>
              <a:srgbClr val="48A3FF">
                <a:alpha val="90000"/>
              </a:srgbClr>
            </a:solidFill>
            <a:prstDash val="solid"/>
          </a:ln>
        </p:spPr>
      </p:sp>
      <p:sp>
        <p:nvSpPr>
          <p:cNvPr id="44" name="Shape 42"/>
          <p:cNvSpPr/>
          <p:nvPr/>
        </p:nvSpPr>
        <p:spPr>
          <a:xfrm>
            <a:off x="7242048" y="2231136"/>
            <a:ext cx="420624" cy="137160"/>
          </a:xfrm>
          <a:prstGeom prst="roundRect">
            <a:avLst>
              <a:gd name="adj" fmla="val 26667"/>
            </a:avLst>
          </a:prstGeom>
          <a:solidFill>
            <a:srgbClr val="48A3FF">
              <a:alpha val="29000"/>
            </a:srgbClr>
          </a:solidFill>
          <a:ln w="8890">
            <a:solidFill>
              <a:srgbClr val="48A3FF">
                <a:alpha val="90000"/>
              </a:srgbClr>
            </a:solidFill>
            <a:prstDash val="solid"/>
          </a:ln>
        </p:spPr>
      </p:sp>
      <p:sp>
        <p:nvSpPr>
          <p:cNvPr id="45" name="Text 43"/>
          <p:cNvSpPr/>
          <p:nvPr/>
        </p:nvSpPr>
        <p:spPr>
          <a:xfrm>
            <a:off x="7178040" y="3493008"/>
            <a:ext cx="548640" cy="182880"/>
          </a:xfrm>
          <a:prstGeom prst="rect">
            <a:avLst/>
          </a:prstGeom>
          <a:noFill/>
          <a:ln/>
        </p:spPr>
        <p:txBody>
          <a:bodyPr wrap="square" lIns="0" tIns="0" rIns="0" bIns="0" rtlCol="0" anchor="ctr"/>
          <a:lstStyle/>
          <a:p>
            <a:pPr algn="ctr" indent="0" marL="0">
              <a:buNone/>
            </a:pPr>
            <a:r>
              <a:rPr lang="en-US" sz="850" b="1" dirty="0">
                <a:solidFill>
                  <a:srgbClr val="48A3FF"/>
                </a:solidFill>
                <a:latin typeface="Aptos" pitchFamily="34" charset="0"/>
                <a:ea typeface="Aptos" pitchFamily="34" charset="-122"/>
                <a:cs typeface="Aptos" pitchFamily="34" charset="-120"/>
              </a:rPr>
              <a:t>02</a:t>
            </a:r>
            <a:endParaRPr lang="en-US" sz="850" dirty="0"/>
          </a:p>
        </p:txBody>
      </p:sp>
      <p:sp>
        <p:nvSpPr>
          <p:cNvPr id="46" name="Text 44"/>
          <p:cNvSpPr/>
          <p:nvPr/>
        </p:nvSpPr>
        <p:spPr>
          <a:xfrm>
            <a:off x="676656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OMICS &amp;</a:t>
            </a:r>
            <a:endParaRPr lang="en-US" sz="1120" dirty="0"/>
          </a:p>
          <a:p>
            <a:pPr algn="ctr" indent="0" marL="0">
              <a:buNone/>
            </a:pPr>
            <a:r>
              <a:rPr lang="en-US" sz="1120" b="1" dirty="0">
                <a:solidFill>
                  <a:srgbClr val="F2F7FB"/>
                </a:solidFill>
                <a:latin typeface="Aptos" pitchFamily="34" charset="0"/>
                <a:ea typeface="Aptos" pitchFamily="34" charset="-122"/>
                <a:cs typeface="Aptos" pitchFamily="34" charset="-120"/>
              </a:rPr>
              <a:t>BIOINFORMATICS</a:t>
            </a:r>
            <a:endParaRPr lang="en-US" sz="1120" dirty="0"/>
          </a:p>
        </p:txBody>
      </p:sp>
      <p:sp>
        <p:nvSpPr>
          <p:cNvPr id="47" name="Text 45"/>
          <p:cNvSpPr/>
          <p:nvPr/>
        </p:nvSpPr>
        <p:spPr>
          <a:xfrm>
            <a:off x="673912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MSc in Omics / Bioinformatics</a:t>
            </a:r>
            <a:endParaRPr lang="en-US" sz="940" dirty="0"/>
          </a:p>
        </p:txBody>
      </p:sp>
      <p:sp>
        <p:nvSpPr>
          <p:cNvPr id="48" name="Text 46"/>
          <p:cNvSpPr/>
          <p:nvPr/>
        </p:nvSpPr>
        <p:spPr>
          <a:xfrm>
            <a:off x="670255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Using high-throughput data to study biology at scale.</a:t>
            </a:r>
            <a:endParaRPr lang="en-US" sz="850" dirty="0"/>
          </a:p>
        </p:txBody>
      </p:sp>
      <p:sp>
        <p:nvSpPr>
          <p:cNvPr id="49" name="Shape 47"/>
          <p:cNvSpPr/>
          <p:nvPr/>
        </p:nvSpPr>
        <p:spPr>
          <a:xfrm>
            <a:off x="9089136" y="2779776"/>
            <a:ext cx="566928" cy="566928"/>
          </a:xfrm>
          <a:prstGeom prst="ellipse">
            <a:avLst/>
          </a:prstGeom>
          <a:solidFill>
            <a:srgbClr val="0D1D29"/>
          </a:solidFill>
          <a:ln w="16510">
            <a:solidFill>
              <a:srgbClr val="55D0C7"/>
            </a:solidFill>
            <a:prstDash val="solid"/>
          </a:ln>
        </p:spPr>
      </p:sp>
      <p:sp>
        <p:nvSpPr>
          <p:cNvPr id="50" name="Shape 48"/>
          <p:cNvSpPr/>
          <p:nvPr/>
        </p:nvSpPr>
        <p:spPr>
          <a:xfrm>
            <a:off x="9272016" y="2962656"/>
            <a:ext cx="201168" cy="201168"/>
          </a:xfrm>
          <a:prstGeom prst="ellipse">
            <a:avLst/>
          </a:prstGeom>
          <a:solidFill>
            <a:srgbClr val="55D0C7"/>
          </a:solidFill>
          <a:ln w="12700">
            <a:solidFill>
              <a:srgbClr val="55D0C7"/>
            </a:solidFill>
            <a:prstDash val="solid"/>
          </a:ln>
        </p:spPr>
      </p:sp>
      <p:sp>
        <p:nvSpPr>
          <p:cNvPr id="51" name="Shape 49"/>
          <p:cNvSpPr/>
          <p:nvPr/>
        </p:nvSpPr>
        <p:spPr>
          <a:xfrm>
            <a:off x="9116568" y="1975104"/>
            <a:ext cx="256032" cy="-118872"/>
          </a:xfrm>
          <a:prstGeom prst="line">
            <a:avLst/>
          </a:prstGeom>
          <a:noFill/>
          <a:ln w="9525">
            <a:solidFill>
              <a:srgbClr val="55D0C7">
                <a:alpha val="80000"/>
              </a:srgbClr>
            </a:solidFill>
            <a:prstDash val="solid"/>
          </a:ln>
        </p:spPr>
      </p:sp>
      <p:sp>
        <p:nvSpPr>
          <p:cNvPr id="52" name="Shape 50"/>
          <p:cNvSpPr/>
          <p:nvPr/>
        </p:nvSpPr>
        <p:spPr>
          <a:xfrm>
            <a:off x="9372600" y="1856232"/>
            <a:ext cx="256032" cy="118872"/>
          </a:xfrm>
          <a:prstGeom prst="line">
            <a:avLst/>
          </a:prstGeom>
          <a:noFill/>
          <a:ln w="9525">
            <a:solidFill>
              <a:srgbClr val="55D0C7">
                <a:alpha val="80000"/>
              </a:srgbClr>
            </a:solidFill>
            <a:prstDash val="solid"/>
          </a:ln>
        </p:spPr>
      </p:sp>
      <p:sp>
        <p:nvSpPr>
          <p:cNvPr id="53" name="Shape 51"/>
          <p:cNvSpPr/>
          <p:nvPr/>
        </p:nvSpPr>
        <p:spPr>
          <a:xfrm>
            <a:off x="9116568" y="1975104"/>
            <a:ext cx="109728" cy="274320"/>
          </a:xfrm>
          <a:prstGeom prst="line">
            <a:avLst/>
          </a:prstGeom>
          <a:noFill/>
          <a:ln w="9525">
            <a:solidFill>
              <a:srgbClr val="55D0C7">
                <a:alpha val="80000"/>
              </a:srgbClr>
            </a:solidFill>
            <a:prstDash val="solid"/>
          </a:ln>
        </p:spPr>
      </p:sp>
      <p:sp>
        <p:nvSpPr>
          <p:cNvPr id="54" name="Shape 52"/>
          <p:cNvSpPr/>
          <p:nvPr/>
        </p:nvSpPr>
        <p:spPr>
          <a:xfrm>
            <a:off x="9372600" y="1856232"/>
            <a:ext cx="-146304" cy="393192"/>
          </a:xfrm>
          <a:prstGeom prst="line">
            <a:avLst/>
          </a:prstGeom>
          <a:noFill/>
          <a:ln w="9525">
            <a:solidFill>
              <a:srgbClr val="55D0C7">
                <a:alpha val="80000"/>
              </a:srgbClr>
            </a:solidFill>
            <a:prstDash val="solid"/>
          </a:ln>
        </p:spPr>
      </p:sp>
      <p:sp>
        <p:nvSpPr>
          <p:cNvPr id="55" name="Shape 53"/>
          <p:cNvSpPr/>
          <p:nvPr/>
        </p:nvSpPr>
        <p:spPr>
          <a:xfrm>
            <a:off x="9372600" y="1856232"/>
            <a:ext cx="164592" cy="374904"/>
          </a:xfrm>
          <a:prstGeom prst="line">
            <a:avLst/>
          </a:prstGeom>
          <a:noFill/>
          <a:ln w="9525">
            <a:solidFill>
              <a:srgbClr val="55D0C7">
                <a:alpha val="80000"/>
              </a:srgbClr>
            </a:solidFill>
            <a:prstDash val="solid"/>
          </a:ln>
        </p:spPr>
      </p:sp>
      <p:sp>
        <p:nvSpPr>
          <p:cNvPr id="56" name="Shape 54"/>
          <p:cNvSpPr/>
          <p:nvPr/>
        </p:nvSpPr>
        <p:spPr>
          <a:xfrm>
            <a:off x="9628632" y="1975104"/>
            <a:ext cx="-91440" cy="256032"/>
          </a:xfrm>
          <a:prstGeom prst="line">
            <a:avLst/>
          </a:prstGeom>
          <a:noFill/>
          <a:ln w="9525">
            <a:solidFill>
              <a:srgbClr val="55D0C7">
                <a:alpha val="80000"/>
              </a:srgbClr>
            </a:solidFill>
            <a:prstDash val="solid"/>
          </a:ln>
        </p:spPr>
      </p:sp>
      <p:sp>
        <p:nvSpPr>
          <p:cNvPr id="57" name="Shape 55"/>
          <p:cNvSpPr/>
          <p:nvPr/>
        </p:nvSpPr>
        <p:spPr>
          <a:xfrm>
            <a:off x="9226296" y="2249424"/>
            <a:ext cx="146304" cy="182880"/>
          </a:xfrm>
          <a:prstGeom prst="line">
            <a:avLst/>
          </a:prstGeom>
          <a:noFill/>
          <a:ln w="9525">
            <a:solidFill>
              <a:srgbClr val="55D0C7">
                <a:alpha val="80000"/>
              </a:srgbClr>
            </a:solidFill>
            <a:prstDash val="solid"/>
          </a:ln>
        </p:spPr>
      </p:sp>
      <p:sp>
        <p:nvSpPr>
          <p:cNvPr id="58" name="Shape 56"/>
          <p:cNvSpPr/>
          <p:nvPr/>
        </p:nvSpPr>
        <p:spPr>
          <a:xfrm>
            <a:off x="9537192" y="2231136"/>
            <a:ext cx="-164592" cy="201168"/>
          </a:xfrm>
          <a:prstGeom prst="line">
            <a:avLst/>
          </a:prstGeom>
          <a:noFill/>
          <a:ln w="9525">
            <a:solidFill>
              <a:srgbClr val="55D0C7">
                <a:alpha val="80000"/>
              </a:srgbClr>
            </a:solidFill>
            <a:prstDash val="solid"/>
          </a:ln>
        </p:spPr>
      </p:sp>
      <p:sp>
        <p:nvSpPr>
          <p:cNvPr id="59" name="Shape 57"/>
          <p:cNvSpPr/>
          <p:nvPr/>
        </p:nvSpPr>
        <p:spPr>
          <a:xfrm>
            <a:off x="9226296" y="2249424"/>
            <a:ext cx="310896" cy="-18288"/>
          </a:xfrm>
          <a:prstGeom prst="line">
            <a:avLst/>
          </a:prstGeom>
          <a:noFill/>
          <a:ln w="9525">
            <a:solidFill>
              <a:srgbClr val="55D0C7">
                <a:alpha val="80000"/>
              </a:srgbClr>
            </a:solidFill>
            <a:prstDash val="solid"/>
          </a:ln>
        </p:spPr>
      </p:sp>
      <p:sp>
        <p:nvSpPr>
          <p:cNvPr id="60" name="Shape 58"/>
          <p:cNvSpPr/>
          <p:nvPr/>
        </p:nvSpPr>
        <p:spPr>
          <a:xfrm>
            <a:off x="9079992" y="1938528"/>
            <a:ext cx="73152" cy="73152"/>
          </a:xfrm>
          <a:prstGeom prst="ellipse">
            <a:avLst/>
          </a:prstGeom>
          <a:solidFill>
            <a:srgbClr val="55D0C7"/>
          </a:solidFill>
          <a:ln w="12700">
            <a:solidFill>
              <a:srgbClr val="55D0C7"/>
            </a:solidFill>
            <a:prstDash val="solid"/>
          </a:ln>
        </p:spPr>
      </p:sp>
      <p:sp>
        <p:nvSpPr>
          <p:cNvPr id="61" name="Shape 59"/>
          <p:cNvSpPr/>
          <p:nvPr/>
        </p:nvSpPr>
        <p:spPr>
          <a:xfrm>
            <a:off x="9336024" y="1819656"/>
            <a:ext cx="73152" cy="73152"/>
          </a:xfrm>
          <a:prstGeom prst="ellipse">
            <a:avLst/>
          </a:prstGeom>
          <a:solidFill>
            <a:srgbClr val="55D0C7"/>
          </a:solidFill>
          <a:ln w="12700">
            <a:solidFill>
              <a:srgbClr val="55D0C7"/>
            </a:solidFill>
            <a:prstDash val="solid"/>
          </a:ln>
        </p:spPr>
      </p:sp>
      <p:sp>
        <p:nvSpPr>
          <p:cNvPr id="62" name="Shape 60"/>
          <p:cNvSpPr/>
          <p:nvPr/>
        </p:nvSpPr>
        <p:spPr>
          <a:xfrm>
            <a:off x="9592056" y="1938528"/>
            <a:ext cx="73152" cy="73152"/>
          </a:xfrm>
          <a:prstGeom prst="ellipse">
            <a:avLst/>
          </a:prstGeom>
          <a:solidFill>
            <a:srgbClr val="55D0C7"/>
          </a:solidFill>
          <a:ln w="12700">
            <a:solidFill>
              <a:srgbClr val="55D0C7"/>
            </a:solidFill>
            <a:prstDash val="solid"/>
          </a:ln>
        </p:spPr>
      </p:sp>
      <p:sp>
        <p:nvSpPr>
          <p:cNvPr id="63" name="Shape 61"/>
          <p:cNvSpPr/>
          <p:nvPr/>
        </p:nvSpPr>
        <p:spPr>
          <a:xfrm>
            <a:off x="9189720" y="2212848"/>
            <a:ext cx="73152" cy="73152"/>
          </a:xfrm>
          <a:prstGeom prst="ellipse">
            <a:avLst/>
          </a:prstGeom>
          <a:solidFill>
            <a:srgbClr val="55D0C7"/>
          </a:solidFill>
          <a:ln w="12700">
            <a:solidFill>
              <a:srgbClr val="55D0C7"/>
            </a:solidFill>
            <a:prstDash val="solid"/>
          </a:ln>
        </p:spPr>
      </p:sp>
      <p:sp>
        <p:nvSpPr>
          <p:cNvPr id="64" name="Shape 62"/>
          <p:cNvSpPr/>
          <p:nvPr/>
        </p:nvSpPr>
        <p:spPr>
          <a:xfrm>
            <a:off x="9500616" y="2194560"/>
            <a:ext cx="73152" cy="73152"/>
          </a:xfrm>
          <a:prstGeom prst="ellipse">
            <a:avLst/>
          </a:prstGeom>
          <a:solidFill>
            <a:srgbClr val="55D0C7"/>
          </a:solidFill>
          <a:ln w="12700">
            <a:solidFill>
              <a:srgbClr val="55D0C7"/>
            </a:solidFill>
            <a:prstDash val="solid"/>
          </a:ln>
        </p:spPr>
      </p:sp>
      <p:sp>
        <p:nvSpPr>
          <p:cNvPr id="65" name="Shape 63"/>
          <p:cNvSpPr/>
          <p:nvPr/>
        </p:nvSpPr>
        <p:spPr>
          <a:xfrm>
            <a:off x="9336024" y="2395728"/>
            <a:ext cx="73152" cy="73152"/>
          </a:xfrm>
          <a:prstGeom prst="ellipse">
            <a:avLst/>
          </a:prstGeom>
          <a:solidFill>
            <a:srgbClr val="55D0C7"/>
          </a:solidFill>
          <a:ln w="12700">
            <a:solidFill>
              <a:srgbClr val="55D0C7"/>
            </a:solidFill>
            <a:prstDash val="solid"/>
          </a:ln>
        </p:spPr>
      </p:sp>
      <p:sp>
        <p:nvSpPr>
          <p:cNvPr id="66" name="Text 64"/>
          <p:cNvSpPr/>
          <p:nvPr/>
        </p:nvSpPr>
        <p:spPr>
          <a:xfrm>
            <a:off x="9098280" y="3493008"/>
            <a:ext cx="548640" cy="182880"/>
          </a:xfrm>
          <a:prstGeom prst="rect">
            <a:avLst/>
          </a:prstGeom>
          <a:noFill/>
          <a:ln/>
        </p:spPr>
        <p:txBody>
          <a:bodyPr wrap="square" lIns="0" tIns="0" rIns="0" bIns="0" rtlCol="0" anchor="ctr"/>
          <a:lstStyle/>
          <a:p>
            <a:pPr algn="ctr" indent="0" marL="0">
              <a:buNone/>
            </a:pPr>
            <a:r>
              <a:rPr lang="en-US" sz="850" b="1" dirty="0">
                <a:solidFill>
                  <a:srgbClr val="55D0C7"/>
                </a:solidFill>
                <a:latin typeface="Aptos" pitchFamily="34" charset="0"/>
                <a:ea typeface="Aptos" pitchFamily="34" charset="-122"/>
                <a:cs typeface="Aptos" pitchFamily="34" charset="-120"/>
              </a:rPr>
              <a:t>03</a:t>
            </a:r>
            <a:endParaRPr lang="en-US" sz="850" dirty="0"/>
          </a:p>
        </p:txBody>
      </p:sp>
      <p:sp>
        <p:nvSpPr>
          <p:cNvPr id="67" name="Text 65"/>
          <p:cNvSpPr/>
          <p:nvPr/>
        </p:nvSpPr>
        <p:spPr>
          <a:xfrm>
            <a:off x="868680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GENOMICS + AI</a:t>
            </a:r>
            <a:endParaRPr lang="en-US" sz="1120" dirty="0"/>
          </a:p>
        </p:txBody>
      </p:sp>
      <p:sp>
        <p:nvSpPr>
          <p:cNvPr id="68" name="Text 66"/>
          <p:cNvSpPr/>
          <p:nvPr/>
        </p:nvSpPr>
        <p:spPr>
          <a:xfrm>
            <a:off x="865936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PhD in Genetics &amp; Bioinformatics</a:t>
            </a:r>
            <a:endParaRPr lang="en-US" sz="940" dirty="0"/>
          </a:p>
        </p:txBody>
      </p:sp>
      <p:sp>
        <p:nvSpPr>
          <p:cNvPr id="69" name="Text 67"/>
          <p:cNvSpPr/>
          <p:nvPr/>
        </p:nvSpPr>
        <p:spPr>
          <a:xfrm>
            <a:off x="862279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Deep learning for genomic prediction and non-linear biological relationships.</a:t>
            </a:r>
            <a:endParaRPr lang="en-US" sz="850" dirty="0"/>
          </a:p>
        </p:txBody>
      </p:sp>
      <p:sp>
        <p:nvSpPr>
          <p:cNvPr id="70" name="Shape 68"/>
          <p:cNvSpPr/>
          <p:nvPr/>
        </p:nvSpPr>
        <p:spPr>
          <a:xfrm>
            <a:off x="10826496" y="2779776"/>
            <a:ext cx="566928" cy="566928"/>
          </a:xfrm>
          <a:prstGeom prst="ellipse">
            <a:avLst/>
          </a:prstGeom>
          <a:solidFill>
            <a:srgbClr val="0D1D29"/>
          </a:solidFill>
          <a:ln w="16510">
            <a:solidFill>
              <a:srgbClr val="48A3FF"/>
            </a:solidFill>
            <a:prstDash val="solid"/>
          </a:ln>
        </p:spPr>
      </p:sp>
      <p:sp>
        <p:nvSpPr>
          <p:cNvPr id="71" name="Shape 69"/>
          <p:cNvSpPr/>
          <p:nvPr/>
        </p:nvSpPr>
        <p:spPr>
          <a:xfrm>
            <a:off x="11009376" y="2962656"/>
            <a:ext cx="201168" cy="201168"/>
          </a:xfrm>
          <a:prstGeom prst="ellipse">
            <a:avLst/>
          </a:prstGeom>
          <a:solidFill>
            <a:srgbClr val="48A3FF"/>
          </a:solidFill>
          <a:ln w="12700">
            <a:solidFill>
              <a:srgbClr val="48A3FF"/>
            </a:solidFill>
            <a:prstDash val="solid"/>
          </a:ln>
        </p:spPr>
      </p:sp>
      <p:sp>
        <p:nvSpPr>
          <p:cNvPr id="72" name="Shape 70"/>
          <p:cNvSpPr/>
          <p:nvPr/>
        </p:nvSpPr>
        <p:spPr>
          <a:xfrm>
            <a:off x="10799064" y="1883664"/>
            <a:ext cx="621792" cy="475488"/>
          </a:xfrm>
          <a:prstGeom prst="ellipse">
            <a:avLst/>
          </a:prstGeom>
          <a:solidFill>
            <a:srgbClr val="48A3FF">
              <a:alpha val="22000"/>
            </a:srgbClr>
          </a:solidFill>
          <a:ln w="10160">
            <a:solidFill>
              <a:srgbClr val="48A3FF"/>
            </a:solidFill>
            <a:prstDash val="solid"/>
          </a:ln>
        </p:spPr>
      </p:sp>
      <p:sp>
        <p:nvSpPr>
          <p:cNvPr id="73" name="Shape 71"/>
          <p:cNvSpPr/>
          <p:nvPr/>
        </p:nvSpPr>
        <p:spPr>
          <a:xfrm>
            <a:off x="10913364" y="1943100"/>
            <a:ext cx="64008" cy="64008"/>
          </a:xfrm>
          <a:prstGeom prst="ellipse">
            <a:avLst/>
          </a:prstGeom>
          <a:solidFill>
            <a:srgbClr val="48A3FF"/>
          </a:solidFill>
          <a:ln w="12700">
            <a:solidFill>
              <a:srgbClr val="48A3FF"/>
            </a:solidFill>
            <a:prstDash val="solid"/>
          </a:ln>
        </p:spPr>
      </p:sp>
      <p:sp>
        <p:nvSpPr>
          <p:cNvPr id="74" name="Shape 72"/>
          <p:cNvSpPr/>
          <p:nvPr/>
        </p:nvSpPr>
        <p:spPr>
          <a:xfrm>
            <a:off x="11096244" y="1933956"/>
            <a:ext cx="64008" cy="64008"/>
          </a:xfrm>
          <a:prstGeom prst="ellipse">
            <a:avLst/>
          </a:prstGeom>
          <a:solidFill>
            <a:srgbClr val="48A3FF"/>
          </a:solidFill>
          <a:ln w="12700">
            <a:solidFill>
              <a:srgbClr val="48A3FF"/>
            </a:solidFill>
            <a:prstDash val="solid"/>
          </a:ln>
        </p:spPr>
      </p:sp>
      <p:sp>
        <p:nvSpPr>
          <p:cNvPr id="75" name="Shape 73"/>
          <p:cNvSpPr/>
          <p:nvPr/>
        </p:nvSpPr>
        <p:spPr>
          <a:xfrm>
            <a:off x="11251692" y="2016252"/>
            <a:ext cx="64008" cy="64008"/>
          </a:xfrm>
          <a:prstGeom prst="ellipse">
            <a:avLst/>
          </a:prstGeom>
          <a:solidFill>
            <a:srgbClr val="48A3FF"/>
          </a:solidFill>
          <a:ln w="12700">
            <a:solidFill>
              <a:srgbClr val="48A3FF"/>
            </a:solidFill>
            <a:prstDash val="solid"/>
          </a:ln>
        </p:spPr>
      </p:sp>
      <p:sp>
        <p:nvSpPr>
          <p:cNvPr id="76" name="Shape 74"/>
          <p:cNvSpPr/>
          <p:nvPr/>
        </p:nvSpPr>
        <p:spPr>
          <a:xfrm>
            <a:off x="11023092" y="2098548"/>
            <a:ext cx="64008" cy="64008"/>
          </a:xfrm>
          <a:prstGeom prst="ellipse">
            <a:avLst/>
          </a:prstGeom>
          <a:solidFill>
            <a:srgbClr val="48A3FF"/>
          </a:solidFill>
          <a:ln w="12700">
            <a:solidFill>
              <a:srgbClr val="48A3FF"/>
            </a:solidFill>
            <a:prstDash val="solid"/>
          </a:ln>
        </p:spPr>
      </p:sp>
      <p:sp>
        <p:nvSpPr>
          <p:cNvPr id="77" name="Shape 75"/>
          <p:cNvSpPr/>
          <p:nvPr/>
        </p:nvSpPr>
        <p:spPr>
          <a:xfrm>
            <a:off x="11215116" y="2180844"/>
            <a:ext cx="64008" cy="64008"/>
          </a:xfrm>
          <a:prstGeom prst="ellipse">
            <a:avLst/>
          </a:prstGeom>
          <a:solidFill>
            <a:srgbClr val="48A3FF"/>
          </a:solidFill>
          <a:ln w="12700">
            <a:solidFill>
              <a:srgbClr val="48A3FF"/>
            </a:solidFill>
            <a:prstDash val="solid"/>
          </a:ln>
        </p:spPr>
      </p:sp>
      <p:sp>
        <p:nvSpPr>
          <p:cNvPr id="78" name="Shape 76"/>
          <p:cNvSpPr/>
          <p:nvPr/>
        </p:nvSpPr>
        <p:spPr>
          <a:xfrm>
            <a:off x="10876788" y="2162556"/>
            <a:ext cx="64008" cy="64008"/>
          </a:xfrm>
          <a:prstGeom prst="ellipse">
            <a:avLst/>
          </a:prstGeom>
          <a:solidFill>
            <a:srgbClr val="48A3FF"/>
          </a:solidFill>
          <a:ln w="12700">
            <a:solidFill>
              <a:srgbClr val="48A3FF"/>
            </a:solidFill>
            <a:prstDash val="solid"/>
          </a:ln>
        </p:spPr>
      </p:sp>
      <p:sp>
        <p:nvSpPr>
          <p:cNvPr id="79" name="Shape 77"/>
          <p:cNvSpPr/>
          <p:nvPr/>
        </p:nvSpPr>
        <p:spPr>
          <a:xfrm>
            <a:off x="11096244" y="2253996"/>
            <a:ext cx="64008" cy="64008"/>
          </a:xfrm>
          <a:prstGeom prst="ellipse">
            <a:avLst/>
          </a:prstGeom>
          <a:solidFill>
            <a:srgbClr val="48A3FF"/>
          </a:solidFill>
          <a:ln w="12700">
            <a:solidFill>
              <a:srgbClr val="48A3FF"/>
            </a:solidFill>
            <a:prstDash val="solid"/>
          </a:ln>
        </p:spPr>
      </p:sp>
      <p:sp>
        <p:nvSpPr>
          <p:cNvPr id="80" name="Text 78"/>
          <p:cNvSpPr/>
          <p:nvPr/>
        </p:nvSpPr>
        <p:spPr>
          <a:xfrm>
            <a:off x="10835640" y="3493008"/>
            <a:ext cx="548640" cy="182880"/>
          </a:xfrm>
          <a:prstGeom prst="rect">
            <a:avLst/>
          </a:prstGeom>
          <a:noFill/>
          <a:ln/>
        </p:spPr>
        <p:txBody>
          <a:bodyPr wrap="square" lIns="0" tIns="0" rIns="0" bIns="0" rtlCol="0" anchor="ctr"/>
          <a:lstStyle/>
          <a:p>
            <a:pPr algn="ctr" indent="0" marL="0">
              <a:buNone/>
            </a:pPr>
            <a:r>
              <a:rPr lang="en-US" sz="850" b="1" dirty="0">
                <a:solidFill>
                  <a:srgbClr val="48A3FF"/>
                </a:solidFill>
                <a:latin typeface="Aptos" pitchFamily="34" charset="0"/>
                <a:ea typeface="Aptos" pitchFamily="34" charset="-122"/>
                <a:cs typeface="Aptos" pitchFamily="34" charset="-120"/>
              </a:rPr>
              <a:t>04</a:t>
            </a:r>
            <a:endParaRPr lang="en-US" sz="850" dirty="0"/>
          </a:p>
        </p:txBody>
      </p:sp>
      <p:sp>
        <p:nvSpPr>
          <p:cNvPr id="81" name="Text 79"/>
          <p:cNvSpPr/>
          <p:nvPr/>
        </p:nvSpPr>
        <p:spPr>
          <a:xfrm>
            <a:off x="1042416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CURRENT FOCUS</a:t>
            </a:r>
            <a:endParaRPr lang="en-US" sz="1120" dirty="0"/>
          </a:p>
        </p:txBody>
      </p:sp>
      <p:sp>
        <p:nvSpPr>
          <p:cNvPr id="82" name="Text 80"/>
          <p:cNvSpPr/>
          <p:nvPr/>
        </p:nvSpPr>
        <p:spPr>
          <a:xfrm>
            <a:off x="1039672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Translational Computational Omics</a:t>
            </a:r>
            <a:endParaRPr lang="en-US" sz="940" dirty="0"/>
          </a:p>
        </p:txBody>
      </p:sp>
      <p:sp>
        <p:nvSpPr>
          <p:cNvPr id="83" name="Text 81"/>
          <p:cNvSpPr/>
          <p:nvPr/>
        </p:nvSpPr>
        <p:spPr>
          <a:xfrm>
            <a:off x="1036015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Single-cell • Spatial • Multi-omics • Human disease</a:t>
            </a:r>
            <a:endParaRPr lang="en-US" sz="850" dirty="0"/>
          </a:p>
        </p:txBody>
      </p:sp>
      <p:sp>
        <p:nvSpPr>
          <p:cNvPr id="84" name="Text 82"/>
          <p:cNvSpPr/>
          <p:nvPr/>
        </p:nvSpPr>
        <p:spPr>
          <a:xfrm>
            <a:off x="5001768" y="5715000"/>
            <a:ext cx="1325880" cy="182880"/>
          </a:xfrm>
          <a:prstGeom prst="rect">
            <a:avLst/>
          </a:prstGeom>
          <a:noFill/>
          <a:ln/>
        </p:spPr>
        <p:txBody>
          <a:bodyPr wrap="square" lIns="0" tIns="0" rIns="0" bIns="0" rtlCol="0" anchor="ctr"/>
          <a:lstStyle/>
          <a:p>
            <a:pPr indent="0" marL="0">
              <a:buNone/>
            </a:pPr>
            <a:r>
              <a:rPr lang="en-US" sz="750" b="1" spc="100" kern="0" dirty="0">
                <a:solidFill>
                  <a:srgbClr val="7F9AAF"/>
                </a:solidFill>
              </a:rPr>
              <a:t>BIOLOGICAL QUESTION</a:t>
            </a:r>
            <a:endParaRPr lang="en-US" sz="750" dirty="0"/>
          </a:p>
        </p:txBody>
      </p:sp>
      <p:sp>
        <p:nvSpPr>
          <p:cNvPr id="85" name="Text 83"/>
          <p:cNvSpPr/>
          <p:nvPr/>
        </p:nvSpPr>
        <p:spPr>
          <a:xfrm>
            <a:off x="7251192" y="5715000"/>
            <a:ext cx="457200" cy="182880"/>
          </a:xfrm>
          <a:prstGeom prst="rect">
            <a:avLst/>
          </a:prstGeom>
          <a:noFill/>
          <a:ln/>
        </p:spPr>
        <p:txBody>
          <a:bodyPr wrap="square" lIns="0" tIns="0" rIns="0" bIns="0" rtlCol="0" anchor="ctr"/>
          <a:lstStyle/>
          <a:p>
            <a:pPr indent="0" marL="0">
              <a:buNone/>
            </a:pPr>
            <a:r>
              <a:rPr lang="en-US" sz="750" b="1" spc="100" kern="0" dirty="0">
                <a:solidFill>
                  <a:srgbClr val="7F9AAF"/>
                </a:solidFill>
              </a:rPr>
              <a:t>DATA</a:t>
            </a:r>
            <a:endParaRPr lang="en-US" sz="750" dirty="0"/>
          </a:p>
        </p:txBody>
      </p:sp>
      <p:sp>
        <p:nvSpPr>
          <p:cNvPr id="86" name="Text 84"/>
          <p:cNvSpPr/>
          <p:nvPr/>
        </p:nvSpPr>
        <p:spPr>
          <a:xfrm>
            <a:off x="9189720" y="5715000"/>
            <a:ext cx="594360" cy="182880"/>
          </a:xfrm>
          <a:prstGeom prst="rect">
            <a:avLst/>
          </a:prstGeom>
          <a:noFill/>
          <a:ln/>
        </p:spPr>
        <p:txBody>
          <a:bodyPr wrap="square" lIns="0" tIns="0" rIns="0" bIns="0" rtlCol="0" anchor="ctr"/>
          <a:lstStyle/>
          <a:p>
            <a:pPr indent="0" marL="0">
              <a:buNone/>
            </a:pPr>
            <a:r>
              <a:rPr lang="en-US" sz="750" b="1" spc="100" kern="0" dirty="0">
                <a:solidFill>
                  <a:srgbClr val="7F9AAF"/>
                </a:solidFill>
              </a:rPr>
              <a:t>MODELS</a:t>
            </a:r>
            <a:endParaRPr lang="en-US" sz="750" dirty="0"/>
          </a:p>
        </p:txBody>
      </p:sp>
      <p:sp>
        <p:nvSpPr>
          <p:cNvPr id="87" name="Text 85"/>
          <p:cNvSpPr/>
          <p:nvPr/>
        </p:nvSpPr>
        <p:spPr>
          <a:xfrm>
            <a:off x="10735056" y="5715000"/>
            <a:ext cx="868680" cy="182880"/>
          </a:xfrm>
          <a:prstGeom prst="rect">
            <a:avLst/>
          </a:prstGeom>
          <a:noFill/>
          <a:ln/>
        </p:spPr>
        <p:txBody>
          <a:bodyPr wrap="square" lIns="0" tIns="0" rIns="0" bIns="0" rtlCol="0" anchor="ctr"/>
          <a:lstStyle/>
          <a:p>
            <a:pPr indent="0" marL="0">
              <a:buNone/>
            </a:pPr>
            <a:r>
              <a:rPr lang="en-US" sz="750" b="1" spc="100" kern="0" dirty="0">
                <a:solidFill>
                  <a:srgbClr val="7F9AAF"/>
                </a:solidFill>
              </a:rPr>
              <a:t>TRANSLATION</a:t>
            </a:r>
            <a:endParaRPr lang="en-US" sz="750" dirty="0"/>
          </a:p>
        </p:txBody>
      </p:sp>
      <p:sp>
        <p:nvSpPr>
          <p:cNvPr id="88" name="Text 86"/>
          <p:cNvSpPr/>
          <p:nvPr/>
        </p:nvSpPr>
        <p:spPr>
          <a:xfrm>
            <a:off x="640080" y="5998464"/>
            <a:ext cx="4297680" cy="256032"/>
          </a:xfrm>
          <a:prstGeom prst="rect">
            <a:avLst/>
          </a:prstGeom>
          <a:noFill/>
          <a:ln/>
        </p:spPr>
        <p:txBody>
          <a:bodyPr wrap="square" lIns="0" tIns="0" rIns="0" bIns="0" rtlCol="0" anchor="ctr"/>
          <a:lstStyle/>
          <a:p>
            <a:pPr indent="0" marL="0">
              <a:buNone/>
            </a:pPr>
            <a:r>
              <a:rPr lang="en-US" sz="1050" b="1" spc="70" kern="0" dirty="0">
                <a:solidFill>
                  <a:srgbClr val="48A3FF"/>
                </a:solidFill>
                <a:latin typeface="Aptos" pitchFamily="34" charset="0"/>
                <a:ea typeface="Aptos" pitchFamily="34" charset="-122"/>
                <a:cs typeface="Aptos" pitchFamily="34" charset="-120"/>
              </a:rPr>
              <a:t>genes  →  cells  →  tissues  →  patients</a:t>
            </a:r>
            <a:endParaRPr lang="en-US" sz="1050" dirty="0"/>
          </a:p>
        </p:txBody>
      </p:sp>
      <p:sp>
        <p:nvSpPr>
          <p:cNvPr id="89" name="Slide Number Placeholder 0"/>
          <p:cNvSpPr>
            <a:spLocks noGrp="1"/>
          </p:cNvSpPr>
          <p:nvPr>
            <p:ph type="sldNum" sz="quarter" idx="4294967295"/>
          </p:nvPr>
        </p:nvSpPr>
        <p:spPr>
          <a:xfrm>
            <a:off x="11475720" y="6428232"/>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607C91"/>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31C"/>
        </a:solidFill>
        <a:effectLst/>
      </p:bgPr>
    </p:bg>
    <p:spTree>
      <p:nvGrpSpPr>
        <p:cNvPr id="1" name=""/>
        <p:cNvGrpSpPr/>
        <p:nvPr/>
      </p:nvGrpSpPr>
      <p:grpSpPr/>
      <p:cxnSp>
        <p:nvCxnSpPr>
          <p:cNvPr id="2" name="Connector 1"/>
          <p:cNvCxnSpPr/>
          <p:nvPr/>
        </p:nvCxnSpPr>
        <p:spPr>
          <a:xfrm>
            <a:off x="640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783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2926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69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212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55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498079"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41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784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927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0040" y="68580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20040" y="164592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40" y="260604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20040" y="356616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0040" y="452628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20040" y="548640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0040" y="644652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438912"/>
            <a:ext cx="5212080" cy="320040"/>
          </a:xfrm>
          <a:prstGeom prst="rect">
            <a:avLst/>
          </a:prstGeom>
          <a:noFill/>
        </p:spPr>
        <p:txBody>
          <a:bodyPr wrap="square" anchor="t">
            <a:spAutoFit/>
          </a:bodyPr>
          <a:lstStyle/>
          <a:p>
            <a:pPr algn="l"/>
            <a:r>
              <a:rPr sz="1100" b="1">
                <a:solidFill>
                  <a:srgbClr val="55D0C7"/>
                </a:solidFill>
                <a:latin typeface="Aptos"/>
              </a:rPr>
              <a:t>02 / EXPERTISE</a:t>
            </a:r>
          </a:p>
        </p:txBody>
      </p:sp>
      <p:sp>
        <p:nvSpPr>
          <p:cNvPr id="20" name="TextBox 19"/>
          <p:cNvSpPr txBox="1"/>
          <p:nvPr/>
        </p:nvSpPr>
        <p:spPr>
          <a:xfrm>
            <a:off x="640080" y="768096"/>
            <a:ext cx="10241280" cy="475488"/>
          </a:xfrm>
          <a:prstGeom prst="rect">
            <a:avLst/>
          </a:prstGeom>
          <a:noFill/>
        </p:spPr>
        <p:txBody>
          <a:bodyPr wrap="square" anchor="t">
            <a:spAutoFit/>
          </a:bodyPr>
          <a:lstStyle/>
          <a:p>
            <a:pPr algn="l"/>
            <a:r>
              <a:rPr sz="2400" b="1">
                <a:solidFill>
                  <a:srgbClr val="F4F8FB"/>
                </a:solidFill>
                <a:latin typeface="Aptos Display"/>
              </a:rPr>
              <a:t>COMPUTATIONAL &amp; BIOLOGICAL EXPERTISE</a:t>
            </a:r>
          </a:p>
        </p:txBody>
      </p:sp>
      <p:sp>
        <p:nvSpPr>
          <p:cNvPr id="21" name="TextBox 20"/>
          <p:cNvSpPr txBox="1"/>
          <p:nvPr/>
        </p:nvSpPr>
        <p:spPr>
          <a:xfrm>
            <a:off x="640080" y="1335024"/>
            <a:ext cx="9509760" cy="274320"/>
          </a:xfrm>
          <a:prstGeom prst="rect">
            <a:avLst/>
          </a:prstGeom>
          <a:noFill/>
        </p:spPr>
        <p:txBody>
          <a:bodyPr wrap="square" anchor="t">
            <a:spAutoFit/>
          </a:bodyPr>
          <a:lstStyle/>
          <a:p>
            <a:pPr algn="l"/>
            <a:r>
              <a:rPr sz="1100" b="0">
                <a:solidFill>
                  <a:srgbClr val="A9BAC6"/>
                </a:solidFill>
                <a:latin typeface="Aptos"/>
              </a:rPr>
              <a:t>A connected toolbox — from biological questions to interpretable, reproducible analysis.</a:t>
            </a:r>
          </a:p>
        </p:txBody>
      </p:sp>
      <p:sp>
        <p:nvSpPr>
          <p:cNvPr id="22" name="Rounded Rectangle 21"/>
          <p:cNvSpPr/>
          <p:nvPr/>
        </p:nvSpPr>
        <p:spPr>
          <a:xfrm>
            <a:off x="4727448" y="2542032"/>
            <a:ext cx="2743200" cy="987552"/>
          </a:xfrm>
          <a:prstGeom prst="roundRect">
            <a:avLst/>
          </a:prstGeom>
          <a:solidFill>
            <a:srgbClr val="0D1D29"/>
          </a:solidFill>
          <a:ln w="2032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2724912"/>
            <a:ext cx="2414016" cy="246888"/>
          </a:xfrm>
          <a:prstGeom prst="rect">
            <a:avLst/>
          </a:prstGeom>
          <a:noFill/>
        </p:spPr>
        <p:txBody>
          <a:bodyPr wrap="square" anchor="t">
            <a:spAutoFit/>
          </a:bodyPr>
          <a:lstStyle/>
          <a:p>
            <a:pPr algn="ctr"/>
            <a:r>
              <a:rPr sz="1250" b="1">
                <a:solidFill>
                  <a:srgbClr val="55D0C7"/>
                </a:solidFill>
                <a:latin typeface="Aptos"/>
              </a:rPr>
              <a:t>COMPUTATIONAL</a:t>
            </a:r>
          </a:p>
        </p:txBody>
      </p:sp>
      <p:sp>
        <p:nvSpPr>
          <p:cNvPr id="24" name="TextBox 23"/>
          <p:cNvSpPr txBox="1"/>
          <p:nvPr/>
        </p:nvSpPr>
        <p:spPr>
          <a:xfrm>
            <a:off x="4892040" y="2971800"/>
            <a:ext cx="2414016" cy="310896"/>
          </a:xfrm>
          <a:prstGeom prst="rect">
            <a:avLst/>
          </a:prstGeom>
          <a:noFill/>
        </p:spPr>
        <p:txBody>
          <a:bodyPr wrap="square" anchor="t">
            <a:spAutoFit/>
          </a:bodyPr>
          <a:lstStyle/>
          <a:p>
            <a:pPr algn="ctr"/>
            <a:r>
              <a:rPr sz="2000" b="1">
                <a:solidFill>
                  <a:srgbClr val="F4F8FB"/>
                </a:solidFill>
                <a:latin typeface="Aptos Display"/>
              </a:rPr>
              <a:t>BIOLOGY</a:t>
            </a:r>
          </a:p>
        </p:txBody>
      </p:sp>
      <p:cxnSp>
        <p:nvCxnSpPr>
          <p:cNvPr id="25" name="Connector 24"/>
          <p:cNvCxnSpPr/>
          <p:nvPr/>
        </p:nvCxnSpPr>
        <p:spPr>
          <a:xfrm flipH="1" flipV="1">
            <a:off x="3749039" y="2560320"/>
            <a:ext cx="2350009" cy="475488"/>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099048" y="2560320"/>
            <a:ext cx="2340864" cy="475488"/>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749039" y="3035808"/>
            <a:ext cx="2350009" cy="1325880"/>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9048" y="3035808"/>
            <a:ext cx="2340864" cy="1325880"/>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99048" y="3035808"/>
            <a:ext cx="4572" cy="1124712"/>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85800" y="1938528"/>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1938528"/>
            <a:ext cx="50292" cy="1261872"/>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86968" y="2121408"/>
            <a:ext cx="347472" cy="64008"/>
          </a:xfrm>
          <a:prstGeom prst="round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3544" y="2221992"/>
            <a:ext cx="274320" cy="64008"/>
          </a:xfrm>
          <a:prstGeom prst="round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0120" y="2322576"/>
            <a:ext cx="201168" cy="64008"/>
          </a:xfrm>
          <a:prstGeom prst="round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44168" y="2093976"/>
            <a:ext cx="2221992" cy="246888"/>
          </a:xfrm>
          <a:prstGeom prst="rect">
            <a:avLst/>
          </a:prstGeom>
          <a:noFill/>
        </p:spPr>
        <p:txBody>
          <a:bodyPr wrap="square" anchor="t">
            <a:spAutoFit/>
          </a:bodyPr>
          <a:lstStyle/>
          <a:p>
            <a:pPr algn="l"/>
            <a:r>
              <a:rPr sz="1150" b="1">
                <a:solidFill>
                  <a:srgbClr val="F4F8FB"/>
                </a:solidFill>
                <a:latin typeface="Aptos"/>
              </a:rPr>
              <a:t>OMICS &amp; BIOLOGICAL DATA</a:t>
            </a:r>
          </a:p>
        </p:txBody>
      </p:sp>
      <p:sp>
        <p:nvSpPr>
          <p:cNvPr id="36" name="TextBox 35"/>
          <p:cNvSpPr txBox="1"/>
          <p:nvPr/>
        </p:nvSpPr>
        <p:spPr>
          <a:xfrm>
            <a:off x="886968" y="2468880"/>
            <a:ext cx="2679192" cy="576072"/>
          </a:xfrm>
          <a:prstGeom prst="rect">
            <a:avLst/>
          </a:prstGeom>
          <a:noFill/>
        </p:spPr>
        <p:txBody>
          <a:bodyPr wrap="square" anchor="t">
            <a:spAutoFit/>
          </a:bodyPr>
          <a:lstStyle/>
          <a:p>
            <a:pPr algn="l"/>
            <a:r>
              <a:rPr sz="960" b="0">
                <a:solidFill>
                  <a:srgbClr val="A9BAC6"/>
                </a:solidFill>
                <a:latin typeface="Aptos"/>
              </a:rPr>
              <a:t>Genomics · Transcriptomics
scRNA-seq · Spatial
Multi-omics</a:t>
            </a:r>
          </a:p>
        </p:txBody>
      </p:sp>
      <p:sp>
        <p:nvSpPr>
          <p:cNvPr id="37" name="Rounded Rectangle 36"/>
          <p:cNvSpPr/>
          <p:nvPr/>
        </p:nvSpPr>
        <p:spPr>
          <a:xfrm>
            <a:off x="8439912" y="1938528"/>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39912" y="1938528"/>
            <a:ext cx="50292" cy="1261872"/>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41080" y="2340864"/>
            <a:ext cx="68580" cy="146304"/>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750808" y="2231136"/>
            <a:ext cx="68580" cy="256032"/>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0536" y="2130552"/>
            <a:ext cx="68580" cy="356616"/>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98280" y="2093976"/>
            <a:ext cx="2221992" cy="246888"/>
          </a:xfrm>
          <a:prstGeom prst="rect">
            <a:avLst/>
          </a:prstGeom>
          <a:noFill/>
        </p:spPr>
        <p:txBody>
          <a:bodyPr wrap="square" anchor="t">
            <a:spAutoFit/>
          </a:bodyPr>
          <a:lstStyle/>
          <a:p>
            <a:pPr algn="l"/>
            <a:r>
              <a:rPr sz="1150" b="1">
                <a:solidFill>
                  <a:srgbClr val="F4F8FB"/>
                </a:solidFill>
                <a:latin typeface="Aptos"/>
              </a:rPr>
              <a:t>STATISTICS &amp; MODELING</a:t>
            </a:r>
          </a:p>
        </p:txBody>
      </p:sp>
      <p:sp>
        <p:nvSpPr>
          <p:cNvPr id="43" name="TextBox 42"/>
          <p:cNvSpPr txBox="1"/>
          <p:nvPr/>
        </p:nvSpPr>
        <p:spPr>
          <a:xfrm>
            <a:off x="8641080" y="2468880"/>
            <a:ext cx="2679192" cy="576072"/>
          </a:xfrm>
          <a:prstGeom prst="rect">
            <a:avLst/>
          </a:prstGeom>
          <a:noFill/>
        </p:spPr>
        <p:txBody>
          <a:bodyPr wrap="square" anchor="t">
            <a:spAutoFit/>
          </a:bodyPr>
          <a:lstStyle/>
          <a:p>
            <a:pPr algn="l"/>
            <a:r>
              <a:rPr sz="960" b="0">
                <a:solidFill>
                  <a:srgbClr val="A9BAC6"/>
                </a:solidFill>
                <a:latin typeface="Aptos"/>
              </a:rPr>
              <a:t>Statistical genetics
Differential &amp; pathway analysis
Validation design</a:t>
            </a:r>
          </a:p>
        </p:txBody>
      </p:sp>
      <p:sp>
        <p:nvSpPr>
          <p:cNvPr id="44" name="Rounded Rectangle 43"/>
          <p:cNvSpPr/>
          <p:nvPr/>
        </p:nvSpPr>
        <p:spPr>
          <a:xfrm>
            <a:off x="685800" y="3749039"/>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5800" y="3749039"/>
            <a:ext cx="50292" cy="1261872"/>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86968" y="3931920"/>
            <a:ext cx="347472" cy="347472"/>
          </a:xfrm>
          <a:prstGeom prst="ellipse">
            <a:avLst/>
          </a:prstGeom>
          <a:noFill/>
          <a:ln w="1524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5840" y="4050791"/>
            <a:ext cx="109728" cy="109728"/>
          </a:xfrm>
          <a:prstGeom prst="ellipse">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44168" y="3904487"/>
            <a:ext cx="2221992" cy="246888"/>
          </a:xfrm>
          <a:prstGeom prst="rect">
            <a:avLst/>
          </a:prstGeom>
          <a:noFill/>
        </p:spPr>
        <p:txBody>
          <a:bodyPr wrap="square" anchor="t">
            <a:spAutoFit/>
          </a:bodyPr>
          <a:lstStyle/>
          <a:p>
            <a:pPr algn="l"/>
            <a:r>
              <a:rPr sz="1150" b="1">
                <a:solidFill>
                  <a:srgbClr val="F4F8FB"/>
                </a:solidFill>
                <a:latin typeface="Aptos"/>
              </a:rPr>
              <a:t>BIOLOGICAL INTERPRETATION</a:t>
            </a:r>
          </a:p>
        </p:txBody>
      </p:sp>
      <p:sp>
        <p:nvSpPr>
          <p:cNvPr id="49" name="TextBox 48"/>
          <p:cNvSpPr txBox="1"/>
          <p:nvPr/>
        </p:nvSpPr>
        <p:spPr>
          <a:xfrm>
            <a:off x="886968" y="4279392"/>
            <a:ext cx="2679192" cy="576072"/>
          </a:xfrm>
          <a:prstGeom prst="rect">
            <a:avLst/>
          </a:prstGeom>
          <a:noFill/>
        </p:spPr>
        <p:txBody>
          <a:bodyPr wrap="square" anchor="t">
            <a:spAutoFit/>
          </a:bodyPr>
          <a:lstStyle/>
          <a:p>
            <a:pPr algn="l"/>
            <a:r>
              <a:rPr sz="960" b="0">
                <a:solidFill>
                  <a:srgbClr val="A9BAC6"/>
                </a:solidFill>
                <a:latin typeface="Aptos"/>
              </a:rPr>
              <a:t>Cell types &amp; states
Networks &amp; pathways
Translational interpretation</a:t>
            </a:r>
          </a:p>
        </p:txBody>
      </p:sp>
      <p:sp>
        <p:nvSpPr>
          <p:cNvPr id="50" name="Rounded Rectangle 49"/>
          <p:cNvSpPr/>
          <p:nvPr/>
        </p:nvSpPr>
        <p:spPr>
          <a:xfrm>
            <a:off x="8439912" y="3749039"/>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439912" y="3749039"/>
            <a:ext cx="50292" cy="1261872"/>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V="1">
            <a:off x="8686800" y="3977639"/>
            <a:ext cx="146304" cy="146305"/>
          </a:xfrm>
          <a:prstGeom prst="line">
            <a:avLst/>
          </a:prstGeom>
          <a:ln w="1397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833104" y="3977639"/>
            <a:ext cx="146304" cy="146305"/>
          </a:xfrm>
          <a:prstGeom prst="line">
            <a:avLst/>
          </a:prstGeom>
          <a:ln w="13970">
            <a:solidFill>
              <a:srgbClr val="55D0C7"/>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641080" y="4078224"/>
            <a:ext cx="100584" cy="100584"/>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787384" y="3931920"/>
            <a:ext cx="100584" cy="100584"/>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933688" y="4078224"/>
            <a:ext cx="100584" cy="100584"/>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98280" y="3904487"/>
            <a:ext cx="2221992" cy="246888"/>
          </a:xfrm>
          <a:prstGeom prst="rect">
            <a:avLst/>
          </a:prstGeom>
          <a:noFill/>
        </p:spPr>
        <p:txBody>
          <a:bodyPr wrap="square" anchor="t">
            <a:spAutoFit/>
          </a:bodyPr>
          <a:lstStyle/>
          <a:p>
            <a:pPr algn="l"/>
            <a:r>
              <a:rPr sz="1150" b="1">
                <a:solidFill>
                  <a:srgbClr val="F4F8FB"/>
                </a:solidFill>
                <a:latin typeface="Aptos"/>
              </a:rPr>
              <a:t>PIPELINES &amp; DATA ENGINEERING</a:t>
            </a:r>
          </a:p>
        </p:txBody>
      </p:sp>
      <p:sp>
        <p:nvSpPr>
          <p:cNvPr id="58" name="TextBox 57"/>
          <p:cNvSpPr txBox="1"/>
          <p:nvPr/>
        </p:nvSpPr>
        <p:spPr>
          <a:xfrm>
            <a:off x="8641080" y="4279392"/>
            <a:ext cx="2679192" cy="576072"/>
          </a:xfrm>
          <a:prstGeom prst="rect">
            <a:avLst/>
          </a:prstGeom>
          <a:noFill/>
        </p:spPr>
        <p:txBody>
          <a:bodyPr wrap="square" anchor="t">
            <a:spAutoFit/>
          </a:bodyPr>
          <a:lstStyle/>
          <a:p>
            <a:pPr algn="l"/>
            <a:r>
              <a:rPr sz="960" b="0">
                <a:solidFill>
                  <a:srgbClr val="A9BAC6"/>
                </a:solidFill>
                <a:latin typeface="Aptos"/>
              </a:rPr>
              <a:t>QC · preprocessing · harmonization
Reproducible workflows
Versioned environments</a:t>
            </a:r>
          </a:p>
        </p:txBody>
      </p:sp>
      <p:sp>
        <p:nvSpPr>
          <p:cNvPr id="59" name="Rounded Rectangle 58"/>
          <p:cNvSpPr/>
          <p:nvPr/>
        </p:nvSpPr>
        <p:spPr>
          <a:xfrm>
            <a:off x="4572000" y="4160520"/>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572000" y="4160520"/>
            <a:ext cx="50292" cy="1261872"/>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flipV="1">
            <a:off x="4805172" y="4375404"/>
            <a:ext cx="155448" cy="7315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805172" y="4448556"/>
            <a:ext cx="155448" cy="91440"/>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805172" y="4448556"/>
            <a:ext cx="155448" cy="25603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805172" y="4375404"/>
            <a:ext cx="155448" cy="25603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805172" y="4539996"/>
            <a:ext cx="155448" cy="91440"/>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805172" y="4631436"/>
            <a:ext cx="155448" cy="7315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960620" y="4375404"/>
            <a:ext cx="173736" cy="16459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960620" y="4539996"/>
            <a:ext cx="173736" cy="0"/>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960620" y="4539996"/>
            <a:ext cx="173736" cy="16459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4773168" y="441655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773168" y="459943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928616" y="4343400"/>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928616" y="450799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928616" y="4672584"/>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102352" y="450799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230368" y="4315968"/>
            <a:ext cx="2221992" cy="246888"/>
          </a:xfrm>
          <a:prstGeom prst="rect">
            <a:avLst/>
          </a:prstGeom>
          <a:noFill/>
        </p:spPr>
        <p:txBody>
          <a:bodyPr wrap="square" anchor="t">
            <a:spAutoFit/>
          </a:bodyPr>
          <a:lstStyle/>
          <a:p>
            <a:pPr algn="l"/>
            <a:r>
              <a:rPr sz="1150" b="1">
                <a:solidFill>
                  <a:srgbClr val="F4F8FB"/>
                </a:solidFill>
                <a:latin typeface="Aptos"/>
              </a:rPr>
              <a:t>MACHINE LEARNING &amp; AI</a:t>
            </a:r>
          </a:p>
        </p:txBody>
      </p:sp>
      <p:sp>
        <p:nvSpPr>
          <p:cNvPr id="77" name="TextBox 76"/>
          <p:cNvSpPr txBox="1"/>
          <p:nvPr/>
        </p:nvSpPr>
        <p:spPr>
          <a:xfrm>
            <a:off x="4773168" y="4690872"/>
            <a:ext cx="2679192" cy="576072"/>
          </a:xfrm>
          <a:prstGeom prst="rect">
            <a:avLst/>
          </a:prstGeom>
          <a:noFill/>
        </p:spPr>
        <p:txBody>
          <a:bodyPr wrap="square" anchor="t">
            <a:spAutoFit/>
          </a:bodyPr>
          <a:lstStyle/>
          <a:p>
            <a:pPr algn="l"/>
            <a:r>
              <a:rPr sz="960" b="0">
                <a:solidFill>
                  <a:srgbClr val="A9BAC6"/>
                </a:solidFill>
                <a:latin typeface="Aptos"/>
              </a:rPr>
              <a:t>Deep &amp; multimodal learning
Transfer / representation learning
Graph neural networks</a:t>
            </a:r>
          </a:p>
        </p:txBody>
      </p:sp>
      <p:sp>
        <p:nvSpPr>
          <p:cNvPr id="78" name="Rounded Rectangle 77"/>
          <p:cNvSpPr/>
          <p:nvPr/>
        </p:nvSpPr>
        <p:spPr>
          <a:xfrm>
            <a:off x="685800" y="5742432"/>
            <a:ext cx="10817352" cy="566928"/>
          </a:xfrm>
          <a:prstGeom prst="roundRect">
            <a:avLst/>
          </a:prstGeom>
          <a:solidFill>
            <a:srgbClr val="0D1D29"/>
          </a:solidFill>
          <a:ln w="10160">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14400" y="5897880"/>
            <a:ext cx="960120" cy="182880"/>
          </a:xfrm>
          <a:prstGeom prst="rect">
            <a:avLst/>
          </a:prstGeom>
          <a:noFill/>
        </p:spPr>
        <p:txBody>
          <a:bodyPr wrap="square" anchor="t">
            <a:spAutoFit/>
          </a:bodyPr>
          <a:lstStyle/>
          <a:p>
            <a:pPr algn="l"/>
            <a:r>
              <a:rPr sz="950" b="1">
                <a:solidFill>
                  <a:srgbClr val="55D0C7"/>
                </a:solidFill>
                <a:latin typeface="Aptos"/>
              </a:rPr>
              <a:t>TOOLS</a:t>
            </a:r>
          </a:p>
        </p:txBody>
      </p:sp>
      <p:sp>
        <p:nvSpPr>
          <p:cNvPr id="80" name="TextBox 79"/>
          <p:cNvSpPr txBox="1"/>
          <p:nvPr/>
        </p:nvSpPr>
        <p:spPr>
          <a:xfrm>
            <a:off x="1874519" y="5843016"/>
            <a:ext cx="9052560" cy="256032"/>
          </a:xfrm>
          <a:prstGeom prst="rect">
            <a:avLst/>
          </a:prstGeom>
          <a:noFill/>
        </p:spPr>
        <p:txBody>
          <a:bodyPr wrap="square" anchor="t">
            <a:spAutoFit/>
          </a:bodyPr>
          <a:lstStyle/>
          <a:p>
            <a:pPr algn="l"/>
            <a:r>
              <a:rPr sz="1100" b="1">
                <a:solidFill>
                  <a:srgbClr val="F4F8FB"/>
                </a:solidFill>
                <a:latin typeface="Aptos"/>
              </a:rPr>
              <a:t>Python   •   R   •   PyTorch   •   Scanpy   •   Seurat   •   Bash   •   Git   •   Docker / Conda</a:t>
            </a:r>
          </a:p>
        </p:txBody>
      </p:sp>
      <p:sp>
        <p:nvSpPr>
          <p:cNvPr id="81" name="TextBox 80"/>
          <p:cNvSpPr txBox="1"/>
          <p:nvPr/>
        </p:nvSpPr>
        <p:spPr>
          <a:xfrm>
            <a:off x="713232" y="6455664"/>
            <a:ext cx="7223760" cy="164592"/>
          </a:xfrm>
          <a:prstGeom prst="rect">
            <a:avLst/>
          </a:prstGeom>
          <a:noFill/>
        </p:spPr>
        <p:txBody>
          <a:bodyPr wrap="square" anchor="t">
            <a:spAutoFit/>
          </a:bodyPr>
          <a:lstStyle/>
          <a:p>
            <a:pPr algn="l"/>
            <a:r>
              <a:rPr sz="869" b="0">
                <a:solidFill>
                  <a:srgbClr val="A9BAC6"/>
                </a:solidFill>
                <a:latin typeface="Aptos"/>
              </a:rPr>
              <a:t>The case studies that follow focus only on the domains most relevant to the project.</a:t>
            </a:r>
          </a:p>
        </p:txBody>
      </p:sp>
      <p:sp>
        <p:nvSpPr>
          <p:cNvPr id="82" name="TextBox 81"/>
          <p:cNvSpPr txBox="1"/>
          <p:nvPr/>
        </p:nvSpPr>
        <p:spPr>
          <a:xfrm>
            <a:off x="11292840" y="6437376"/>
            <a:ext cx="365760" cy="164592"/>
          </a:xfrm>
          <a:prstGeom prst="rect">
            <a:avLst/>
          </a:prstGeom>
          <a:noFill/>
        </p:spPr>
        <p:txBody>
          <a:bodyPr wrap="square" anchor="t">
            <a:spAutoFit/>
          </a:bodyPr>
          <a:lstStyle/>
          <a:p>
            <a:pPr algn="r"/>
            <a:r>
              <a:rPr sz="850" b="0">
                <a:solidFill>
                  <a:srgbClr val="A9BAC6"/>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438912"/>
            <a:ext cx="5212080" cy="292608"/>
          </a:xfrm>
          <a:prstGeom prst="rect">
            <a:avLst/>
          </a:prstGeom>
          <a:noFill/>
        </p:spPr>
        <p:txBody>
          <a:bodyPr wrap="none" lIns="0" rIns="0" tIns="0" bIns="0" anchor="ctr">
            <a:spAutoFit/>
          </a:bodyPr>
          <a:lstStyle/>
          <a:p>
            <a:pPr algn="l"/>
            <a:r>
              <a:rPr sz="1100" b="1">
                <a:solidFill>
                  <a:srgbClr val="55D0C7"/>
                </a:solidFill>
                <a:latin typeface="Aptos"/>
              </a:rPr>
              <a:t>03 / PhD</a:t>
            </a:r>
          </a:p>
        </p:txBody>
      </p:sp>
      <p:sp>
        <p:nvSpPr>
          <p:cNvPr id="3" name="TextBox 2"/>
          <p:cNvSpPr txBox="1"/>
          <p:nvPr/>
        </p:nvSpPr>
        <p:spPr>
          <a:xfrm>
            <a:off x="640080" y="768096"/>
            <a:ext cx="10332720" cy="475488"/>
          </a:xfrm>
          <a:prstGeom prst="rect">
            <a:avLst/>
          </a:prstGeom>
          <a:noFill/>
        </p:spPr>
        <p:txBody>
          <a:bodyPr wrap="none" lIns="0" rIns="0" tIns="0" bIns="0" anchor="ctr">
            <a:spAutoFit/>
          </a:bodyPr>
          <a:lstStyle/>
          <a:p>
            <a:pPr algn="l"/>
            <a:r>
              <a:rPr sz="2400" b="1">
                <a:solidFill>
                  <a:srgbClr val="F4F8FB"/>
                </a:solidFill>
                <a:latin typeface="Aptos Display"/>
              </a:rPr>
              <a:t>DEEP LEARNING FOR GENOMIC PREDICTION</a:t>
            </a:r>
          </a:p>
        </p:txBody>
      </p:sp>
      <p:sp>
        <p:nvSpPr>
          <p:cNvPr id="4" name="TextBox 3"/>
          <p:cNvSpPr txBox="1"/>
          <p:nvPr/>
        </p:nvSpPr>
        <p:spPr>
          <a:xfrm>
            <a:off x="640080" y="1298448"/>
            <a:ext cx="10149840" cy="320040"/>
          </a:xfrm>
          <a:prstGeom prst="rect">
            <a:avLst/>
          </a:prstGeom>
          <a:noFill/>
        </p:spPr>
        <p:txBody>
          <a:bodyPr wrap="none" lIns="0" rIns="0" tIns="0" bIns="0" anchor="ctr">
            <a:spAutoFit/>
          </a:bodyPr>
          <a:lstStyle/>
          <a:p>
            <a:pPr algn="l"/>
            <a:r>
              <a:rPr sz="1200" b="0">
                <a:solidFill>
                  <a:srgbClr val="A9BAC6"/>
                </a:solidFill>
                <a:latin typeface="Aptos"/>
              </a:rPr>
              <a:t>Can deep learning capture biological relationships that classical genomic models may miss?</a:t>
            </a:r>
          </a:p>
        </p:txBody>
      </p:sp>
      <p:sp>
        <p:nvSpPr>
          <p:cNvPr id="5" name="Rounded Rectangle 4"/>
          <p:cNvSpPr/>
          <p:nvPr/>
        </p:nvSpPr>
        <p:spPr>
          <a:xfrm>
            <a:off x="658368" y="1874519"/>
            <a:ext cx="3200400" cy="3584448"/>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6512" y="1874519"/>
            <a:ext cx="3968496" cy="3584448"/>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02752" y="1874519"/>
            <a:ext cx="3227832" cy="3584448"/>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039112"/>
            <a:ext cx="2651760" cy="274320"/>
          </a:xfrm>
          <a:prstGeom prst="rect">
            <a:avLst/>
          </a:prstGeom>
          <a:noFill/>
        </p:spPr>
        <p:txBody>
          <a:bodyPr wrap="none" lIns="0" rIns="0" tIns="0" bIns="0" anchor="ctr">
            <a:spAutoFit/>
          </a:bodyPr>
          <a:lstStyle/>
          <a:p>
            <a:pPr algn="l"/>
            <a:r>
              <a:rPr sz="1100" b="1">
                <a:solidFill>
                  <a:srgbClr val="55D0C7"/>
                </a:solidFill>
                <a:latin typeface="Aptos"/>
              </a:rPr>
              <a:t>1  COMPLEX BIOLOGY</a:t>
            </a:r>
          </a:p>
        </p:txBody>
      </p:sp>
      <p:sp>
        <p:nvSpPr>
          <p:cNvPr id="9" name="TextBox 8"/>
          <p:cNvSpPr txBox="1"/>
          <p:nvPr/>
        </p:nvSpPr>
        <p:spPr>
          <a:xfrm>
            <a:off x="4343400" y="2039112"/>
            <a:ext cx="3017520" cy="274320"/>
          </a:xfrm>
          <a:prstGeom prst="rect">
            <a:avLst/>
          </a:prstGeom>
          <a:noFill/>
        </p:spPr>
        <p:txBody>
          <a:bodyPr wrap="none" lIns="0" rIns="0" tIns="0" bIns="0" anchor="ctr">
            <a:spAutoFit/>
          </a:bodyPr>
          <a:lstStyle/>
          <a:p>
            <a:pPr algn="l"/>
            <a:r>
              <a:rPr sz="1100" b="1">
                <a:solidFill>
                  <a:srgbClr val="48A3FF"/>
                </a:solidFill>
                <a:latin typeface="Aptos"/>
              </a:rPr>
              <a:t>2  MY APPROACH</a:t>
            </a:r>
          </a:p>
        </p:txBody>
      </p:sp>
      <p:sp>
        <p:nvSpPr>
          <p:cNvPr id="10" name="TextBox 9"/>
          <p:cNvSpPr txBox="1"/>
          <p:nvPr/>
        </p:nvSpPr>
        <p:spPr>
          <a:xfrm>
            <a:off x="8540496" y="2039112"/>
            <a:ext cx="2560320" cy="274320"/>
          </a:xfrm>
          <a:prstGeom prst="rect">
            <a:avLst/>
          </a:prstGeom>
          <a:noFill/>
        </p:spPr>
        <p:txBody>
          <a:bodyPr wrap="none" lIns="0" rIns="0" tIns="0" bIns="0" anchor="ctr">
            <a:spAutoFit/>
          </a:bodyPr>
          <a:lstStyle/>
          <a:p>
            <a:pPr algn="l"/>
            <a:r>
              <a:rPr sz="1100" b="1">
                <a:solidFill>
                  <a:srgbClr val="55D0C7"/>
                </a:solidFill>
                <a:latin typeface="Aptos"/>
              </a:rPr>
              <a:t>3  KEY LESSON</a:t>
            </a:r>
          </a:p>
        </p:txBody>
      </p:sp>
      <p:sp>
        <p:nvSpPr>
          <p:cNvPr id="11" name="Rectangle 10"/>
          <p:cNvSpPr/>
          <p:nvPr/>
        </p:nvSpPr>
        <p:spPr>
          <a:xfrm>
            <a:off x="914400" y="2578608"/>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15568" y="2578608"/>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16736" y="2578608"/>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17904" y="2578608"/>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19072" y="2578608"/>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20240" y="2578608"/>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21408" y="2578608"/>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22576" y="2578608"/>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2779776"/>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15568" y="2779776"/>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16736" y="2779776"/>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17904" y="2779776"/>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719072" y="2779776"/>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20240" y="2779776"/>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21408" y="2779776"/>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22576" y="2779776"/>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2980944"/>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15568" y="2980944"/>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16736" y="2980944"/>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517904" y="2980944"/>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19072" y="2980944"/>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20240" y="2980944"/>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21408" y="2980944"/>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22576" y="2980944"/>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4400"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15568" y="3182112"/>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316736" y="3182112"/>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17904"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719072"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20240" y="3182112"/>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21408" y="3182112"/>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22576"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14400" y="3383279"/>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15568" y="3383279"/>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316736" y="3383279"/>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517904" y="3383279"/>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719072" y="3383279"/>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920240" y="3383279"/>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121408" y="3383279"/>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22576" y="3383279"/>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642616" y="2532888"/>
            <a:ext cx="914400" cy="256032"/>
          </a:xfrm>
          <a:prstGeom prst="rect">
            <a:avLst/>
          </a:prstGeom>
          <a:noFill/>
        </p:spPr>
        <p:txBody>
          <a:bodyPr wrap="none" lIns="0" rIns="0" tIns="0" bIns="0" anchor="ctr">
            <a:spAutoFit/>
          </a:bodyPr>
          <a:lstStyle/>
          <a:p>
            <a:pPr algn="l"/>
            <a:r>
              <a:rPr sz="900" b="1">
                <a:solidFill>
                  <a:srgbClr val="7F9AAF"/>
                </a:solidFill>
                <a:latin typeface="Aptos"/>
              </a:rPr>
              <a:t>GENOMIC
DATA</a:t>
            </a:r>
          </a:p>
        </p:txBody>
      </p:sp>
      <p:sp>
        <p:nvSpPr>
          <p:cNvPr id="52" name="Rectangle 51"/>
          <p:cNvSpPr/>
          <p:nvPr/>
        </p:nvSpPr>
        <p:spPr>
          <a:xfrm>
            <a:off x="932688" y="3730752"/>
            <a:ext cx="146304" cy="246888"/>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88720" y="3520439"/>
            <a:ext cx="146304" cy="457200"/>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444752" y="3648456"/>
            <a:ext cx="146304" cy="329184"/>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700784" y="3383279"/>
            <a:ext cx="146304" cy="594360"/>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084831" y="3666744"/>
            <a:ext cx="1417320" cy="274320"/>
          </a:xfrm>
          <a:prstGeom prst="rect">
            <a:avLst/>
          </a:prstGeom>
          <a:noFill/>
        </p:spPr>
        <p:txBody>
          <a:bodyPr wrap="none" lIns="0" rIns="0" tIns="0" bIns="0" anchor="ctr">
            <a:spAutoFit/>
          </a:bodyPr>
          <a:lstStyle/>
          <a:p>
            <a:pPr algn="l"/>
            <a:r>
              <a:rPr sz="900" b="1">
                <a:solidFill>
                  <a:srgbClr val="7F9AAF"/>
                </a:solidFill>
                <a:latin typeface="Aptos"/>
              </a:rPr>
              <a:t>PHENOTYPE</a:t>
            </a:r>
          </a:p>
        </p:txBody>
      </p:sp>
      <p:cxnSp>
        <p:nvCxnSpPr>
          <p:cNvPr id="57" name="Connector 56"/>
          <p:cNvCxnSpPr/>
          <p:nvPr/>
        </p:nvCxnSpPr>
        <p:spPr>
          <a:xfrm flipV="1">
            <a:off x="932688" y="3794760"/>
            <a:ext cx="1307592" cy="621792"/>
          </a:xfrm>
          <a:prstGeom prst="line">
            <a:avLst/>
          </a:prstGeom>
          <a:ln w="17780">
            <a:solidFill>
              <a:srgbClr val="7F9AA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59152" y="4206240"/>
            <a:ext cx="219456" cy="201168"/>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578608" y="4206240"/>
            <a:ext cx="192024" cy="73152"/>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770632" y="3913632"/>
            <a:ext cx="201168" cy="365760"/>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971800" y="3913632"/>
            <a:ext cx="210312" cy="109728"/>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182112" y="3703320"/>
            <a:ext cx="219456" cy="320040"/>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96112" y="4718304"/>
            <a:ext cx="2743200" cy="475488"/>
          </a:xfrm>
          <a:prstGeom prst="rect">
            <a:avLst/>
          </a:prstGeom>
          <a:noFill/>
        </p:spPr>
        <p:txBody>
          <a:bodyPr wrap="none" lIns="0" rIns="0" tIns="0" bIns="0" anchor="ctr">
            <a:spAutoFit/>
          </a:bodyPr>
          <a:lstStyle/>
          <a:p>
            <a:pPr algn="l"/>
            <a:r>
              <a:rPr sz="1000" b="0">
                <a:solidFill>
                  <a:srgbClr val="F4F8FB"/>
                </a:solidFill>
                <a:latin typeface="Aptos"/>
              </a:rPr>
              <a:t>High-dimensional traits can combine
additive and non-linear relationships.</a:t>
            </a:r>
          </a:p>
        </p:txBody>
      </p:sp>
      <p:sp>
        <p:nvSpPr>
          <p:cNvPr id="64" name="TextBox 63"/>
          <p:cNvSpPr txBox="1"/>
          <p:nvPr/>
        </p:nvSpPr>
        <p:spPr>
          <a:xfrm>
            <a:off x="4370832" y="2578608"/>
            <a:ext cx="960120" cy="256032"/>
          </a:xfrm>
          <a:prstGeom prst="rect">
            <a:avLst/>
          </a:prstGeom>
          <a:noFill/>
        </p:spPr>
        <p:txBody>
          <a:bodyPr wrap="none" lIns="0" rIns="0" tIns="0" bIns="0" anchor="ctr">
            <a:spAutoFit/>
          </a:bodyPr>
          <a:lstStyle/>
          <a:p>
            <a:pPr algn="l"/>
            <a:r>
              <a:rPr sz="900" b="1">
                <a:solidFill>
                  <a:srgbClr val="7F9AAF"/>
                </a:solidFill>
                <a:latin typeface="Aptos"/>
              </a:rPr>
              <a:t>INPUT</a:t>
            </a:r>
          </a:p>
        </p:txBody>
      </p:sp>
      <p:sp>
        <p:nvSpPr>
          <p:cNvPr id="65" name="Rounded Rectangle 64"/>
          <p:cNvSpPr/>
          <p:nvPr/>
        </p:nvSpPr>
        <p:spPr>
          <a:xfrm>
            <a:off x="4370832" y="2871216"/>
            <a:ext cx="868680" cy="105156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71416" y="2980944"/>
            <a:ext cx="658368" cy="228600"/>
          </a:xfrm>
          <a:prstGeom prst="rect">
            <a:avLst/>
          </a:prstGeom>
          <a:noFill/>
        </p:spPr>
        <p:txBody>
          <a:bodyPr wrap="none" lIns="0" rIns="0" tIns="0" bIns="0" anchor="ctr">
            <a:spAutoFit/>
          </a:bodyPr>
          <a:lstStyle/>
          <a:p>
            <a:pPr algn="ctr"/>
            <a:r>
              <a:rPr sz="1000" b="1">
                <a:solidFill>
                  <a:srgbClr val="F4F8FB"/>
                </a:solidFill>
                <a:latin typeface="Aptos"/>
              </a:rPr>
              <a:t>SNPs</a:t>
            </a:r>
          </a:p>
        </p:txBody>
      </p:sp>
      <p:sp>
        <p:nvSpPr>
          <p:cNvPr id="67" name="TextBox 66"/>
          <p:cNvSpPr txBox="1"/>
          <p:nvPr/>
        </p:nvSpPr>
        <p:spPr>
          <a:xfrm>
            <a:off x="4471416" y="3300984"/>
            <a:ext cx="658368" cy="228600"/>
          </a:xfrm>
          <a:prstGeom prst="rect">
            <a:avLst/>
          </a:prstGeom>
          <a:noFill/>
        </p:spPr>
        <p:txBody>
          <a:bodyPr wrap="none" lIns="0" rIns="0" tIns="0" bIns="0" anchor="ctr">
            <a:spAutoFit/>
          </a:bodyPr>
          <a:lstStyle/>
          <a:p>
            <a:pPr algn="ctr"/>
            <a:r>
              <a:rPr sz="1000" b="1">
                <a:solidFill>
                  <a:srgbClr val="F4F8FB"/>
                </a:solidFill>
                <a:latin typeface="Aptos"/>
              </a:rPr>
              <a:t>Traits</a:t>
            </a:r>
          </a:p>
        </p:txBody>
      </p:sp>
      <p:sp>
        <p:nvSpPr>
          <p:cNvPr id="68" name="TextBox 67"/>
          <p:cNvSpPr txBox="1"/>
          <p:nvPr/>
        </p:nvSpPr>
        <p:spPr>
          <a:xfrm>
            <a:off x="4471416" y="3621024"/>
            <a:ext cx="658368" cy="228600"/>
          </a:xfrm>
          <a:prstGeom prst="rect">
            <a:avLst/>
          </a:prstGeom>
          <a:noFill/>
        </p:spPr>
        <p:txBody>
          <a:bodyPr wrap="none" lIns="0" rIns="0" tIns="0" bIns="0" anchor="ctr">
            <a:spAutoFit/>
          </a:bodyPr>
          <a:lstStyle/>
          <a:p>
            <a:pPr algn="ctr"/>
            <a:r>
              <a:rPr sz="900" b="0">
                <a:solidFill>
                  <a:srgbClr val="A9BAC6"/>
                </a:solidFill>
                <a:latin typeface="Aptos"/>
              </a:rPr>
              <a:t>Covariates</a:t>
            </a:r>
          </a:p>
        </p:txBody>
      </p:sp>
      <p:cxnSp>
        <p:nvCxnSpPr>
          <p:cNvPr id="69" name="Connector 68"/>
          <p:cNvCxnSpPr/>
          <p:nvPr/>
        </p:nvCxnSpPr>
        <p:spPr>
          <a:xfrm>
            <a:off x="5285232" y="3392424"/>
            <a:ext cx="448056" cy="0"/>
          </a:xfrm>
          <a:prstGeom prst="line">
            <a:avLst/>
          </a:prstGeom>
          <a:ln w="17780">
            <a:solidFill>
              <a:srgbClr val="245466"/>
            </a:solidFill>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5760720" y="2679192"/>
            <a:ext cx="1554480" cy="1115568"/>
          </a:xfrm>
          <a:prstGeom prst="roundRect">
            <a:avLst/>
          </a:prstGeom>
          <a:solidFill>
            <a:srgbClr val="112634"/>
          </a:solidFill>
          <a:ln w="1270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897880" y="2807208"/>
            <a:ext cx="1280160" cy="237744"/>
          </a:xfrm>
          <a:prstGeom prst="rect">
            <a:avLst/>
          </a:prstGeom>
          <a:noFill/>
        </p:spPr>
        <p:txBody>
          <a:bodyPr wrap="none" lIns="0" rIns="0" tIns="0" bIns="0" anchor="ctr">
            <a:spAutoFit/>
          </a:bodyPr>
          <a:lstStyle/>
          <a:p>
            <a:pPr algn="ctr"/>
            <a:r>
              <a:rPr sz="1000" b="1">
                <a:solidFill>
                  <a:srgbClr val="48A3FF"/>
                </a:solidFill>
                <a:latin typeface="Aptos"/>
              </a:rPr>
              <a:t>STATISTICAL</a:t>
            </a:r>
          </a:p>
        </p:txBody>
      </p:sp>
      <p:sp>
        <p:nvSpPr>
          <p:cNvPr id="72" name="TextBox 71"/>
          <p:cNvSpPr txBox="1"/>
          <p:nvPr/>
        </p:nvSpPr>
        <p:spPr>
          <a:xfrm>
            <a:off x="5897880" y="3081528"/>
            <a:ext cx="1280160" cy="274320"/>
          </a:xfrm>
          <a:prstGeom prst="rect">
            <a:avLst/>
          </a:prstGeom>
          <a:noFill/>
        </p:spPr>
        <p:txBody>
          <a:bodyPr wrap="none" lIns="0" rIns="0" tIns="0" bIns="0" anchor="ctr">
            <a:spAutoFit/>
          </a:bodyPr>
          <a:lstStyle/>
          <a:p>
            <a:pPr algn="ctr"/>
            <a:r>
              <a:rPr sz="1500" b="1">
                <a:solidFill>
                  <a:srgbClr val="F4F8FB"/>
                </a:solidFill>
                <a:latin typeface="Aptos"/>
              </a:rPr>
              <a:t>GBLUP</a:t>
            </a:r>
          </a:p>
        </p:txBody>
      </p:sp>
      <p:sp>
        <p:nvSpPr>
          <p:cNvPr id="73" name="TextBox 72"/>
          <p:cNvSpPr txBox="1"/>
          <p:nvPr/>
        </p:nvSpPr>
        <p:spPr>
          <a:xfrm>
            <a:off x="5879592" y="3410712"/>
            <a:ext cx="1316736" cy="210312"/>
          </a:xfrm>
          <a:prstGeom prst="rect">
            <a:avLst/>
          </a:prstGeom>
          <a:noFill/>
        </p:spPr>
        <p:txBody>
          <a:bodyPr wrap="none" lIns="0" rIns="0" tIns="0" bIns="0" anchor="ctr">
            <a:spAutoFit/>
          </a:bodyPr>
          <a:lstStyle/>
          <a:p>
            <a:pPr algn="ctr"/>
            <a:r>
              <a:rPr sz="800" b="0">
                <a:solidFill>
                  <a:srgbClr val="A9BAC6"/>
                </a:solidFill>
                <a:latin typeface="Aptos"/>
              </a:rPr>
              <a:t>additive signal</a:t>
            </a:r>
          </a:p>
        </p:txBody>
      </p:sp>
      <p:sp>
        <p:nvSpPr>
          <p:cNvPr id="74" name="Rounded Rectangle 73"/>
          <p:cNvSpPr/>
          <p:nvPr/>
        </p:nvSpPr>
        <p:spPr>
          <a:xfrm>
            <a:off x="5760720" y="3995928"/>
            <a:ext cx="1554480" cy="1097280"/>
          </a:xfrm>
          <a:prstGeom prst="roundRect">
            <a:avLst/>
          </a:prstGeom>
          <a:solidFill>
            <a:srgbClr val="112634"/>
          </a:solidFill>
          <a:ln w="1270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897880" y="4114800"/>
            <a:ext cx="1280160" cy="228600"/>
          </a:xfrm>
          <a:prstGeom prst="rect">
            <a:avLst/>
          </a:prstGeom>
          <a:noFill/>
        </p:spPr>
        <p:txBody>
          <a:bodyPr wrap="none" lIns="0" rIns="0" tIns="0" bIns="0" anchor="ctr">
            <a:spAutoFit/>
          </a:bodyPr>
          <a:lstStyle/>
          <a:p>
            <a:pPr algn="ctr"/>
            <a:r>
              <a:rPr sz="1000" b="1">
                <a:solidFill>
                  <a:srgbClr val="55D0C7"/>
                </a:solidFill>
                <a:latin typeface="Aptos"/>
              </a:rPr>
              <a:t>DEEP LEARNING</a:t>
            </a:r>
          </a:p>
        </p:txBody>
      </p:sp>
      <p:sp>
        <p:nvSpPr>
          <p:cNvPr id="76" name="Oval 75"/>
          <p:cNvSpPr/>
          <p:nvPr/>
        </p:nvSpPr>
        <p:spPr>
          <a:xfrm>
            <a:off x="6021324" y="4604004"/>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13932" y="4402836"/>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313932" y="4805172"/>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615684" y="4366260"/>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615684" y="4631436"/>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615684" y="4878324"/>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917436" y="4594860"/>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flipV="1">
            <a:off x="6062472" y="4443984"/>
            <a:ext cx="292608" cy="201168"/>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062472" y="4645152"/>
            <a:ext cx="292608" cy="201168"/>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355080" y="4407408"/>
            <a:ext cx="301752" cy="36576"/>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355080" y="4443984"/>
            <a:ext cx="301752" cy="228600"/>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355080" y="4672584"/>
            <a:ext cx="301752" cy="173736"/>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355080" y="4846320"/>
            <a:ext cx="301752" cy="73152"/>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656832" y="4407408"/>
            <a:ext cx="301752" cy="228600"/>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656832" y="4636008"/>
            <a:ext cx="301752" cy="36576"/>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656832" y="4636008"/>
            <a:ext cx="301752" cy="283464"/>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7315200" y="3236976"/>
            <a:ext cx="182879" cy="512063"/>
          </a:xfrm>
          <a:prstGeom prst="line">
            <a:avLst/>
          </a:prstGeom>
          <a:ln w="1778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7315200" y="4041648"/>
            <a:ext cx="182879" cy="512064"/>
          </a:xfrm>
          <a:prstGeom prst="line">
            <a:avLst/>
          </a:prstGeom>
          <a:ln w="17780">
            <a:solidFill>
              <a:srgbClr val="55D0C7"/>
            </a:solidFill>
          </a:ln>
        </p:spPr>
        <p:style>
          <a:lnRef idx="2">
            <a:schemeClr val="accent1"/>
          </a:lnRef>
          <a:fillRef idx="0">
            <a:schemeClr val="accent1"/>
          </a:fillRef>
          <a:effectRef idx="1">
            <a:schemeClr val="accent1"/>
          </a:effectRef>
          <a:fontRef idx="minor">
            <a:schemeClr val="tx1"/>
          </a:fontRef>
        </p:style>
      </p:cxnSp>
      <p:sp>
        <p:nvSpPr>
          <p:cNvPr id="94" name="Diamond 93"/>
          <p:cNvSpPr/>
          <p:nvPr/>
        </p:nvSpPr>
        <p:spPr>
          <a:xfrm>
            <a:off x="7424927" y="3703320"/>
            <a:ext cx="512064" cy="512064"/>
          </a:xfrm>
          <a:prstGeom prst="diamond">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498079" y="3813048"/>
            <a:ext cx="365760" cy="182880"/>
          </a:xfrm>
          <a:prstGeom prst="rect">
            <a:avLst/>
          </a:prstGeom>
          <a:noFill/>
        </p:spPr>
        <p:txBody>
          <a:bodyPr wrap="none" lIns="0" rIns="0" tIns="0" bIns="0" anchor="ctr">
            <a:spAutoFit/>
          </a:bodyPr>
          <a:lstStyle/>
          <a:p>
            <a:pPr algn="ctr"/>
            <a:r>
              <a:rPr sz="900" b="1">
                <a:solidFill>
                  <a:srgbClr val="F4F8FB"/>
                </a:solidFill>
                <a:latin typeface="Aptos"/>
              </a:rPr>
              <a:t>GV</a:t>
            </a:r>
          </a:p>
        </p:txBody>
      </p:sp>
      <p:sp>
        <p:nvSpPr>
          <p:cNvPr id="96" name="TextBox 95"/>
          <p:cNvSpPr txBox="1"/>
          <p:nvPr/>
        </p:nvSpPr>
        <p:spPr>
          <a:xfrm>
            <a:off x="4370832" y="5084064"/>
            <a:ext cx="3520440" cy="274320"/>
          </a:xfrm>
          <a:prstGeom prst="rect">
            <a:avLst/>
          </a:prstGeom>
          <a:noFill/>
        </p:spPr>
        <p:txBody>
          <a:bodyPr wrap="none" lIns="0" rIns="0" tIns="0" bIns="0" anchor="ctr">
            <a:spAutoFit/>
          </a:bodyPr>
          <a:lstStyle/>
          <a:p>
            <a:pPr algn="ctr"/>
            <a:r>
              <a:rPr sz="1000" b="1">
                <a:solidFill>
                  <a:srgbClr val="F4F8FB"/>
                </a:solidFill>
                <a:latin typeface="Aptos"/>
              </a:rPr>
              <a:t>Statistical baseline  +  neural model</a:t>
            </a:r>
          </a:p>
        </p:txBody>
      </p:sp>
      <p:sp>
        <p:nvSpPr>
          <p:cNvPr id="97" name="Oval 96"/>
          <p:cNvSpPr/>
          <p:nvPr/>
        </p:nvSpPr>
        <p:spPr>
          <a:xfrm>
            <a:off x="8522208" y="2615184"/>
            <a:ext cx="292608" cy="292608"/>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540496" y="2660903"/>
            <a:ext cx="256032" cy="182880"/>
          </a:xfrm>
          <a:prstGeom prst="rect">
            <a:avLst/>
          </a:prstGeom>
          <a:noFill/>
        </p:spPr>
        <p:txBody>
          <a:bodyPr wrap="none" lIns="0" rIns="0" tIns="0" bIns="0" anchor="ctr">
            <a:spAutoFit/>
          </a:bodyPr>
          <a:lstStyle/>
          <a:p>
            <a:pPr algn="ctr"/>
            <a:r>
              <a:rPr sz="800" b="1">
                <a:solidFill>
                  <a:srgbClr val="0B1822"/>
                </a:solidFill>
                <a:latin typeface="Aptos"/>
              </a:rPr>
              <a:t>01</a:t>
            </a:r>
          </a:p>
        </p:txBody>
      </p:sp>
      <p:sp>
        <p:nvSpPr>
          <p:cNvPr id="99" name="TextBox 98"/>
          <p:cNvSpPr txBox="1"/>
          <p:nvPr/>
        </p:nvSpPr>
        <p:spPr>
          <a:xfrm>
            <a:off x="8951976" y="2596896"/>
            <a:ext cx="2258568" cy="256032"/>
          </a:xfrm>
          <a:prstGeom prst="rect">
            <a:avLst/>
          </a:prstGeom>
          <a:noFill/>
        </p:spPr>
        <p:txBody>
          <a:bodyPr wrap="none" lIns="0" rIns="0" tIns="0" bIns="0" anchor="ctr">
            <a:spAutoFit/>
          </a:bodyPr>
          <a:lstStyle/>
          <a:p>
            <a:pPr algn="l"/>
            <a:r>
              <a:rPr sz="1100" b="1">
                <a:solidFill>
                  <a:srgbClr val="F4F8FB"/>
                </a:solidFill>
                <a:latin typeface="Aptos"/>
              </a:rPr>
              <a:t>Strong baseline</a:t>
            </a:r>
          </a:p>
        </p:txBody>
      </p:sp>
      <p:sp>
        <p:nvSpPr>
          <p:cNvPr id="100" name="TextBox 99"/>
          <p:cNvSpPr txBox="1"/>
          <p:nvPr/>
        </p:nvSpPr>
        <p:spPr>
          <a:xfrm>
            <a:off x="8951976" y="2871215"/>
            <a:ext cx="2194560" cy="475488"/>
          </a:xfrm>
          <a:prstGeom prst="rect">
            <a:avLst/>
          </a:prstGeom>
          <a:noFill/>
        </p:spPr>
        <p:txBody>
          <a:bodyPr wrap="none" lIns="0" rIns="0" tIns="0" bIns="0" anchor="ctr">
            <a:spAutoFit/>
          </a:bodyPr>
          <a:lstStyle/>
          <a:p>
            <a:pPr algn="l"/>
            <a:r>
              <a:rPr sz="900" b="0">
                <a:solidFill>
                  <a:srgbClr val="A9BAC6"/>
                </a:solidFill>
                <a:latin typeface="Aptos"/>
              </a:rPr>
              <a:t>Classical models remain robust
for additive genetic effects.</a:t>
            </a:r>
          </a:p>
        </p:txBody>
      </p:sp>
      <p:sp>
        <p:nvSpPr>
          <p:cNvPr id="101" name="Oval 100"/>
          <p:cNvSpPr/>
          <p:nvPr/>
        </p:nvSpPr>
        <p:spPr>
          <a:xfrm>
            <a:off x="8522208" y="3483864"/>
            <a:ext cx="292608" cy="292608"/>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540496" y="3529584"/>
            <a:ext cx="256032" cy="182880"/>
          </a:xfrm>
          <a:prstGeom prst="rect">
            <a:avLst/>
          </a:prstGeom>
          <a:noFill/>
        </p:spPr>
        <p:txBody>
          <a:bodyPr wrap="none" lIns="0" rIns="0" tIns="0" bIns="0" anchor="ctr">
            <a:spAutoFit/>
          </a:bodyPr>
          <a:lstStyle/>
          <a:p>
            <a:pPr algn="ctr"/>
            <a:r>
              <a:rPr sz="800" b="1">
                <a:solidFill>
                  <a:srgbClr val="0B1822"/>
                </a:solidFill>
                <a:latin typeface="Aptos"/>
              </a:rPr>
              <a:t>02</a:t>
            </a:r>
          </a:p>
        </p:txBody>
      </p:sp>
      <p:sp>
        <p:nvSpPr>
          <p:cNvPr id="103" name="TextBox 102"/>
          <p:cNvSpPr txBox="1"/>
          <p:nvPr/>
        </p:nvSpPr>
        <p:spPr>
          <a:xfrm>
            <a:off x="8951976" y="3465576"/>
            <a:ext cx="2258568" cy="256032"/>
          </a:xfrm>
          <a:prstGeom prst="rect">
            <a:avLst/>
          </a:prstGeom>
          <a:noFill/>
        </p:spPr>
        <p:txBody>
          <a:bodyPr wrap="none" lIns="0" rIns="0" tIns="0" bIns="0" anchor="ctr">
            <a:spAutoFit/>
          </a:bodyPr>
          <a:lstStyle/>
          <a:p>
            <a:pPr algn="l"/>
            <a:r>
              <a:rPr sz="1100" b="1">
                <a:solidFill>
                  <a:srgbClr val="F4F8FB"/>
                </a:solidFill>
                <a:latin typeface="Aptos"/>
              </a:rPr>
              <a:t>Selective DL value</a:t>
            </a:r>
          </a:p>
        </p:txBody>
      </p:sp>
      <p:sp>
        <p:nvSpPr>
          <p:cNvPr id="104" name="TextBox 103"/>
          <p:cNvSpPr txBox="1"/>
          <p:nvPr/>
        </p:nvSpPr>
        <p:spPr>
          <a:xfrm>
            <a:off x="8951976" y="3739896"/>
            <a:ext cx="2194560" cy="475488"/>
          </a:xfrm>
          <a:prstGeom prst="rect">
            <a:avLst/>
          </a:prstGeom>
          <a:noFill/>
        </p:spPr>
        <p:txBody>
          <a:bodyPr wrap="none" lIns="0" rIns="0" tIns="0" bIns="0" anchor="ctr">
            <a:spAutoFit/>
          </a:bodyPr>
          <a:lstStyle/>
          <a:p>
            <a:pPr algn="l"/>
            <a:r>
              <a:rPr sz="900" b="0">
                <a:solidFill>
                  <a:srgbClr val="A9BAC6"/>
                </a:solidFill>
                <a:latin typeface="Aptos"/>
              </a:rPr>
              <a:t>DL helps when additional
non-linear structure exists.</a:t>
            </a:r>
          </a:p>
        </p:txBody>
      </p:sp>
      <p:sp>
        <p:nvSpPr>
          <p:cNvPr id="105" name="Oval 104"/>
          <p:cNvSpPr/>
          <p:nvPr/>
        </p:nvSpPr>
        <p:spPr>
          <a:xfrm>
            <a:off x="8522208" y="4352544"/>
            <a:ext cx="292608" cy="292608"/>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540496" y="4398264"/>
            <a:ext cx="256032" cy="182880"/>
          </a:xfrm>
          <a:prstGeom prst="rect">
            <a:avLst/>
          </a:prstGeom>
          <a:noFill/>
        </p:spPr>
        <p:txBody>
          <a:bodyPr wrap="none" lIns="0" rIns="0" tIns="0" bIns="0" anchor="ctr">
            <a:spAutoFit/>
          </a:bodyPr>
          <a:lstStyle/>
          <a:p>
            <a:pPr algn="ctr"/>
            <a:r>
              <a:rPr sz="800" b="1">
                <a:solidFill>
                  <a:srgbClr val="0B1822"/>
                </a:solidFill>
                <a:latin typeface="Aptos"/>
              </a:rPr>
              <a:t>03</a:t>
            </a:r>
          </a:p>
        </p:txBody>
      </p:sp>
      <p:sp>
        <p:nvSpPr>
          <p:cNvPr id="107" name="TextBox 106"/>
          <p:cNvSpPr txBox="1"/>
          <p:nvPr/>
        </p:nvSpPr>
        <p:spPr>
          <a:xfrm>
            <a:off x="8951976" y="4334256"/>
            <a:ext cx="2258568" cy="256032"/>
          </a:xfrm>
          <a:prstGeom prst="rect">
            <a:avLst/>
          </a:prstGeom>
          <a:noFill/>
        </p:spPr>
        <p:txBody>
          <a:bodyPr wrap="none" lIns="0" rIns="0" tIns="0" bIns="0" anchor="ctr">
            <a:spAutoFit/>
          </a:bodyPr>
          <a:lstStyle/>
          <a:p>
            <a:pPr algn="l"/>
            <a:r>
              <a:rPr sz="1100" b="1">
                <a:solidFill>
                  <a:srgbClr val="F4F8FB"/>
                </a:solidFill>
                <a:latin typeface="Aptos"/>
              </a:rPr>
              <a:t>Justify complexity</a:t>
            </a:r>
          </a:p>
        </p:txBody>
      </p:sp>
      <p:sp>
        <p:nvSpPr>
          <p:cNvPr id="108" name="TextBox 107"/>
          <p:cNvSpPr txBox="1"/>
          <p:nvPr/>
        </p:nvSpPr>
        <p:spPr>
          <a:xfrm>
            <a:off x="8951976" y="4608576"/>
            <a:ext cx="2194560" cy="475488"/>
          </a:xfrm>
          <a:prstGeom prst="rect">
            <a:avLst/>
          </a:prstGeom>
          <a:noFill/>
        </p:spPr>
        <p:txBody>
          <a:bodyPr wrap="none" lIns="0" rIns="0" tIns="0" bIns="0" anchor="ctr">
            <a:spAutoFit/>
          </a:bodyPr>
          <a:lstStyle/>
          <a:p>
            <a:pPr algn="l"/>
            <a:r>
              <a:rPr sz="900" b="0">
                <a:solidFill>
                  <a:srgbClr val="A9BAC6"/>
                </a:solidFill>
                <a:latin typeface="Aptos"/>
              </a:rPr>
              <a:t>Complex models should earn
their place against baselines.</a:t>
            </a:r>
          </a:p>
        </p:txBody>
      </p:sp>
      <p:sp>
        <p:nvSpPr>
          <p:cNvPr id="109" name="Rounded Rectangle 108"/>
          <p:cNvSpPr/>
          <p:nvPr/>
        </p:nvSpPr>
        <p:spPr>
          <a:xfrm>
            <a:off x="658368" y="5678424"/>
            <a:ext cx="10872216" cy="512064"/>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32688" y="5769864"/>
            <a:ext cx="10332720" cy="274320"/>
          </a:xfrm>
          <a:prstGeom prst="rect">
            <a:avLst/>
          </a:prstGeom>
          <a:noFill/>
        </p:spPr>
        <p:txBody>
          <a:bodyPr wrap="none" lIns="0" rIns="0" tIns="0" bIns="0" anchor="ctr">
            <a:spAutoFit/>
          </a:bodyPr>
          <a:lstStyle/>
          <a:p>
            <a:pPr algn="ctr"/>
            <a:r>
              <a:rPr sz="1100" b="1">
                <a:solidFill>
                  <a:srgbClr val="55D0C7"/>
                </a:solidFill>
                <a:latin typeface="Aptos"/>
              </a:rPr>
              <a:t>DEEP LEARNING AS A COMPLEMENT TO ESTABLISHED STATISTICAL MODELS — NOT A REPLACEMENT.</a:t>
            </a:r>
          </a:p>
        </p:txBody>
      </p:sp>
      <p:sp>
        <p:nvSpPr>
          <p:cNvPr id="111" name="TextBox 110"/>
          <p:cNvSpPr txBox="1"/>
          <p:nvPr/>
        </p:nvSpPr>
        <p:spPr>
          <a:xfrm>
            <a:off x="713232" y="6245352"/>
            <a:ext cx="4389120" cy="201168"/>
          </a:xfrm>
          <a:prstGeom prst="rect">
            <a:avLst/>
          </a:prstGeom>
          <a:noFill/>
        </p:spPr>
        <p:txBody>
          <a:bodyPr wrap="none" lIns="0" rIns="0" tIns="0" bIns="0" anchor="ctr">
            <a:spAutoFit/>
          </a:bodyPr>
          <a:lstStyle/>
          <a:p>
            <a:pPr algn="l"/>
            <a:r>
              <a:rPr sz="850" b="0">
                <a:solidFill>
                  <a:srgbClr val="7F9AAF"/>
                </a:solidFill>
                <a:latin typeface="Aptos"/>
              </a:rPr>
              <a:t>Python  •  PyTorch  •  statistical genetics  •  simulation + real data</a:t>
            </a:r>
          </a:p>
        </p:txBody>
      </p:sp>
      <p:sp>
        <p:nvSpPr>
          <p:cNvPr id="112" name="TextBox 111"/>
          <p:cNvSpPr txBox="1"/>
          <p:nvPr/>
        </p:nvSpPr>
        <p:spPr>
          <a:xfrm>
            <a:off x="11265408" y="6245352"/>
            <a:ext cx="228600" cy="201168"/>
          </a:xfrm>
          <a:prstGeom prst="rect">
            <a:avLst/>
          </a:prstGeom>
          <a:noFill/>
        </p:spPr>
        <p:txBody>
          <a:bodyPr wrap="none" lIns="0" rIns="0" tIns="0" bIns="0" anchor="ctr">
            <a:spAutoFit/>
          </a:bodyPr>
          <a:lstStyle/>
          <a:p>
            <a:pPr algn="r"/>
            <a:r>
              <a:rPr sz="850" b="0">
                <a:solidFill>
                  <a:srgbClr val="7F9AAF"/>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92608"/>
          </a:xfrm>
          <a:prstGeom prst="rect">
            <a:avLst/>
          </a:prstGeom>
          <a:noFill/>
        </p:spPr>
        <p:txBody>
          <a:bodyPr wrap="square" anchor="ctr">
            <a:spAutoFit/>
          </a:bodyPr>
          <a:lstStyle/>
          <a:p>
            <a:pPr algn="l"/>
            <a:r>
              <a:rPr sz="1100" b="1">
                <a:solidFill>
                  <a:srgbClr val="55D0C7"/>
                </a:solidFill>
                <a:latin typeface="Aptos"/>
              </a:rPr>
              <a:t>04 / OMICSAGE</a:t>
            </a:r>
          </a:p>
        </p:txBody>
      </p:sp>
      <p:sp>
        <p:nvSpPr>
          <p:cNvPr id="3" name="TextBox 2"/>
          <p:cNvSpPr txBox="1"/>
          <p:nvPr/>
        </p:nvSpPr>
        <p:spPr>
          <a:xfrm>
            <a:off x="640080" y="731520"/>
            <a:ext cx="10332720" cy="512064"/>
          </a:xfrm>
          <a:prstGeom prst="rect">
            <a:avLst/>
          </a:prstGeom>
          <a:noFill/>
        </p:spPr>
        <p:txBody>
          <a:bodyPr wrap="square" anchor="ctr">
            <a:spAutoFit/>
          </a:bodyPr>
          <a:lstStyle/>
          <a:p>
            <a:pPr algn="l"/>
            <a:r>
              <a:rPr sz="2400" b="1">
                <a:solidFill>
                  <a:srgbClr val="F4F8FB"/>
                </a:solidFill>
                <a:latin typeface="Aptos Display"/>
              </a:rPr>
              <a:t>FROM ISOLATED ANALYSES TO REPRODUCIBLE MULTI-OMICS WORKFLOWS</a:t>
            </a:r>
          </a:p>
        </p:txBody>
      </p:sp>
      <p:sp>
        <p:nvSpPr>
          <p:cNvPr id="4" name="TextBox 3"/>
          <p:cNvSpPr txBox="1"/>
          <p:nvPr/>
        </p:nvSpPr>
        <p:spPr>
          <a:xfrm>
            <a:off x="640080" y="1271016"/>
            <a:ext cx="9966960" cy="320040"/>
          </a:xfrm>
          <a:prstGeom prst="rect">
            <a:avLst/>
          </a:prstGeom>
          <a:noFill/>
        </p:spPr>
        <p:txBody>
          <a:bodyPr wrap="square" anchor="ctr">
            <a:spAutoFit/>
          </a:bodyPr>
          <a:lstStyle/>
          <a:p>
            <a:pPr algn="l"/>
            <a:r>
              <a:rPr sz="1150" b="0">
                <a:solidFill>
                  <a:srgbClr val="A9BAC6"/>
                </a:solidFill>
                <a:latin typeface="Aptos"/>
              </a:rPr>
              <a:t>A modular framework connecting single-cell, spatial and multimodal analysis with reproducible biological interpretation.</a:t>
            </a:r>
          </a:p>
        </p:txBody>
      </p:sp>
      <p:sp>
        <p:nvSpPr>
          <p:cNvPr id="5" name="Rounded Rectangle 4"/>
          <p:cNvSpPr/>
          <p:nvPr/>
        </p:nvSpPr>
        <p:spPr>
          <a:xfrm>
            <a:off x="685800" y="1874519"/>
            <a:ext cx="2331720" cy="352044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2039111"/>
            <a:ext cx="1929384" cy="256032"/>
          </a:xfrm>
          <a:prstGeom prst="rect">
            <a:avLst/>
          </a:prstGeom>
          <a:noFill/>
        </p:spPr>
        <p:txBody>
          <a:bodyPr wrap="square" anchor="ctr">
            <a:spAutoFit/>
          </a:bodyPr>
          <a:lstStyle/>
          <a:p>
            <a:pPr algn="l"/>
            <a:r>
              <a:rPr sz="1100" b="1">
                <a:solidFill>
                  <a:srgbClr val="55D0C7"/>
                </a:solidFill>
                <a:latin typeface="Aptos"/>
              </a:rPr>
              <a:t>BIOLOGICAL INPUTS</a:t>
            </a:r>
          </a:p>
        </p:txBody>
      </p:sp>
      <p:sp>
        <p:nvSpPr>
          <p:cNvPr id="7" name="TextBox 6"/>
          <p:cNvSpPr txBox="1"/>
          <p:nvPr/>
        </p:nvSpPr>
        <p:spPr>
          <a:xfrm>
            <a:off x="886968" y="2313431"/>
            <a:ext cx="1929384" cy="411480"/>
          </a:xfrm>
          <a:prstGeom prst="rect">
            <a:avLst/>
          </a:prstGeom>
          <a:noFill/>
        </p:spPr>
        <p:txBody>
          <a:bodyPr wrap="square" anchor="ctr">
            <a:spAutoFit/>
          </a:bodyPr>
          <a:lstStyle/>
          <a:p>
            <a:pPr algn="l"/>
            <a:r>
              <a:rPr sz="1600" b="1">
                <a:solidFill>
                  <a:srgbClr val="F4F8FB"/>
                </a:solidFill>
                <a:latin typeface="Aptos"/>
              </a:rPr>
              <a:t>Different assays,
one analysis framework</a:t>
            </a:r>
          </a:p>
        </p:txBody>
      </p:sp>
      <p:sp>
        <p:nvSpPr>
          <p:cNvPr id="8" name="Oval 7"/>
          <p:cNvSpPr/>
          <p:nvPr/>
        </p:nvSpPr>
        <p:spPr>
          <a:xfrm>
            <a:off x="914400" y="3054095"/>
            <a:ext cx="347472" cy="34747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54095"/>
            <a:ext cx="347472" cy="347472"/>
          </a:xfrm>
          <a:prstGeom prst="rect">
            <a:avLst/>
          </a:prstGeom>
          <a:noFill/>
        </p:spPr>
        <p:txBody>
          <a:bodyPr wrap="square" anchor="ctr">
            <a:spAutoFit/>
          </a:bodyPr>
          <a:lstStyle/>
          <a:p>
            <a:pPr algn="ctr"/>
            <a:r>
              <a:rPr sz="800" b="1">
                <a:solidFill>
                  <a:srgbClr val="0B1822"/>
                </a:solidFill>
                <a:latin typeface="Aptos"/>
              </a:rPr>
              <a:t>RNA</a:t>
            </a:r>
          </a:p>
        </p:txBody>
      </p:sp>
      <p:sp>
        <p:nvSpPr>
          <p:cNvPr id="10" name="Rounded Rectangle 9"/>
          <p:cNvSpPr/>
          <p:nvPr/>
        </p:nvSpPr>
        <p:spPr>
          <a:xfrm>
            <a:off x="1353312" y="2999231"/>
            <a:ext cx="1417320" cy="457200"/>
          </a:xfrm>
          <a:prstGeom prst="roundRect">
            <a:avLst/>
          </a:prstGeom>
          <a:solidFill>
            <a:srgbClr val="112634"/>
          </a:solidFill>
          <a:ln w="1397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99231"/>
            <a:ext cx="1417320" cy="457200"/>
          </a:xfrm>
          <a:prstGeom prst="rect">
            <a:avLst/>
          </a:prstGeom>
          <a:noFill/>
        </p:spPr>
        <p:txBody>
          <a:bodyPr wrap="square" anchor="ctr">
            <a:spAutoFit/>
          </a:bodyPr>
          <a:lstStyle/>
          <a:p>
            <a:pPr algn="ctr"/>
            <a:r>
              <a:rPr sz="1120" b="1">
                <a:solidFill>
                  <a:srgbClr val="F4F8FB"/>
                </a:solidFill>
                <a:latin typeface="Aptos"/>
              </a:rPr>
              <a:t>scRNA-seq</a:t>
            </a:r>
          </a:p>
        </p:txBody>
      </p:sp>
      <p:sp>
        <p:nvSpPr>
          <p:cNvPr id="12" name="Oval 11"/>
          <p:cNvSpPr/>
          <p:nvPr/>
        </p:nvSpPr>
        <p:spPr>
          <a:xfrm>
            <a:off x="914400" y="3648455"/>
            <a:ext cx="347472" cy="34747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48455"/>
            <a:ext cx="347472" cy="347472"/>
          </a:xfrm>
          <a:prstGeom prst="rect">
            <a:avLst/>
          </a:prstGeom>
          <a:noFill/>
        </p:spPr>
        <p:txBody>
          <a:bodyPr wrap="square" anchor="ctr">
            <a:spAutoFit/>
          </a:bodyPr>
          <a:lstStyle/>
          <a:p>
            <a:pPr algn="ctr"/>
            <a:r>
              <a:rPr sz="800" b="1">
                <a:solidFill>
                  <a:srgbClr val="0B1822"/>
                </a:solidFill>
                <a:latin typeface="Aptos"/>
              </a:rPr>
              <a:t>XY</a:t>
            </a:r>
          </a:p>
        </p:txBody>
      </p:sp>
      <p:sp>
        <p:nvSpPr>
          <p:cNvPr id="14" name="Rounded Rectangle 13"/>
          <p:cNvSpPr/>
          <p:nvPr/>
        </p:nvSpPr>
        <p:spPr>
          <a:xfrm>
            <a:off x="1353312" y="3593591"/>
            <a:ext cx="1417320" cy="457200"/>
          </a:xfrm>
          <a:prstGeom prst="roundRect">
            <a:avLst/>
          </a:prstGeom>
          <a:solidFill>
            <a:srgbClr val="112634"/>
          </a:solidFill>
          <a:ln w="1397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3593591"/>
            <a:ext cx="1417320" cy="457200"/>
          </a:xfrm>
          <a:prstGeom prst="rect">
            <a:avLst/>
          </a:prstGeom>
          <a:noFill/>
        </p:spPr>
        <p:txBody>
          <a:bodyPr wrap="square" anchor="ctr">
            <a:spAutoFit/>
          </a:bodyPr>
          <a:lstStyle/>
          <a:p>
            <a:pPr algn="ctr"/>
            <a:r>
              <a:rPr sz="1120" b="1">
                <a:solidFill>
                  <a:srgbClr val="F4F8FB"/>
                </a:solidFill>
                <a:latin typeface="Aptos"/>
              </a:rPr>
              <a:t>Spatial transcriptomics</a:t>
            </a:r>
          </a:p>
        </p:txBody>
      </p:sp>
      <p:sp>
        <p:nvSpPr>
          <p:cNvPr id="16" name="Oval 15"/>
          <p:cNvSpPr/>
          <p:nvPr/>
        </p:nvSpPr>
        <p:spPr>
          <a:xfrm>
            <a:off x="914400" y="4242815"/>
            <a:ext cx="347472" cy="34747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42815"/>
            <a:ext cx="347472" cy="347472"/>
          </a:xfrm>
          <a:prstGeom prst="rect">
            <a:avLst/>
          </a:prstGeom>
          <a:noFill/>
        </p:spPr>
        <p:txBody>
          <a:bodyPr wrap="square" anchor="ctr">
            <a:spAutoFit/>
          </a:bodyPr>
          <a:lstStyle/>
          <a:p>
            <a:pPr algn="ctr"/>
            <a:r>
              <a:rPr sz="800" b="1">
                <a:solidFill>
                  <a:srgbClr val="0B1822"/>
                </a:solidFill>
                <a:latin typeface="Aptos"/>
              </a:rPr>
              <a:t>AT</a:t>
            </a:r>
          </a:p>
        </p:txBody>
      </p:sp>
      <p:sp>
        <p:nvSpPr>
          <p:cNvPr id="18" name="Rounded Rectangle 17"/>
          <p:cNvSpPr/>
          <p:nvPr/>
        </p:nvSpPr>
        <p:spPr>
          <a:xfrm>
            <a:off x="1353312" y="4187951"/>
            <a:ext cx="1417320" cy="457200"/>
          </a:xfrm>
          <a:prstGeom prst="roundRect">
            <a:avLst/>
          </a:prstGeom>
          <a:solidFill>
            <a:srgbClr val="112634"/>
          </a:solidFill>
          <a:ln w="1397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3312" y="4187951"/>
            <a:ext cx="1417320" cy="457200"/>
          </a:xfrm>
          <a:prstGeom prst="rect">
            <a:avLst/>
          </a:prstGeom>
          <a:noFill/>
        </p:spPr>
        <p:txBody>
          <a:bodyPr wrap="square" anchor="ctr">
            <a:spAutoFit/>
          </a:bodyPr>
          <a:lstStyle/>
          <a:p>
            <a:pPr algn="ctr"/>
            <a:r>
              <a:rPr sz="1120" b="1">
                <a:solidFill>
                  <a:srgbClr val="F4F8FB"/>
                </a:solidFill>
                <a:latin typeface="Aptos"/>
              </a:rPr>
              <a:t>ATAC / CITE</a:t>
            </a:r>
          </a:p>
        </p:txBody>
      </p:sp>
      <p:sp>
        <p:nvSpPr>
          <p:cNvPr id="20" name="Oval 19"/>
          <p:cNvSpPr/>
          <p:nvPr/>
        </p:nvSpPr>
        <p:spPr>
          <a:xfrm>
            <a:off x="914400" y="4837175"/>
            <a:ext cx="347472" cy="34747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37175"/>
            <a:ext cx="347472" cy="347472"/>
          </a:xfrm>
          <a:prstGeom prst="rect">
            <a:avLst/>
          </a:prstGeom>
          <a:noFill/>
        </p:spPr>
        <p:txBody>
          <a:bodyPr wrap="square" anchor="ctr">
            <a:spAutoFit/>
          </a:bodyPr>
          <a:lstStyle/>
          <a:p>
            <a:pPr algn="ctr"/>
            <a:r>
              <a:rPr sz="800" b="1">
                <a:solidFill>
                  <a:srgbClr val="0B1822"/>
                </a:solidFill>
                <a:latin typeface="Aptos"/>
              </a:rPr>
              <a:t>REF</a:t>
            </a:r>
          </a:p>
        </p:txBody>
      </p:sp>
      <p:sp>
        <p:nvSpPr>
          <p:cNvPr id="22" name="Rounded Rectangle 21"/>
          <p:cNvSpPr/>
          <p:nvPr/>
        </p:nvSpPr>
        <p:spPr>
          <a:xfrm>
            <a:off x="1353312" y="4782311"/>
            <a:ext cx="1417320" cy="457200"/>
          </a:xfrm>
          <a:prstGeom prst="roundRect">
            <a:avLst/>
          </a:prstGeom>
          <a:solidFill>
            <a:srgbClr val="112634"/>
          </a:solidFill>
          <a:ln w="1397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53312" y="4782311"/>
            <a:ext cx="1417320" cy="457200"/>
          </a:xfrm>
          <a:prstGeom prst="rect">
            <a:avLst/>
          </a:prstGeom>
          <a:noFill/>
        </p:spPr>
        <p:txBody>
          <a:bodyPr wrap="square" anchor="ctr">
            <a:spAutoFit/>
          </a:bodyPr>
          <a:lstStyle/>
          <a:p>
            <a:pPr algn="ctr"/>
            <a:r>
              <a:rPr sz="1120" b="1">
                <a:solidFill>
                  <a:srgbClr val="F4F8FB"/>
                </a:solidFill>
                <a:latin typeface="Aptos"/>
              </a:rPr>
              <a:t>Paired references</a:t>
            </a:r>
          </a:p>
        </p:txBody>
      </p:sp>
      <p:sp>
        <p:nvSpPr>
          <p:cNvPr id="24" name="Rounded Rectangle 23"/>
          <p:cNvSpPr/>
          <p:nvPr/>
        </p:nvSpPr>
        <p:spPr>
          <a:xfrm>
            <a:off x="3246120" y="1874519"/>
            <a:ext cx="4572000" cy="3520440"/>
          </a:xfrm>
          <a:prstGeom prst="roundRect">
            <a:avLst/>
          </a:prstGeom>
          <a:solidFill>
            <a:srgbClr val="0D1D29"/>
          </a:solidFill>
          <a:ln w="1651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2039111"/>
            <a:ext cx="4114800" cy="256032"/>
          </a:xfrm>
          <a:prstGeom prst="rect">
            <a:avLst/>
          </a:prstGeom>
          <a:noFill/>
        </p:spPr>
        <p:txBody>
          <a:bodyPr wrap="square" anchor="ctr">
            <a:spAutoFit/>
          </a:bodyPr>
          <a:lstStyle/>
          <a:p>
            <a:pPr algn="l"/>
            <a:r>
              <a:rPr sz="1100" b="1">
                <a:solidFill>
                  <a:srgbClr val="48A3FF"/>
                </a:solidFill>
                <a:latin typeface="Aptos"/>
              </a:rPr>
              <a:t>MODULAR ANALYSIS HUB</a:t>
            </a:r>
          </a:p>
        </p:txBody>
      </p:sp>
      <p:sp>
        <p:nvSpPr>
          <p:cNvPr id="26" name="Rounded Rectangle 25"/>
          <p:cNvSpPr/>
          <p:nvPr/>
        </p:nvSpPr>
        <p:spPr>
          <a:xfrm>
            <a:off x="4343400" y="2496311"/>
            <a:ext cx="2377440" cy="749808"/>
          </a:xfrm>
          <a:prstGeom prst="roundRect">
            <a:avLst/>
          </a:prstGeom>
          <a:solidFill>
            <a:srgbClr val="102B38"/>
          </a:solidFill>
          <a:ln w="2159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2551175"/>
            <a:ext cx="2377440" cy="329184"/>
          </a:xfrm>
          <a:prstGeom prst="rect">
            <a:avLst/>
          </a:prstGeom>
          <a:noFill/>
        </p:spPr>
        <p:txBody>
          <a:bodyPr wrap="square" anchor="ctr">
            <a:spAutoFit/>
          </a:bodyPr>
          <a:lstStyle/>
          <a:p>
            <a:pPr algn="ctr"/>
            <a:r>
              <a:rPr sz="2200" b="1">
                <a:solidFill>
                  <a:srgbClr val="F4F8FB"/>
                </a:solidFill>
                <a:latin typeface="Aptos"/>
              </a:rPr>
              <a:t>OMIC SAGE</a:t>
            </a:r>
          </a:p>
        </p:txBody>
      </p:sp>
      <p:sp>
        <p:nvSpPr>
          <p:cNvPr id="28" name="TextBox 27"/>
          <p:cNvSpPr txBox="1"/>
          <p:nvPr/>
        </p:nvSpPr>
        <p:spPr>
          <a:xfrm>
            <a:off x="4343400" y="2889503"/>
            <a:ext cx="2377440" cy="201168"/>
          </a:xfrm>
          <a:prstGeom prst="rect">
            <a:avLst/>
          </a:prstGeom>
          <a:noFill/>
        </p:spPr>
        <p:txBody>
          <a:bodyPr wrap="square" anchor="ctr">
            <a:spAutoFit/>
          </a:bodyPr>
          <a:lstStyle/>
          <a:p>
            <a:pPr algn="ctr"/>
            <a:r>
              <a:rPr sz="950" b="0">
                <a:solidFill>
                  <a:srgbClr val="55D0C7"/>
                </a:solidFill>
                <a:latin typeface="Aptos"/>
              </a:rPr>
              <a:t>Modular  •  Reproducible  •  Extensible</a:t>
            </a:r>
          </a:p>
        </p:txBody>
      </p:sp>
      <p:sp>
        <p:nvSpPr>
          <p:cNvPr id="29" name="Rounded Rectangle 28"/>
          <p:cNvSpPr/>
          <p:nvPr/>
        </p:nvSpPr>
        <p:spPr>
          <a:xfrm>
            <a:off x="3566160" y="3538727"/>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39312" y="3621023"/>
            <a:ext cx="256032" cy="25603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39312" y="3621023"/>
            <a:ext cx="256032" cy="256032"/>
          </a:xfrm>
          <a:prstGeom prst="rect">
            <a:avLst/>
          </a:prstGeom>
          <a:noFill/>
        </p:spPr>
        <p:txBody>
          <a:bodyPr wrap="square" anchor="ctr">
            <a:spAutoFit/>
          </a:bodyPr>
          <a:lstStyle/>
          <a:p>
            <a:pPr algn="ctr"/>
            <a:r>
              <a:rPr sz="700" b="1">
                <a:solidFill>
                  <a:srgbClr val="0B1822"/>
                </a:solidFill>
                <a:latin typeface="Aptos"/>
              </a:rPr>
              <a:t>01</a:t>
            </a:r>
          </a:p>
        </p:txBody>
      </p:sp>
      <p:sp>
        <p:nvSpPr>
          <p:cNvPr id="32" name="TextBox 31"/>
          <p:cNvSpPr txBox="1"/>
          <p:nvPr/>
        </p:nvSpPr>
        <p:spPr>
          <a:xfrm>
            <a:off x="3950208" y="3630167"/>
            <a:ext cx="1325880" cy="201168"/>
          </a:xfrm>
          <a:prstGeom prst="rect">
            <a:avLst/>
          </a:prstGeom>
          <a:noFill/>
        </p:spPr>
        <p:txBody>
          <a:bodyPr wrap="square" anchor="ctr">
            <a:spAutoFit/>
          </a:bodyPr>
          <a:lstStyle/>
          <a:p>
            <a:pPr algn="l"/>
            <a:r>
              <a:rPr sz="1050" b="1">
                <a:solidFill>
                  <a:srgbClr val="F4F8FB"/>
                </a:solidFill>
                <a:latin typeface="Aptos"/>
              </a:rPr>
              <a:t>PREPROCESS</a:t>
            </a:r>
          </a:p>
        </p:txBody>
      </p:sp>
      <p:sp>
        <p:nvSpPr>
          <p:cNvPr id="33" name="TextBox 32"/>
          <p:cNvSpPr txBox="1"/>
          <p:nvPr/>
        </p:nvSpPr>
        <p:spPr>
          <a:xfrm>
            <a:off x="3703320" y="3877055"/>
            <a:ext cx="1508760" cy="219456"/>
          </a:xfrm>
          <a:prstGeom prst="rect">
            <a:avLst/>
          </a:prstGeom>
          <a:noFill/>
        </p:spPr>
        <p:txBody>
          <a:bodyPr wrap="square" anchor="ctr">
            <a:spAutoFit/>
          </a:bodyPr>
          <a:lstStyle/>
          <a:p>
            <a:pPr algn="ctr"/>
            <a:r>
              <a:rPr sz="880" b="0">
                <a:solidFill>
                  <a:srgbClr val="A9BAC6"/>
                </a:solidFill>
                <a:latin typeface="Aptos"/>
              </a:rPr>
              <a:t>QC · normalize · HVGs</a:t>
            </a:r>
          </a:p>
        </p:txBody>
      </p:sp>
      <p:sp>
        <p:nvSpPr>
          <p:cNvPr id="34" name="Rounded Rectangle 33"/>
          <p:cNvSpPr/>
          <p:nvPr/>
        </p:nvSpPr>
        <p:spPr>
          <a:xfrm>
            <a:off x="5696712" y="3538727"/>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769864" y="3621023"/>
            <a:ext cx="256032" cy="25603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9864" y="3621023"/>
            <a:ext cx="256032" cy="256032"/>
          </a:xfrm>
          <a:prstGeom prst="rect">
            <a:avLst/>
          </a:prstGeom>
          <a:noFill/>
        </p:spPr>
        <p:txBody>
          <a:bodyPr wrap="square" anchor="ctr">
            <a:spAutoFit/>
          </a:bodyPr>
          <a:lstStyle/>
          <a:p>
            <a:pPr algn="ctr"/>
            <a:r>
              <a:rPr sz="700" b="1">
                <a:solidFill>
                  <a:srgbClr val="0B1822"/>
                </a:solidFill>
                <a:latin typeface="Aptos"/>
              </a:rPr>
              <a:t>02</a:t>
            </a:r>
          </a:p>
        </p:txBody>
      </p:sp>
      <p:sp>
        <p:nvSpPr>
          <p:cNvPr id="37" name="TextBox 36"/>
          <p:cNvSpPr txBox="1"/>
          <p:nvPr/>
        </p:nvSpPr>
        <p:spPr>
          <a:xfrm>
            <a:off x="6080760" y="3630167"/>
            <a:ext cx="1325880" cy="201168"/>
          </a:xfrm>
          <a:prstGeom prst="rect">
            <a:avLst/>
          </a:prstGeom>
          <a:noFill/>
        </p:spPr>
        <p:txBody>
          <a:bodyPr wrap="square" anchor="ctr">
            <a:spAutoFit/>
          </a:bodyPr>
          <a:lstStyle/>
          <a:p>
            <a:pPr algn="l"/>
            <a:r>
              <a:rPr sz="1050" b="1">
                <a:solidFill>
                  <a:srgbClr val="F4F8FB"/>
                </a:solidFill>
                <a:latin typeface="Aptos"/>
              </a:rPr>
              <a:t>REPRESENT</a:t>
            </a:r>
          </a:p>
        </p:txBody>
      </p:sp>
      <p:sp>
        <p:nvSpPr>
          <p:cNvPr id="38" name="TextBox 37"/>
          <p:cNvSpPr txBox="1"/>
          <p:nvPr/>
        </p:nvSpPr>
        <p:spPr>
          <a:xfrm>
            <a:off x="5833872" y="3877055"/>
            <a:ext cx="1508760" cy="219456"/>
          </a:xfrm>
          <a:prstGeom prst="rect">
            <a:avLst/>
          </a:prstGeom>
          <a:noFill/>
        </p:spPr>
        <p:txBody>
          <a:bodyPr wrap="square" anchor="ctr">
            <a:spAutoFit/>
          </a:bodyPr>
          <a:lstStyle/>
          <a:p>
            <a:pPr algn="ctr"/>
            <a:r>
              <a:rPr sz="880" b="0">
                <a:solidFill>
                  <a:srgbClr val="A9BAC6"/>
                </a:solidFill>
                <a:latin typeface="Aptos"/>
              </a:rPr>
              <a:t>PCA · neighbors · clusters</a:t>
            </a:r>
          </a:p>
        </p:txBody>
      </p:sp>
      <p:sp>
        <p:nvSpPr>
          <p:cNvPr id="39" name="Rounded Rectangle 38"/>
          <p:cNvSpPr/>
          <p:nvPr/>
        </p:nvSpPr>
        <p:spPr>
          <a:xfrm>
            <a:off x="3566160" y="4416551"/>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639312" y="4498847"/>
            <a:ext cx="256032" cy="25603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9312" y="4498847"/>
            <a:ext cx="256032" cy="256032"/>
          </a:xfrm>
          <a:prstGeom prst="rect">
            <a:avLst/>
          </a:prstGeom>
          <a:noFill/>
        </p:spPr>
        <p:txBody>
          <a:bodyPr wrap="square" anchor="ctr">
            <a:spAutoFit/>
          </a:bodyPr>
          <a:lstStyle/>
          <a:p>
            <a:pPr algn="ctr"/>
            <a:r>
              <a:rPr sz="700" b="1">
                <a:solidFill>
                  <a:srgbClr val="0B1822"/>
                </a:solidFill>
                <a:latin typeface="Aptos"/>
              </a:rPr>
              <a:t>03</a:t>
            </a:r>
          </a:p>
        </p:txBody>
      </p:sp>
      <p:sp>
        <p:nvSpPr>
          <p:cNvPr id="42" name="TextBox 41"/>
          <p:cNvSpPr txBox="1"/>
          <p:nvPr/>
        </p:nvSpPr>
        <p:spPr>
          <a:xfrm>
            <a:off x="3950208" y="4507991"/>
            <a:ext cx="1325880" cy="201168"/>
          </a:xfrm>
          <a:prstGeom prst="rect">
            <a:avLst/>
          </a:prstGeom>
          <a:noFill/>
        </p:spPr>
        <p:txBody>
          <a:bodyPr wrap="square" anchor="ctr">
            <a:spAutoFit/>
          </a:bodyPr>
          <a:lstStyle/>
          <a:p>
            <a:pPr algn="l"/>
            <a:r>
              <a:rPr sz="1050" b="1">
                <a:solidFill>
                  <a:srgbClr val="F4F8FB"/>
                </a:solidFill>
                <a:latin typeface="Aptos"/>
              </a:rPr>
              <a:t>INTEGRATE</a:t>
            </a:r>
          </a:p>
        </p:txBody>
      </p:sp>
      <p:sp>
        <p:nvSpPr>
          <p:cNvPr id="43" name="TextBox 42"/>
          <p:cNvSpPr txBox="1"/>
          <p:nvPr/>
        </p:nvSpPr>
        <p:spPr>
          <a:xfrm>
            <a:off x="3703320" y="4754879"/>
            <a:ext cx="1508760" cy="219456"/>
          </a:xfrm>
          <a:prstGeom prst="rect">
            <a:avLst/>
          </a:prstGeom>
          <a:noFill/>
        </p:spPr>
        <p:txBody>
          <a:bodyPr wrap="square" anchor="ctr">
            <a:spAutoFit/>
          </a:bodyPr>
          <a:lstStyle/>
          <a:p>
            <a:pPr algn="ctr"/>
            <a:r>
              <a:rPr sz="880" b="0">
                <a:solidFill>
                  <a:srgbClr val="A9BAC6"/>
                </a:solidFill>
                <a:latin typeface="Aptos"/>
              </a:rPr>
              <a:t>DE · deconvolution · mapping</a:t>
            </a:r>
          </a:p>
        </p:txBody>
      </p:sp>
      <p:sp>
        <p:nvSpPr>
          <p:cNvPr id="44" name="Rounded Rectangle 43"/>
          <p:cNvSpPr/>
          <p:nvPr/>
        </p:nvSpPr>
        <p:spPr>
          <a:xfrm>
            <a:off x="5696712" y="4416551"/>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769864" y="4498847"/>
            <a:ext cx="256032" cy="25603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769864" y="4498847"/>
            <a:ext cx="256032" cy="256032"/>
          </a:xfrm>
          <a:prstGeom prst="rect">
            <a:avLst/>
          </a:prstGeom>
          <a:noFill/>
        </p:spPr>
        <p:txBody>
          <a:bodyPr wrap="square" anchor="ctr">
            <a:spAutoFit/>
          </a:bodyPr>
          <a:lstStyle/>
          <a:p>
            <a:pPr algn="ctr"/>
            <a:r>
              <a:rPr sz="700" b="1">
                <a:solidFill>
                  <a:srgbClr val="0B1822"/>
                </a:solidFill>
                <a:latin typeface="Aptos"/>
              </a:rPr>
              <a:t>04</a:t>
            </a:r>
          </a:p>
        </p:txBody>
      </p:sp>
      <p:sp>
        <p:nvSpPr>
          <p:cNvPr id="47" name="TextBox 46"/>
          <p:cNvSpPr txBox="1"/>
          <p:nvPr/>
        </p:nvSpPr>
        <p:spPr>
          <a:xfrm>
            <a:off x="6080760" y="4507991"/>
            <a:ext cx="1325880" cy="201168"/>
          </a:xfrm>
          <a:prstGeom prst="rect">
            <a:avLst/>
          </a:prstGeom>
          <a:noFill/>
        </p:spPr>
        <p:txBody>
          <a:bodyPr wrap="square" anchor="ctr">
            <a:spAutoFit/>
          </a:bodyPr>
          <a:lstStyle/>
          <a:p>
            <a:pPr algn="l"/>
            <a:r>
              <a:rPr sz="1050" b="1">
                <a:solidFill>
                  <a:srgbClr val="F4F8FB"/>
                </a:solidFill>
                <a:latin typeface="Aptos"/>
              </a:rPr>
              <a:t>INTERPRET</a:t>
            </a:r>
          </a:p>
        </p:txBody>
      </p:sp>
      <p:sp>
        <p:nvSpPr>
          <p:cNvPr id="48" name="TextBox 47"/>
          <p:cNvSpPr txBox="1"/>
          <p:nvPr/>
        </p:nvSpPr>
        <p:spPr>
          <a:xfrm>
            <a:off x="5833872" y="4754879"/>
            <a:ext cx="1508760" cy="219456"/>
          </a:xfrm>
          <a:prstGeom prst="rect">
            <a:avLst/>
          </a:prstGeom>
          <a:noFill/>
        </p:spPr>
        <p:txBody>
          <a:bodyPr wrap="square" anchor="ctr">
            <a:spAutoFit/>
          </a:bodyPr>
          <a:lstStyle/>
          <a:p>
            <a:pPr algn="ctr"/>
            <a:r>
              <a:rPr sz="880" b="0">
                <a:solidFill>
                  <a:srgbClr val="A9BAC6"/>
                </a:solidFill>
                <a:latin typeface="Aptos"/>
              </a:rPr>
              <a:t>pathways · niches · communication</a:t>
            </a:r>
          </a:p>
        </p:txBody>
      </p:sp>
      <p:cxnSp>
        <p:nvCxnSpPr>
          <p:cNvPr id="49" name="Connector 48"/>
          <p:cNvCxnSpPr/>
          <p:nvPr/>
        </p:nvCxnSpPr>
        <p:spPr>
          <a:xfrm>
            <a:off x="5532120" y="3246119"/>
            <a:ext cx="0" cy="219456"/>
          </a:xfrm>
          <a:prstGeom prst="line">
            <a:avLst/>
          </a:prstGeom>
          <a:ln w="1905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349240" y="3867911"/>
            <a:ext cx="347472" cy="0"/>
          </a:xfrm>
          <a:prstGeom prst="line">
            <a:avLst/>
          </a:prstGeom>
          <a:ln w="15240">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349240" y="4745735"/>
            <a:ext cx="347472" cy="0"/>
          </a:xfrm>
          <a:prstGeom prst="line">
            <a:avLst/>
          </a:prstGeom>
          <a:ln w="15240">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532120" y="4197095"/>
            <a:ext cx="0" cy="219456"/>
          </a:xfrm>
          <a:prstGeom prst="line">
            <a:avLst/>
          </a:prstGeom>
          <a:ln w="12700">
            <a:solidFill>
              <a:srgbClr val="132A38"/>
            </a:solidFill>
            <a:prstDash val="dash"/>
          </a:ln>
        </p:spPr>
        <p:style>
          <a:lnRef idx="2">
            <a:schemeClr val="accent1"/>
          </a:lnRef>
          <a:fillRef idx="0">
            <a:schemeClr val="accent1"/>
          </a:fillRef>
          <a:effectRef idx="1">
            <a:schemeClr val="accent1"/>
          </a:effectRef>
          <a:fontRef idx="minor">
            <a:schemeClr val="tx1"/>
          </a:fontRef>
        </p:style>
      </p:cxnSp>
      <p:sp>
        <p:nvSpPr>
          <p:cNvPr id="53" name="Right Arrow 52"/>
          <p:cNvSpPr/>
          <p:nvPr/>
        </p:nvSpPr>
        <p:spPr>
          <a:xfrm>
            <a:off x="3090672" y="3538727"/>
            <a:ext cx="429768" cy="530352"/>
          </a:xfrm>
          <a:prstGeom prst="rightArrow">
            <a:avLst/>
          </a:prstGeom>
          <a:solidFill>
            <a:srgbClr val="18303F"/>
          </a:solidFill>
          <a:ln>
            <a:solidFill>
              <a:srgbClr val="183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Arrow 53"/>
          <p:cNvSpPr/>
          <p:nvPr/>
        </p:nvSpPr>
        <p:spPr>
          <a:xfrm>
            <a:off x="7891272" y="3538727"/>
            <a:ext cx="429768" cy="530352"/>
          </a:xfrm>
          <a:prstGeom prst="rightArrow">
            <a:avLst/>
          </a:prstGeom>
          <a:solidFill>
            <a:srgbClr val="18303F"/>
          </a:solidFill>
          <a:ln>
            <a:solidFill>
              <a:srgbClr val="183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046720" y="1874519"/>
            <a:ext cx="3429000" cy="352044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47888" y="2039111"/>
            <a:ext cx="3026664" cy="256032"/>
          </a:xfrm>
          <a:prstGeom prst="rect">
            <a:avLst/>
          </a:prstGeom>
          <a:noFill/>
        </p:spPr>
        <p:txBody>
          <a:bodyPr wrap="square" anchor="ctr">
            <a:spAutoFit/>
          </a:bodyPr>
          <a:lstStyle/>
          <a:p>
            <a:pPr algn="l"/>
            <a:r>
              <a:rPr sz="1100" b="1">
                <a:solidFill>
                  <a:srgbClr val="55D0C7"/>
                </a:solidFill>
                <a:latin typeface="Aptos"/>
              </a:rPr>
              <a:t>BIOLOGICAL OUTPUTS</a:t>
            </a:r>
          </a:p>
        </p:txBody>
      </p:sp>
      <p:sp>
        <p:nvSpPr>
          <p:cNvPr id="57" name="TextBox 56"/>
          <p:cNvSpPr txBox="1"/>
          <p:nvPr/>
        </p:nvSpPr>
        <p:spPr>
          <a:xfrm>
            <a:off x="8247888" y="2313431"/>
            <a:ext cx="3026664" cy="411480"/>
          </a:xfrm>
          <a:prstGeom prst="rect">
            <a:avLst/>
          </a:prstGeom>
          <a:noFill/>
        </p:spPr>
        <p:txBody>
          <a:bodyPr wrap="square" anchor="ctr">
            <a:spAutoFit/>
          </a:bodyPr>
          <a:lstStyle/>
          <a:p>
            <a:pPr algn="l"/>
            <a:r>
              <a:rPr sz="1600" b="1">
                <a:solidFill>
                  <a:srgbClr val="F4F8FB"/>
                </a:solidFill>
                <a:latin typeface="Aptos"/>
              </a:rPr>
              <a:t>From processing
to interpretable results</a:t>
            </a:r>
          </a:p>
        </p:txBody>
      </p:sp>
      <p:sp>
        <p:nvSpPr>
          <p:cNvPr id="58" name="Oval 57"/>
          <p:cNvSpPr/>
          <p:nvPr/>
        </p:nvSpPr>
        <p:spPr>
          <a:xfrm>
            <a:off x="8266176" y="3108959"/>
            <a:ext cx="237744" cy="237744"/>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66176" y="3108959"/>
            <a:ext cx="237744" cy="237744"/>
          </a:xfrm>
          <a:prstGeom prst="rect">
            <a:avLst/>
          </a:prstGeom>
          <a:noFill/>
        </p:spPr>
        <p:txBody>
          <a:bodyPr wrap="square" anchor="ctr">
            <a:spAutoFit/>
          </a:bodyPr>
          <a:lstStyle/>
          <a:p>
            <a:pPr algn="ctr"/>
            <a:r>
              <a:rPr sz="700" b="1">
                <a:solidFill>
                  <a:srgbClr val="0B1822"/>
                </a:solidFill>
                <a:latin typeface="Aptos"/>
              </a:rPr>
              <a:t>1</a:t>
            </a:r>
          </a:p>
        </p:txBody>
      </p:sp>
      <p:sp>
        <p:nvSpPr>
          <p:cNvPr id="60" name="TextBox 59"/>
          <p:cNvSpPr txBox="1"/>
          <p:nvPr/>
        </p:nvSpPr>
        <p:spPr>
          <a:xfrm>
            <a:off x="8613648" y="3044951"/>
            <a:ext cx="2468880" cy="219456"/>
          </a:xfrm>
          <a:prstGeom prst="rect">
            <a:avLst/>
          </a:prstGeom>
          <a:noFill/>
        </p:spPr>
        <p:txBody>
          <a:bodyPr wrap="square" anchor="ctr">
            <a:spAutoFit/>
          </a:bodyPr>
          <a:lstStyle/>
          <a:p>
            <a:pPr algn="l"/>
            <a:r>
              <a:rPr sz="1050" b="1">
                <a:solidFill>
                  <a:srgbClr val="F4F8FB"/>
                </a:solidFill>
                <a:latin typeface="Aptos"/>
              </a:rPr>
              <a:t>CELL STATES</a:t>
            </a:r>
          </a:p>
        </p:txBody>
      </p:sp>
      <p:sp>
        <p:nvSpPr>
          <p:cNvPr id="61" name="TextBox 60"/>
          <p:cNvSpPr txBox="1"/>
          <p:nvPr/>
        </p:nvSpPr>
        <p:spPr>
          <a:xfrm>
            <a:off x="8613648" y="3273551"/>
            <a:ext cx="2468880" cy="219456"/>
          </a:xfrm>
          <a:prstGeom prst="rect">
            <a:avLst/>
          </a:prstGeom>
          <a:noFill/>
        </p:spPr>
        <p:txBody>
          <a:bodyPr wrap="square" anchor="ctr">
            <a:spAutoFit/>
          </a:bodyPr>
          <a:lstStyle/>
          <a:p>
            <a:pPr algn="l"/>
            <a:r>
              <a:rPr sz="900" b="0">
                <a:solidFill>
                  <a:srgbClr val="A9BAC6"/>
                </a:solidFill>
                <a:latin typeface="Aptos"/>
              </a:rPr>
              <a:t>clusters · annotations · DE</a:t>
            </a:r>
          </a:p>
        </p:txBody>
      </p:sp>
      <p:sp>
        <p:nvSpPr>
          <p:cNvPr id="62" name="Oval 61"/>
          <p:cNvSpPr/>
          <p:nvPr/>
        </p:nvSpPr>
        <p:spPr>
          <a:xfrm>
            <a:off x="8266176" y="3721607"/>
            <a:ext cx="237744" cy="237744"/>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66176" y="3721607"/>
            <a:ext cx="237744" cy="237744"/>
          </a:xfrm>
          <a:prstGeom prst="rect">
            <a:avLst/>
          </a:prstGeom>
          <a:noFill/>
        </p:spPr>
        <p:txBody>
          <a:bodyPr wrap="square" anchor="ctr">
            <a:spAutoFit/>
          </a:bodyPr>
          <a:lstStyle/>
          <a:p>
            <a:pPr algn="ctr"/>
            <a:r>
              <a:rPr sz="700" b="1">
                <a:solidFill>
                  <a:srgbClr val="0B1822"/>
                </a:solidFill>
                <a:latin typeface="Aptos"/>
              </a:rPr>
              <a:t>2</a:t>
            </a:r>
          </a:p>
        </p:txBody>
      </p:sp>
      <p:sp>
        <p:nvSpPr>
          <p:cNvPr id="64" name="TextBox 63"/>
          <p:cNvSpPr txBox="1"/>
          <p:nvPr/>
        </p:nvSpPr>
        <p:spPr>
          <a:xfrm>
            <a:off x="8613648" y="3657599"/>
            <a:ext cx="2468880" cy="219456"/>
          </a:xfrm>
          <a:prstGeom prst="rect">
            <a:avLst/>
          </a:prstGeom>
          <a:noFill/>
        </p:spPr>
        <p:txBody>
          <a:bodyPr wrap="square" anchor="ctr">
            <a:spAutoFit/>
          </a:bodyPr>
          <a:lstStyle/>
          <a:p>
            <a:pPr algn="l"/>
            <a:r>
              <a:rPr sz="1050" b="1">
                <a:solidFill>
                  <a:srgbClr val="F4F8FB"/>
                </a:solidFill>
                <a:latin typeface="Aptos"/>
              </a:rPr>
              <a:t>SPATIAL CONTEXT</a:t>
            </a:r>
          </a:p>
        </p:txBody>
      </p:sp>
      <p:sp>
        <p:nvSpPr>
          <p:cNvPr id="65" name="TextBox 64"/>
          <p:cNvSpPr txBox="1"/>
          <p:nvPr/>
        </p:nvSpPr>
        <p:spPr>
          <a:xfrm>
            <a:off x="8613648" y="3886199"/>
            <a:ext cx="2468880" cy="219456"/>
          </a:xfrm>
          <a:prstGeom prst="rect">
            <a:avLst/>
          </a:prstGeom>
          <a:noFill/>
        </p:spPr>
        <p:txBody>
          <a:bodyPr wrap="square" anchor="ctr">
            <a:spAutoFit/>
          </a:bodyPr>
          <a:lstStyle/>
          <a:p>
            <a:pPr algn="l"/>
            <a:r>
              <a:rPr sz="900" b="0">
                <a:solidFill>
                  <a:srgbClr val="A9BAC6"/>
                </a:solidFill>
                <a:latin typeface="Aptos"/>
              </a:rPr>
              <a:t>SVGs · niches · neighborhoods</a:t>
            </a:r>
          </a:p>
        </p:txBody>
      </p:sp>
      <p:sp>
        <p:nvSpPr>
          <p:cNvPr id="66" name="Oval 65"/>
          <p:cNvSpPr/>
          <p:nvPr/>
        </p:nvSpPr>
        <p:spPr>
          <a:xfrm>
            <a:off x="8266176" y="4334255"/>
            <a:ext cx="237744" cy="237744"/>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66176" y="4334255"/>
            <a:ext cx="237744" cy="237744"/>
          </a:xfrm>
          <a:prstGeom prst="rect">
            <a:avLst/>
          </a:prstGeom>
          <a:noFill/>
        </p:spPr>
        <p:txBody>
          <a:bodyPr wrap="square" anchor="ctr">
            <a:spAutoFit/>
          </a:bodyPr>
          <a:lstStyle/>
          <a:p>
            <a:pPr algn="ctr"/>
            <a:r>
              <a:rPr sz="700" b="1">
                <a:solidFill>
                  <a:srgbClr val="0B1822"/>
                </a:solidFill>
                <a:latin typeface="Aptos"/>
              </a:rPr>
              <a:t>3</a:t>
            </a:r>
          </a:p>
        </p:txBody>
      </p:sp>
      <p:sp>
        <p:nvSpPr>
          <p:cNvPr id="68" name="TextBox 67"/>
          <p:cNvSpPr txBox="1"/>
          <p:nvPr/>
        </p:nvSpPr>
        <p:spPr>
          <a:xfrm>
            <a:off x="8613648" y="4270247"/>
            <a:ext cx="2468880" cy="219456"/>
          </a:xfrm>
          <a:prstGeom prst="rect">
            <a:avLst/>
          </a:prstGeom>
          <a:noFill/>
        </p:spPr>
        <p:txBody>
          <a:bodyPr wrap="square" anchor="ctr">
            <a:spAutoFit/>
          </a:bodyPr>
          <a:lstStyle/>
          <a:p>
            <a:pPr algn="l"/>
            <a:r>
              <a:rPr sz="1050" b="1">
                <a:solidFill>
                  <a:srgbClr val="F4F8FB"/>
                </a:solidFill>
                <a:latin typeface="Aptos"/>
              </a:rPr>
              <a:t>INTERACTIONS</a:t>
            </a:r>
          </a:p>
        </p:txBody>
      </p:sp>
      <p:sp>
        <p:nvSpPr>
          <p:cNvPr id="69" name="TextBox 68"/>
          <p:cNvSpPr txBox="1"/>
          <p:nvPr/>
        </p:nvSpPr>
        <p:spPr>
          <a:xfrm>
            <a:off x="8613648" y="4498847"/>
            <a:ext cx="2468880" cy="219456"/>
          </a:xfrm>
          <a:prstGeom prst="rect">
            <a:avLst/>
          </a:prstGeom>
          <a:noFill/>
        </p:spPr>
        <p:txBody>
          <a:bodyPr wrap="square" anchor="ctr">
            <a:spAutoFit/>
          </a:bodyPr>
          <a:lstStyle/>
          <a:p>
            <a:pPr algn="l"/>
            <a:r>
              <a:rPr sz="900" b="0">
                <a:solidFill>
                  <a:srgbClr val="A9BAC6"/>
                </a:solidFill>
                <a:latin typeface="Aptos"/>
              </a:rPr>
              <a:t>co-occurrence · ligand–receptor</a:t>
            </a:r>
          </a:p>
        </p:txBody>
      </p:sp>
      <p:sp>
        <p:nvSpPr>
          <p:cNvPr id="70" name="Oval 69"/>
          <p:cNvSpPr/>
          <p:nvPr/>
        </p:nvSpPr>
        <p:spPr>
          <a:xfrm>
            <a:off x="8266176" y="4946903"/>
            <a:ext cx="237744" cy="237744"/>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66176" y="4946903"/>
            <a:ext cx="237744" cy="237744"/>
          </a:xfrm>
          <a:prstGeom prst="rect">
            <a:avLst/>
          </a:prstGeom>
          <a:noFill/>
        </p:spPr>
        <p:txBody>
          <a:bodyPr wrap="square" anchor="ctr">
            <a:spAutoFit/>
          </a:bodyPr>
          <a:lstStyle/>
          <a:p>
            <a:pPr algn="ctr"/>
            <a:r>
              <a:rPr sz="700" b="1">
                <a:solidFill>
                  <a:srgbClr val="0B1822"/>
                </a:solidFill>
                <a:latin typeface="Aptos"/>
              </a:rPr>
              <a:t>4</a:t>
            </a:r>
          </a:p>
        </p:txBody>
      </p:sp>
      <p:sp>
        <p:nvSpPr>
          <p:cNvPr id="72" name="TextBox 71"/>
          <p:cNvSpPr txBox="1"/>
          <p:nvPr/>
        </p:nvSpPr>
        <p:spPr>
          <a:xfrm>
            <a:off x="8613648" y="4882895"/>
            <a:ext cx="2468880" cy="219456"/>
          </a:xfrm>
          <a:prstGeom prst="rect">
            <a:avLst/>
          </a:prstGeom>
          <a:noFill/>
        </p:spPr>
        <p:txBody>
          <a:bodyPr wrap="square" anchor="ctr">
            <a:spAutoFit/>
          </a:bodyPr>
          <a:lstStyle/>
          <a:p>
            <a:pPr algn="l"/>
            <a:r>
              <a:rPr sz="1050" b="1">
                <a:solidFill>
                  <a:srgbClr val="F4F8FB"/>
                </a:solidFill>
                <a:latin typeface="Aptos"/>
              </a:rPr>
              <a:t>REPRODUCIBLE REPORTS</a:t>
            </a:r>
          </a:p>
        </p:txBody>
      </p:sp>
      <p:sp>
        <p:nvSpPr>
          <p:cNvPr id="73" name="TextBox 72"/>
          <p:cNvSpPr txBox="1"/>
          <p:nvPr/>
        </p:nvSpPr>
        <p:spPr>
          <a:xfrm>
            <a:off x="8613648" y="5111495"/>
            <a:ext cx="2468880" cy="219456"/>
          </a:xfrm>
          <a:prstGeom prst="rect">
            <a:avLst/>
          </a:prstGeom>
          <a:noFill/>
        </p:spPr>
        <p:txBody>
          <a:bodyPr wrap="square" anchor="ctr">
            <a:spAutoFit/>
          </a:bodyPr>
          <a:lstStyle/>
          <a:p>
            <a:pPr algn="l"/>
            <a:r>
              <a:rPr sz="900" b="0">
                <a:solidFill>
                  <a:srgbClr val="A9BAC6"/>
                </a:solidFill>
                <a:latin typeface="Aptos"/>
              </a:rPr>
              <a:t>configs · reruns · documented outputs</a:t>
            </a:r>
          </a:p>
        </p:txBody>
      </p:sp>
      <p:sp>
        <p:nvSpPr>
          <p:cNvPr id="74" name="Rounded Rectangle 73"/>
          <p:cNvSpPr/>
          <p:nvPr/>
        </p:nvSpPr>
        <p:spPr>
          <a:xfrm>
            <a:off x="868680" y="5605272"/>
            <a:ext cx="10149840" cy="57607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05840" y="5660136"/>
            <a:ext cx="9875520" cy="219456"/>
          </a:xfrm>
          <a:prstGeom prst="rect">
            <a:avLst/>
          </a:prstGeom>
          <a:noFill/>
        </p:spPr>
        <p:txBody>
          <a:bodyPr wrap="square" anchor="ctr">
            <a:spAutoFit/>
          </a:bodyPr>
          <a:lstStyle/>
          <a:p>
            <a:pPr algn="ctr"/>
            <a:r>
              <a:rPr sz="1220" b="1">
                <a:solidFill>
                  <a:srgbClr val="F4F8FB"/>
                </a:solidFill>
                <a:latin typeface="Aptos"/>
              </a:rPr>
              <a:t>A common framework for moving from raw omics data to interpretable biological results.</a:t>
            </a:r>
          </a:p>
        </p:txBody>
      </p:sp>
      <p:sp>
        <p:nvSpPr>
          <p:cNvPr id="76" name="TextBox 75"/>
          <p:cNvSpPr txBox="1"/>
          <p:nvPr/>
        </p:nvSpPr>
        <p:spPr>
          <a:xfrm>
            <a:off x="1005840" y="5907024"/>
            <a:ext cx="9875520" cy="164592"/>
          </a:xfrm>
          <a:prstGeom prst="rect">
            <a:avLst/>
          </a:prstGeom>
          <a:noFill/>
        </p:spPr>
        <p:txBody>
          <a:bodyPr wrap="square" anchor="ctr">
            <a:spAutoFit/>
          </a:bodyPr>
          <a:lstStyle/>
          <a:p>
            <a:pPr algn="ctr"/>
            <a:r>
              <a:rPr sz="919" b="0">
                <a:solidFill>
                  <a:srgbClr val="55D0C7"/>
                </a:solidFill>
                <a:latin typeface="Aptos"/>
              </a:rPr>
              <a:t>Reusable analysis logic  •  project-specific biological questions</a:t>
            </a:r>
          </a:p>
        </p:txBody>
      </p:sp>
      <p:sp>
        <p:nvSpPr>
          <p:cNvPr id="77" name="TextBox 76"/>
          <p:cNvSpPr txBox="1"/>
          <p:nvPr/>
        </p:nvSpPr>
        <p:spPr>
          <a:xfrm>
            <a:off x="11201400" y="6272784"/>
            <a:ext cx="228600" cy="164592"/>
          </a:xfrm>
          <a:prstGeom prst="rect">
            <a:avLst/>
          </a:prstGeom>
          <a:noFill/>
        </p:spPr>
        <p:txBody>
          <a:bodyPr wrap="square" anchor="ctr">
            <a:spAutoFit/>
          </a:bodyPr>
          <a:lstStyle/>
          <a:p>
            <a:pPr algn="r"/>
            <a:r>
              <a:rPr sz="850" b="0">
                <a:solidFill>
                  <a:srgbClr val="7F9AAF"/>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92608"/>
          </a:xfrm>
          <a:prstGeom prst="rect">
            <a:avLst/>
          </a:prstGeom>
          <a:noFill/>
        </p:spPr>
        <p:txBody>
          <a:bodyPr wrap="square" anchor="ctr">
            <a:spAutoFit/>
          </a:bodyPr>
          <a:lstStyle/>
          <a:p>
            <a:pPr algn="l"/>
            <a:r>
              <a:rPr sz="1100" b="1">
                <a:solidFill>
                  <a:srgbClr val="55D0C7"/>
                </a:solidFill>
                <a:latin typeface="Aptos"/>
              </a:rPr>
              <a:t>05 / HCC CASE STUDY</a:t>
            </a:r>
          </a:p>
        </p:txBody>
      </p:sp>
      <p:sp>
        <p:nvSpPr>
          <p:cNvPr id="3" name="TextBox 2"/>
          <p:cNvSpPr txBox="1"/>
          <p:nvPr/>
        </p:nvSpPr>
        <p:spPr>
          <a:xfrm>
            <a:off x="640080" y="731520"/>
            <a:ext cx="10332720" cy="512064"/>
          </a:xfrm>
          <a:prstGeom prst="rect">
            <a:avLst/>
          </a:prstGeom>
          <a:noFill/>
        </p:spPr>
        <p:txBody>
          <a:bodyPr wrap="square" anchor="ctr">
            <a:spAutoFit/>
          </a:bodyPr>
          <a:lstStyle/>
          <a:p>
            <a:pPr algn="l"/>
            <a:r>
              <a:rPr sz="2250" b="1">
                <a:solidFill>
                  <a:srgbClr val="F4F8FB"/>
                </a:solidFill>
                <a:latin typeface="Aptos Display"/>
              </a:rPr>
              <a:t>HCC SINGLE-CELL TRANSCRIPTOMICS — WORKFLOW &amp; ANALYTICAL STRATEGY</a:t>
            </a:r>
          </a:p>
        </p:txBody>
      </p:sp>
      <p:sp>
        <p:nvSpPr>
          <p:cNvPr id="4" name="TextBox 3"/>
          <p:cNvSpPr txBox="1"/>
          <p:nvPr/>
        </p:nvSpPr>
        <p:spPr>
          <a:xfrm>
            <a:off x="640080" y="1252728"/>
            <a:ext cx="9784080" cy="320040"/>
          </a:xfrm>
          <a:prstGeom prst="rect">
            <a:avLst/>
          </a:prstGeom>
          <a:noFill/>
        </p:spPr>
        <p:txBody>
          <a:bodyPr wrap="square" anchor="ctr">
            <a:spAutoFit/>
          </a:bodyPr>
          <a:lstStyle/>
          <a:p>
            <a:pPr algn="l"/>
            <a:r>
              <a:rPr sz="1150" b="0">
                <a:solidFill>
                  <a:srgbClr val="A9BAC6"/>
                </a:solidFill>
                <a:latin typeface="Aptos"/>
              </a:rPr>
              <a:t>An end-to-end exploratory scRNA-seq workflow, from quality control to cell-type-specific biological interpretation.</a:t>
            </a:r>
          </a:p>
        </p:txBody>
      </p:sp>
      <p:sp>
        <p:nvSpPr>
          <p:cNvPr id="5" name="Rounded Rectangle 4"/>
          <p:cNvSpPr/>
          <p:nvPr/>
        </p:nvSpPr>
        <p:spPr>
          <a:xfrm>
            <a:off x="685800" y="1783080"/>
            <a:ext cx="6583680" cy="361188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2194560" cy="201168"/>
          </a:xfrm>
          <a:prstGeom prst="rect">
            <a:avLst/>
          </a:prstGeom>
          <a:noFill/>
        </p:spPr>
        <p:txBody>
          <a:bodyPr wrap="square" anchor="ctr">
            <a:spAutoFit/>
          </a:bodyPr>
          <a:lstStyle/>
          <a:p>
            <a:pPr algn="l"/>
            <a:r>
              <a:rPr sz="1100" b="1">
                <a:solidFill>
                  <a:srgbClr val="55D0C7"/>
                </a:solidFill>
                <a:latin typeface="Aptos"/>
              </a:rPr>
              <a:t>ANALYSIS FLOW</a:t>
            </a:r>
          </a:p>
        </p:txBody>
      </p:sp>
      <p:sp>
        <p:nvSpPr>
          <p:cNvPr id="7" name="Oval 6"/>
          <p:cNvSpPr/>
          <p:nvPr/>
        </p:nvSpPr>
        <p:spPr>
          <a:xfrm>
            <a:off x="768096" y="2249424"/>
            <a:ext cx="475488" cy="475488"/>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249424"/>
            <a:ext cx="475488" cy="475488"/>
          </a:xfrm>
          <a:prstGeom prst="rect">
            <a:avLst/>
          </a:prstGeom>
          <a:noFill/>
        </p:spPr>
        <p:txBody>
          <a:bodyPr wrap="square" anchor="ctr">
            <a:spAutoFit/>
          </a:bodyPr>
          <a:lstStyle/>
          <a:p>
            <a:pPr algn="ctr"/>
            <a:r>
              <a:rPr sz="800" b="1">
                <a:solidFill>
                  <a:srgbClr val="0B1822"/>
                </a:solidFill>
                <a:latin typeface="Aptos"/>
              </a:rPr>
              <a:t>1</a:t>
            </a:r>
          </a:p>
        </p:txBody>
      </p:sp>
      <p:sp>
        <p:nvSpPr>
          <p:cNvPr id="9" name="TextBox 8"/>
          <p:cNvSpPr txBox="1"/>
          <p:nvPr/>
        </p:nvSpPr>
        <p:spPr>
          <a:xfrm>
            <a:off x="548640" y="2834640"/>
            <a:ext cx="914400" cy="201168"/>
          </a:xfrm>
          <a:prstGeom prst="rect">
            <a:avLst/>
          </a:prstGeom>
          <a:noFill/>
        </p:spPr>
        <p:txBody>
          <a:bodyPr wrap="square" anchor="ctr">
            <a:spAutoFit/>
          </a:bodyPr>
          <a:lstStyle/>
          <a:p>
            <a:pPr algn="ctr"/>
            <a:r>
              <a:rPr sz="1019" b="1">
                <a:solidFill>
                  <a:srgbClr val="F4F8FB"/>
                </a:solidFill>
                <a:latin typeface="Aptos"/>
              </a:rPr>
              <a:t>DATA</a:t>
            </a:r>
          </a:p>
        </p:txBody>
      </p:sp>
      <p:sp>
        <p:nvSpPr>
          <p:cNvPr id="10" name="TextBox 9"/>
          <p:cNvSpPr txBox="1"/>
          <p:nvPr/>
        </p:nvSpPr>
        <p:spPr>
          <a:xfrm>
            <a:off x="438912" y="3063240"/>
            <a:ext cx="1143000" cy="548640"/>
          </a:xfrm>
          <a:prstGeom prst="rect">
            <a:avLst/>
          </a:prstGeom>
          <a:noFill/>
        </p:spPr>
        <p:txBody>
          <a:bodyPr wrap="square" anchor="t">
            <a:spAutoFit/>
          </a:bodyPr>
          <a:lstStyle/>
          <a:p>
            <a:pPr algn="ctr"/>
            <a:r>
              <a:rPr sz="860" b="0">
                <a:solidFill>
                  <a:srgbClr val="A9BAC6"/>
                </a:solidFill>
                <a:latin typeface="Aptos"/>
              </a:rPr>
              <a:t>25,189 cells
2 samples (HCC1 / HCC2)</a:t>
            </a:r>
          </a:p>
        </p:txBody>
      </p:sp>
      <p:cxnSp>
        <p:nvCxnSpPr>
          <p:cNvPr id="11" name="Connector 10"/>
          <p:cNvCxnSpPr/>
          <p:nvPr/>
        </p:nvCxnSpPr>
        <p:spPr>
          <a:xfrm>
            <a:off x="1280160"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792224" y="2249424"/>
            <a:ext cx="475488" cy="475488"/>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92224" y="2249424"/>
            <a:ext cx="475488" cy="475488"/>
          </a:xfrm>
          <a:prstGeom prst="rect">
            <a:avLst/>
          </a:prstGeom>
          <a:noFill/>
        </p:spPr>
        <p:txBody>
          <a:bodyPr wrap="square" anchor="ctr">
            <a:spAutoFit/>
          </a:bodyPr>
          <a:lstStyle/>
          <a:p>
            <a:pPr algn="ctr"/>
            <a:r>
              <a:rPr sz="800" b="1">
                <a:solidFill>
                  <a:srgbClr val="0B1822"/>
                </a:solidFill>
                <a:latin typeface="Aptos"/>
              </a:rPr>
              <a:t>2</a:t>
            </a:r>
          </a:p>
        </p:txBody>
      </p:sp>
      <p:sp>
        <p:nvSpPr>
          <p:cNvPr id="14" name="TextBox 13"/>
          <p:cNvSpPr txBox="1"/>
          <p:nvPr/>
        </p:nvSpPr>
        <p:spPr>
          <a:xfrm>
            <a:off x="1572768" y="2834640"/>
            <a:ext cx="914400" cy="201168"/>
          </a:xfrm>
          <a:prstGeom prst="rect">
            <a:avLst/>
          </a:prstGeom>
          <a:noFill/>
        </p:spPr>
        <p:txBody>
          <a:bodyPr wrap="square" anchor="ctr">
            <a:spAutoFit/>
          </a:bodyPr>
          <a:lstStyle/>
          <a:p>
            <a:pPr algn="ctr"/>
            <a:r>
              <a:rPr sz="1019" b="1">
                <a:solidFill>
                  <a:srgbClr val="F4F8FB"/>
                </a:solidFill>
                <a:latin typeface="Aptos"/>
              </a:rPr>
              <a:t>QC</a:t>
            </a:r>
          </a:p>
        </p:txBody>
      </p:sp>
      <p:sp>
        <p:nvSpPr>
          <p:cNvPr id="15" name="TextBox 14"/>
          <p:cNvSpPr txBox="1"/>
          <p:nvPr/>
        </p:nvSpPr>
        <p:spPr>
          <a:xfrm>
            <a:off x="1463040" y="3063240"/>
            <a:ext cx="1143000" cy="548640"/>
          </a:xfrm>
          <a:prstGeom prst="rect">
            <a:avLst/>
          </a:prstGeom>
          <a:noFill/>
        </p:spPr>
        <p:txBody>
          <a:bodyPr wrap="square" anchor="t">
            <a:spAutoFit/>
          </a:bodyPr>
          <a:lstStyle/>
          <a:p>
            <a:pPr algn="ctr"/>
            <a:r>
              <a:rPr sz="860" b="0">
                <a:solidFill>
                  <a:srgbClr val="A9BAC6"/>
                </a:solidFill>
                <a:latin typeface="Aptos"/>
              </a:rPr>
              <a:t>200–7,500 genes
mt &lt;15%
18,309 retained</a:t>
            </a:r>
          </a:p>
        </p:txBody>
      </p:sp>
      <p:cxnSp>
        <p:nvCxnSpPr>
          <p:cNvPr id="16" name="Connector 15"/>
          <p:cNvCxnSpPr/>
          <p:nvPr/>
        </p:nvCxnSpPr>
        <p:spPr>
          <a:xfrm>
            <a:off x="2304288"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816352" y="2249424"/>
            <a:ext cx="475488" cy="475488"/>
          </a:xfrm>
          <a:prstGeom prst="ellipse">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16352" y="2249424"/>
            <a:ext cx="475488" cy="475488"/>
          </a:xfrm>
          <a:prstGeom prst="rect">
            <a:avLst/>
          </a:prstGeom>
          <a:noFill/>
        </p:spPr>
        <p:txBody>
          <a:bodyPr wrap="square" anchor="ctr">
            <a:spAutoFit/>
          </a:bodyPr>
          <a:lstStyle/>
          <a:p>
            <a:pPr algn="ctr"/>
            <a:r>
              <a:rPr sz="800" b="1">
                <a:solidFill>
                  <a:srgbClr val="0B1822"/>
                </a:solidFill>
                <a:latin typeface="Aptos"/>
              </a:rPr>
              <a:t>3</a:t>
            </a:r>
          </a:p>
        </p:txBody>
      </p:sp>
      <p:sp>
        <p:nvSpPr>
          <p:cNvPr id="19" name="TextBox 18"/>
          <p:cNvSpPr txBox="1"/>
          <p:nvPr/>
        </p:nvSpPr>
        <p:spPr>
          <a:xfrm>
            <a:off x="2596896" y="2834640"/>
            <a:ext cx="914400" cy="201168"/>
          </a:xfrm>
          <a:prstGeom prst="rect">
            <a:avLst/>
          </a:prstGeom>
          <a:noFill/>
        </p:spPr>
        <p:txBody>
          <a:bodyPr wrap="square" anchor="ctr">
            <a:spAutoFit/>
          </a:bodyPr>
          <a:lstStyle/>
          <a:p>
            <a:pPr algn="ctr"/>
            <a:r>
              <a:rPr sz="1019" b="1">
                <a:solidFill>
                  <a:srgbClr val="F4F8FB"/>
                </a:solidFill>
                <a:latin typeface="Aptos"/>
              </a:rPr>
              <a:t>REPRESENT</a:t>
            </a:r>
          </a:p>
        </p:txBody>
      </p:sp>
      <p:sp>
        <p:nvSpPr>
          <p:cNvPr id="20" name="TextBox 19"/>
          <p:cNvSpPr txBox="1"/>
          <p:nvPr/>
        </p:nvSpPr>
        <p:spPr>
          <a:xfrm>
            <a:off x="2487168" y="3063240"/>
            <a:ext cx="1143000" cy="548640"/>
          </a:xfrm>
          <a:prstGeom prst="rect">
            <a:avLst/>
          </a:prstGeom>
          <a:noFill/>
        </p:spPr>
        <p:txBody>
          <a:bodyPr wrap="square" anchor="t">
            <a:spAutoFit/>
          </a:bodyPr>
          <a:lstStyle/>
          <a:p>
            <a:pPr algn="ctr"/>
            <a:r>
              <a:rPr sz="860" b="0">
                <a:solidFill>
                  <a:srgbClr val="A9BAC6"/>
                </a:solidFill>
                <a:latin typeface="Aptos"/>
              </a:rPr>
              <a:t>Normalize · log1p
2,000 HVGs
20 PCs</a:t>
            </a:r>
          </a:p>
        </p:txBody>
      </p:sp>
      <p:cxnSp>
        <p:nvCxnSpPr>
          <p:cNvPr id="21" name="Connector 20"/>
          <p:cNvCxnSpPr/>
          <p:nvPr/>
        </p:nvCxnSpPr>
        <p:spPr>
          <a:xfrm>
            <a:off x="3328416"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40480" y="2249424"/>
            <a:ext cx="475488" cy="475488"/>
          </a:xfrm>
          <a:prstGeom prst="ellipse">
            <a:avLst/>
          </a:prstGeom>
          <a:solidFill>
            <a:srgbClr val="F6A04D"/>
          </a:solidFill>
          <a:ln>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0" y="2249424"/>
            <a:ext cx="475488" cy="475488"/>
          </a:xfrm>
          <a:prstGeom prst="rect">
            <a:avLst/>
          </a:prstGeom>
          <a:noFill/>
        </p:spPr>
        <p:txBody>
          <a:bodyPr wrap="square" anchor="ctr">
            <a:spAutoFit/>
          </a:bodyPr>
          <a:lstStyle/>
          <a:p>
            <a:pPr algn="ctr"/>
            <a:r>
              <a:rPr sz="800" b="1">
                <a:solidFill>
                  <a:srgbClr val="0B1822"/>
                </a:solidFill>
                <a:latin typeface="Aptos"/>
              </a:rPr>
              <a:t>4</a:t>
            </a:r>
          </a:p>
        </p:txBody>
      </p:sp>
      <p:sp>
        <p:nvSpPr>
          <p:cNvPr id="24" name="TextBox 23"/>
          <p:cNvSpPr txBox="1"/>
          <p:nvPr/>
        </p:nvSpPr>
        <p:spPr>
          <a:xfrm>
            <a:off x="3621024" y="2834640"/>
            <a:ext cx="914400" cy="201168"/>
          </a:xfrm>
          <a:prstGeom prst="rect">
            <a:avLst/>
          </a:prstGeom>
          <a:noFill/>
        </p:spPr>
        <p:txBody>
          <a:bodyPr wrap="square" anchor="ctr">
            <a:spAutoFit/>
          </a:bodyPr>
          <a:lstStyle/>
          <a:p>
            <a:pPr algn="ctr"/>
            <a:r>
              <a:rPr sz="1019" b="1">
                <a:solidFill>
                  <a:srgbClr val="F4F8FB"/>
                </a:solidFill>
                <a:latin typeface="Aptos"/>
              </a:rPr>
              <a:t>CLUSTER</a:t>
            </a:r>
          </a:p>
        </p:txBody>
      </p:sp>
      <p:sp>
        <p:nvSpPr>
          <p:cNvPr id="25" name="TextBox 24"/>
          <p:cNvSpPr txBox="1"/>
          <p:nvPr/>
        </p:nvSpPr>
        <p:spPr>
          <a:xfrm>
            <a:off x="3511296" y="3063240"/>
            <a:ext cx="1143000" cy="548640"/>
          </a:xfrm>
          <a:prstGeom prst="rect">
            <a:avLst/>
          </a:prstGeom>
          <a:noFill/>
        </p:spPr>
        <p:txBody>
          <a:bodyPr wrap="square" anchor="t">
            <a:spAutoFit/>
          </a:bodyPr>
          <a:lstStyle/>
          <a:p>
            <a:pPr algn="ctr"/>
            <a:r>
              <a:rPr sz="860" b="0">
                <a:solidFill>
                  <a:srgbClr val="A9BAC6"/>
                </a:solidFill>
                <a:latin typeface="Aptos"/>
              </a:rPr>
              <a:t>15 neighbors
Leiden 0.5
19 clusters</a:t>
            </a:r>
          </a:p>
        </p:txBody>
      </p:sp>
      <p:cxnSp>
        <p:nvCxnSpPr>
          <p:cNvPr id="26" name="Connector 25"/>
          <p:cNvCxnSpPr/>
          <p:nvPr/>
        </p:nvCxnSpPr>
        <p:spPr>
          <a:xfrm>
            <a:off x="4352544"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864608" y="2249424"/>
            <a:ext cx="475488" cy="475488"/>
          </a:xfrm>
          <a:prstGeom prst="ellipse">
            <a:avLst/>
          </a:prstGeom>
          <a:solidFill>
            <a:srgbClr val="F7C95C"/>
          </a:solidFill>
          <a:ln>
            <a:solidFill>
              <a:srgbClr val="F7C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64608" y="2249424"/>
            <a:ext cx="475488" cy="475488"/>
          </a:xfrm>
          <a:prstGeom prst="rect">
            <a:avLst/>
          </a:prstGeom>
          <a:noFill/>
        </p:spPr>
        <p:txBody>
          <a:bodyPr wrap="square" anchor="ctr">
            <a:spAutoFit/>
          </a:bodyPr>
          <a:lstStyle/>
          <a:p>
            <a:pPr algn="ctr"/>
            <a:r>
              <a:rPr sz="800" b="1">
                <a:solidFill>
                  <a:srgbClr val="0B1822"/>
                </a:solidFill>
                <a:latin typeface="Aptos"/>
              </a:rPr>
              <a:t>5</a:t>
            </a:r>
          </a:p>
        </p:txBody>
      </p:sp>
      <p:sp>
        <p:nvSpPr>
          <p:cNvPr id="29" name="TextBox 28"/>
          <p:cNvSpPr txBox="1"/>
          <p:nvPr/>
        </p:nvSpPr>
        <p:spPr>
          <a:xfrm>
            <a:off x="4645152" y="2834640"/>
            <a:ext cx="914400" cy="201168"/>
          </a:xfrm>
          <a:prstGeom prst="rect">
            <a:avLst/>
          </a:prstGeom>
          <a:noFill/>
        </p:spPr>
        <p:txBody>
          <a:bodyPr wrap="square" anchor="ctr">
            <a:spAutoFit/>
          </a:bodyPr>
          <a:lstStyle/>
          <a:p>
            <a:pPr algn="ctr"/>
            <a:r>
              <a:rPr sz="1019" b="1">
                <a:solidFill>
                  <a:srgbClr val="F4F8FB"/>
                </a:solidFill>
                <a:latin typeface="Aptos"/>
              </a:rPr>
              <a:t>ANNOTATE</a:t>
            </a:r>
          </a:p>
        </p:txBody>
      </p:sp>
      <p:sp>
        <p:nvSpPr>
          <p:cNvPr id="30" name="TextBox 29"/>
          <p:cNvSpPr txBox="1"/>
          <p:nvPr/>
        </p:nvSpPr>
        <p:spPr>
          <a:xfrm>
            <a:off x="4535424" y="3063240"/>
            <a:ext cx="1143000" cy="548640"/>
          </a:xfrm>
          <a:prstGeom prst="rect">
            <a:avLst/>
          </a:prstGeom>
          <a:noFill/>
        </p:spPr>
        <p:txBody>
          <a:bodyPr wrap="square" anchor="t">
            <a:spAutoFit/>
          </a:bodyPr>
          <a:lstStyle/>
          <a:p>
            <a:pPr algn="ctr"/>
            <a:r>
              <a:rPr sz="860" b="0">
                <a:solidFill>
                  <a:srgbClr val="A9BAC6"/>
                </a:solidFill>
                <a:latin typeface="Aptos"/>
              </a:rPr>
              <a:t>CellTypist + ScType
SingleR + markers
11 broad labels</a:t>
            </a:r>
          </a:p>
        </p:txBody>
      </p:sp>
      <p:cxnSp>
        <p:nvCxnSpPr>
          <p:cNvPr id="31" name="Connector 30"/>
          <p:cNvCxnSpPr/>
          <p:nvPr/>
        </p:nvCxnSpPr>
        <p:spPr>
          <a:xfrm>
            <a:off x="5376672"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888736" y="2249424"/>
            <a:ext cx="475488" cy="475488"/>
          </a:xfrm>
          <a:prstGeom prst="ellipse">
            <a:avLst/>
          </a:prstGeom>
          <a:solidFill>
            <a:srgbClr val="7AD17A"/>
          </a:solidFill>
          <a:ln>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88736" y="2249424"/>
            <a:ext cx="475488" cy="475488"/>
          </a:xfrm>
          <a:prstGeom prst="rect">
            <a:avLst/>
          </a:prstGeom>
          <a:noFill/>
        </p:spPr>
        <p:txBody>
          <a:bodyPr wrap="square" anchor="ctr">
            <a:spAutoFit/>
          </a:bodyPr>
          <a:lstStyle/>
          <a:p>
            <a:pPr algn="ctr"/>
            <a:r>
              <a:rPr sz="800" b="1">
                <a:solidFill>
                  <a:srgbClr val="0B1822"/>
                </a:solidFill>
                <a:latin typeface="Aptos"/>
              </a:rPr>
              <a:t>6</a:t>
            </a:r>
          </a:p>
        </p:txBody>
      </p:sp>
      <p:sp>
        <p:nvSpPr>
          <p:cNvPr id="34" name="TextBox 33"/>
          <p:cNvSpPr txBox="1"/>
          <p:nvPr/>
        </p:nvSpPr>
        <p:spPr>
          <a:xfrm>
            <a:off x="5669280" y="2834640"/>
            <a:ext cx="914400" cy="201168"/>
          </a:xfrm>
          <a:prstGeom prst="rect">
            <a:avLst/>
          </a:prstGeom>
          <a:noFill/>
        </p:spPr>
        <p:txBody>
          <a:bodyPr wrap="square" anchor="ctr">
            <a:spAutoFit/>
          </a:bodyPr>
          <a:lstStyle/>
          <a:p>
            <a:pPr algn="ctr"/>
            <a:r>
              <a:rPr sz="1019" b="1">
                <a:solidFill>
                  <a:srgbClr val="F4F8FB"/>
                </a:solidFill>
                <a:latin typeface="Aptos"/>
              </a:rPr>
              <a:t>COMPARE</a:t>
            </a:r>
          </a:p>
        </p:txBody>
      </p:sp>
      <p:sp>
        <p:nvSpPr>
          <p:cNvPr id="35" name="TextBox 34"/>
          <p:cNvSpPr txBox="1"/>
          <p:nvPr/>
        </p:nvSpPr>
        <p:spPr>
          <a:xfrm>
            <a:off x="5559552" y="3063240"/>
            <a:ext cx="1143000" cy="548640"/>
          </a:xfrm>
          <a:prstGeom prst="rect">
            <a:avLst/>
          </a:prstGeom>
          <a:noFill/>
        </p:spPr>
        <p:txBody>
          <a:bodyPr wrap="square" anchor="t">
            <a:spAutoFit/>
          </a:bodyPr>
          <a:lstStyle/>
          <a:p>
            <a:pPr algn="ctr"/>
            <a:r>
              <a:rPr sz="860" b="0">
                <a:solidFill>
                  <a:srgbClr val="A9BAC6"/>
                </a:solidFill>
                <a:latin typeface="Aptos"/>
              </a:rPr>
              <a:t>Pooled and cell-type-specific
DE + GSEA
interpretation</a:t>
            </a:r>
          </a:p>
        </p:txBody>
      </p:sp>
      <p:sp>
        <p:nvSpPr>
          <p:cNvPr id="36" name="Rounded Rectangle 35"/>
          <p:cNvSpPr/>
          <p:nvPr/>
        </p:nvSpPr>
        <p:spPr>
          <a:xfrm>
            <a:off x="868680" y="4023360"/>
            <a:ext cx="6217920" cy="109728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415" y="4151376"/>
            <a:ext cx="1645920" cy="164592"/>
          </a:xfrm>
          <a:prstGeom prst="rect">
            <a:avLst/>
          </a:prstGeom>
          <a:noFill/>
        </p:spPr>
        <p:txBody>
          <a:bodyPr wrap="square" anchor="ctr">
            <a:spAutoFit/>
          </a:bodyPr>
          <a:lstStyle/>
          <a:p>
            <a:pPr algn="l"/>
            <a:r>
              <a:rPr sz="1050" b="1">
                <a:solidFill>
                  <a:srgbClr val="48A3FF"/>
                </a:solidFill>
                <a:latin typeface="Aptos"/>
              </a:rPr>
              <a:t>KEY TAKEAWAYS</a:t>
            </a:r>
          </a:p>
        </p:txBody>
      </p:sp>
      <p:sp>
        <p:nvSpPr>
          <p:cNvPr id="38" name="TextBox 37"/>
          <p:cNvSpPr txBox="1"/>
          <p:nvPr/>
        </p:nvSpPr>
        <p:spPr>
          <a:xfrm>
            <a:off x="1060704" y="4407408"/>
            <a:ext cx="5760720" cy="164592"/>
          </a:xfrm>
          <a:prstGeom prst="rect">
            <a:avLst/>
          </a:prstGeom>
          <a:noFill/>
        </p:spPr>
        <p:txBody>
          <a:bodyPr wrap="square" anchor="ctr">
            <a:spAutoFit/>
          </a:bodyPr>
          <a:lstStyle/>
          <a:p>
            <a:pPr algn="l"/>
            <a:r>
              <a:rPr sz="930" b="0">
                <a:solidFill>
                  <a:srgbClr val="A9BAC6"/>
                </a:solidFill>
                <a:latin typeface="Aptos"/>
              </a:rPr>
              <a:t>• Distribution-informed QC rather than copying the paper thresholds.</a:t>
            </a:r>
          </a:p>
        </p:txBody>
      </p:sp>
      <p:sp>
        <p:nvSpPr>
          <p:cNvPr id="39" name="TextBox 38"/>
          <p:cNvSpPr txBox="1"/>
          <p:nvPr/>
        </p:nvSpPr>
        <p:spPr>
          <a:xfrm>
            <a:off x="1060704" y="4608576"/>
            <a:ext cx="5760720" cy="164592"/>
          </a:xfrm>
          <a:prstGeom prst="rect">
            <a:avLst/>
          </a:prstGeom>
          <a:noFill/>
        </p:spPr>
        <p:txBody>
          <a:bodyPr wrap="square" anchor="ctr">
            <a:spAutoFit/>
          </a:bodyPr>
          <a:lstStyle/>
          <a:p>
            <a:pPr algn="l"/>
            <a:r>
              <a:rPr sz="930" b="0">
                <a:solidFill>
                  <a:srgbClr val="A9BAC6"/>
                </a:solidFill>
                <a:latin typeface="Aptos"/>
              </a:rPr>
              <a:t>• Annotation supported by multiple references plus marker review.</a:t>
            </a:r>
          </a:p>
        </p:txBody>
      </p:sp>
      <p:sp>
        <p:nvSpPr>
          <p:cNvPr id="40" name="TextBox 39"/>
          <p:cNvSpPr txBox="1"/>
          <p:nvPr/>
        </p:nvSpPr>
        <p:spPr>
          <a:xfrm>
            <a:off x="1060704" y="4809744"/>
            <a:ext cx="5760720" cy="164592"/>
          </a:xfrm>
          <a:prstGeom prst="rect">
            <a:avLst/>
          </a:prstGeom>
          <a:noFill/>
        </p:spPr>
        <p:txBody>
          <a:bodyPr wrap="square" anchor="ctr">
            <a:spAutoFit/>
          </a:bodyPr>
          <a:lstStyle/>
          <a:p>
            <a:pPr algn="l"/>
            <a:r>
              <a:rPr sz="930" b="0">
                <a:solidFill>
                  <a:srgbClr val="A9BAC6"/>
                </a:solidFill>
                <a:latin typeface="Aptos"/>
              </a:rPr>
              <a:t>• Cell-type-specific contrasts used to avoid over-interpreting pooled sample differences.</a:t>
            </a:r>
          </a:p>
        </p:txBody>
      </p:sp>
      <p:sp>
        <p:nvSpPr>
          <p:cNvPr id="41" name="Rounded Rectangle 40"/>
          <p:cNvSpPr/>
          <p:nvPr/>
        </p:nvSpPr>
        <p:spPr>
          <a:xfrm>
            <a:off x="7452360" y="1783080"/>
            <a:ext cx="3886200" cy="361188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53527" y="1920240"/>
            <a:ext cx="2103120" cy="201168"/>
          </a:xfrm>
          <a:prstGeom prst="rect">
            <a:avLst/>
          </a:prstGeom>
          <a:noFill/>
        </p:spPr>
        <p:txBody>
          <a:bodyPr wrap="square" anchor="ctr">
            <a:spAutoFit/>
          </a:bodyPr>
          <a:lstStyle/>
          <a:p>
            <a:pPr algn="l"/>
            <a:r>
              <a:rPr sz="1100" b="1">
                <a:solidFill>
                  <a:srgbClr val="55D0C7"/>
                </a:solidFill>
                <a:latin typeface="Aptos"/>
              </a:rPr>
              <a:t>DESIGN &amp; INTERPRETATION</a:t>
            </a:r>
          </a:p>
        </p:txBody>
      </p:sp>
      <p:sp>
        <p:nvSpPr>
          <p:cNvPr id="43" name="Rounded Rectangle 42"/>
          <p:cNvSpPr/>
          <p:nvPr/>
        </p:nvSpPr>
        <p:spPr>
          <a:xfrm>
            <a:off x="7662672" y="2212848"/>
            <a:ext cx="3456432" cy="82296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7264" y="2286000"/>
            <a:ext cx="3154680" cy="164592"/>
          </a:xfrm>
          <a:prstGeom prst="rect">
            <a:avLst/>
          </a:prstGeom>
          <a:noFill/>
        </p:spPr>
        <p:txBody>
          <a:bodyPr wrap="square" anchor="ctr">
            <a:spAutoFit/>
          </a:bodyPr>
          <a:lstStyle/>
          <a:p>
            <a:pPr algn="l"/>
            <a:r>
              <a:rPr sz="1000" b="1">
                <a:solidFill>
                  <a:srgbClr val="F4F8FB"/>
                </a:solidFill>
                <a:latin typeface="Aptos"/>
              </a:rPr>
              <a:t>Experimental unit</a:t>
            </a:r>
          </a:p>
        </p:txBody>
      </p:sp>
      <p:sp>
        <p:nvSpPr>
          <p:cNvPr id="45" name="TextBox 44"/>
          <p:cNvSpPr txBox="1"/>
          <p:nvPr/>
        </p:nvSpPr>
        <p:spPr>
          <a:xfrm>
            <a:off x="7827264" y="2487168"/>
            <a:ext cx="3063240" cy="384048"/>
          </a:xfrm>
          <a:prstGeom prst="rect">
            <a:avLst/>
          </a:prstGeom>
          <a:noFill/>
        </p:spPr>
        <p:txBody>
          <a:bodyPr wrap="square" anchor="t">
            <a:spAutoFit/>
          </a:bodyPr>
          <a:lstStyle/>
          <a:p>
            <a:pPr algn="l"/>
            <a:r>
              <a:rPr sz="910" b="0">
                <a:solidFill>
                  <a:srgbClr val="A9BAC6"/>
                </a:solidFill>
                <a:latin typeface="Aptos"/>
              </a:rPr>
              <a:t>1 sample per analysis group.
Cells are observations within samples, not independent biological replicates.</a:t>
            </a:r>
          </a:p>
        </p:txBody>
      </p:sp>
      <p:sp>
        <p:nvSpPr>
          <p:cNvPr id="46" name="Rounded Rectangle 45"/>
          <p:cNvSpPr/>
          <p:nvPr/>
        </p:nvSpPr>
        <p:spPr>
          <a:xfrm>
            <a:off x="7662672" y="3182112"/>
            <a:ext cx="3456432" cy="100584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7264" y="3255264"/>
            <a:ext cx="2926080" cy="164592"/>
          </a:xfrm>
          <a:prstGeom prst="rect">
            <a:avLst/>
          </a:prstGeom>
          <a:noFill/>
        </p:spPr>
        <p:txBody>
          <a:bodyPr wrap="square" anchor="ctr">
            <a:spAutoFit/>
          </a:bodyPr>
          <a:lstStyle/>
          <a:p>
            <a:pPr algn="l"/>
            <a:r>
              <a:rPr sz="1000" b="1">
                <a:solidFill>
                  <a:srgbClr val="F4F8FB"/>
                </a:solidFill>
                <a:latin typeface="Aptos"/>
              </a:rPr>
              <a:t>How to position the results</a:t>
            </a:r>
          </a:p>
        </p:txBody>
      </p:sp>
      <p:sp>
        <p:nvSpPr>
          <p:cNvPr id="48" name="TextBox 47"/>
          <p:cNvSpPr txBox="1"/>
          <p:nvPr/>
        </p:nvSpPr>
        <p:spPr>
          <a:xfrm>
            <a:off x="7827264" y="3474720"/>
            <a:ext cx="3063240" cy="502920"/>
          </a:xfrm>
          <a:prstGeom prst="rect">
            <a:avLst/>
          </a:prstGeom>
          <a:noFill/>
        </p:spPr>
        <p:txBody>
          <a:bodyPr wrap="square" anchor="t">
            <a:spAutoFit/>
          </a:bodyPr>
          <a:lstStyle/>
          <a:p>
            <a:pPr algn="l"/>
            <a:r>
              <a:rPr sz="910" b="0">
                <a:solidFill>
                  <a:srgbClr val="A9BAC6"/>
                </a:solidFill>
                <a:latin typeface="Aptos"/>
              </a:rPr>
              <a:t>Exploratory, sample-associated differences.
Good for workflow development and biological hypotheses, not population-level HCC conclusions.</a:t>
            </a:r>
          </a:p>
        </p:txBody>
      </p:sp>
      <p:sp>
        <p:nvSpPr>
          <p:cNvPr id="49" name="Rounded Rectangle 48"/>
          <p:cNvSpPr/>
          <p:nvPr/>
        </p:nvSpPr>
        <p:spPr>
          <a:xfrm>
            <a:off x="7662672" y="4352544"/>
            <a:ext cx="3456432" cy="77724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27264" y="4443984"/>
            <a:ext cx="2926080" cy="164592"/>
          </a:xfrm>
          <a:prstGeom prst="rect">
            <a:avLst/>
          </a:prstGeom>
          <a:noFill/>
        </p:spPr>
        <p:txBody>
          <a:bodyPr wrap="square" anchor="ctr">
            <a:spAutoFit/>
          </a:bodyPr>
          <a:lstStyle/>
          <a:p>
            <a:pPr algn="l"/>
            <a:r>
              <a:rPr sz="1000" b="1">
                <a:solidFill>
                  <a:srgbClr val="F4F8FB"/>
                </a:solidFill>
                <a:latin typeface="Aptos"/>
              </a:rPr>
              <a:t>Main message for the interview</a:t>
            </a:r>
          </a:p>
        </p:txBody>
      </p:sp>
      <p:sp>
        <p:nvSpPr>
          <p:cNvPr id="51" name="TextBox 50"/>
          <p:cNvSpPr txBox="1"/>
          <p:nvPr/>
        </p:nvSpPr>
        <p:spPr>
          <a:xfrm>
            <a:off x="7827264" y="4663440"/>
            <a:ext cx="2999232" cy="256032"/>
          </a:xfrm>
          <a:prstGeom prst="rect">
            <a:avLst/>
          </a:prstGeom>
          <a:noFill/>
        </p:spPr>
        <p:txBody>
          <a:bodyPr wrap="square" anchor="ctr">
            <a:spAutoFit/>
          </a:bodyPr>
          <a:lstStyle/>
          <a:p>
            <a:pPr algn="l"/>
            <a:r>
              <a:rPr sz="930" b="0">
                <a:solidFill>
                  <a:srgbClr val="55D0C7"/>
                </a:solidFill>
                <a:latin typeface="Aptos"/>
              </a:rPr>
              <a:t>I can build and critically audit a complete scRNA-seq workflow.</a:t>
            </a:r>
          </a:p>
        </p:txBody>
      </p:sp>
      <p:sp>
        <p:nvSpPr>
          <p:cNvPr id="52" name="TextBox 51"/>
          <p:cNvSpPr txBox="1"/>
          <p:nvPr/>
        </p:nvSpPr>
        <p:spPr>
          <a:xfrm>
            <a:off x="11201400" y="6272784"/>
            <a:ext cx="228600" cy="164592"/>
          </a:xfrm>
          <a:prstGeom prst="rect">
            <a:avLst/>
          </a:prstGeom>
          <a:noFill/>
        </p:spPr>
        <p:txBody>
          <a:bodyPr wrap="square" anchor="ctr">
            <a:spAutoFit/>
          </a:bodyPr>
          <a:lstStyle/>
          <a:p>
            <a:pPr algn="r"/>
            <a:r>
              <a:rPr sz="850" b="0">
                <a:solidFill>
                  <a:srgbClr val="7F9AAF"/>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92608"/>
          </a:xfrm>
          <a:prstGeom prst="rect">
            <a:avLst/>
          </a:prstGeom>
          <a:noFill/>
        </p:spPr>
        <p:txBody>
          <a:bodyPr wrap="square" anchor="ctr">
            <a:spAutoFit/>
          </a:bodyPr>
          <a:lstStyle/>
          <a:p>
            <a:pPr algn="l"/>
            <a:r>
              <a:rPr sz="1100" b="1">
                <a:solidFill>
                  <a:srgbClr val="55D0C7"/>
                </a:solidFill>
                <a:latin typeface="Aptos"/>
              </a:rPr>
              <a:t>06 / BIOLOGICAL INTERPRETATION</a:t>
            </a:r>
          </a:p>
        </p:txBody>
      </p:sp>
      <p:sp>
        <p:nvSpPr>
          <p:cNvPr id="3" name="TextBox 2"/>
          <p:cNvSpPr txBox="1"/>
          <p:nvPr/>
        </p:nvSpPr>
        <p:spPr>
          <a:xfrm>
            <a:off x="640080" y="731520"/>
            <a:ext cx="10332720" cy="512064"/>
          </a:xfrm>
          <a:prstGeom prst="rect">
            <a:avLst/>
          </a:prstGeom>
          <a:noFill/>
        </p:spPr>
        <p:txBody>
          <a:bodyPr wrap="square" anchor="ctr">
            <a:spAutoFit/>
          </a:bodyPr>
          <a:lstStyle/>
          <a:p>
            <a:pPr algn="l"/>
            <a:r>
              <a:rPr sz="2300" b="1">
                <a:solidFill>
                  <a:srgbClr val="F4F8FB"/>
                </a:solidFill>
                <a:latin typeface="Aptos Display"/>
              </a:rPr>
              <a:t>WHAT DID SINGLE-CELL RESOLUTION CHANGE BIOLOGICALLY?</a:t>
            </a:r>
          </a:p>
        </p:txBody>
      </p:sp>
      <p:sp>
        <p:nvSpPr>
          <p:cNvPr id="4" name="TextBox 3"/>
          <p:cNvSpPr txBox="1"/>
          <p:nvPr/>
        </p:nvSpPr>
        <p:spPr>
          <a:xfrm>
            <a:off x="640080" y="1252728"/>
            <a:ext cx="9966960" cy="320040"/>
          </a:xfrm>
          <a:prstGeom prst="rect">
            <a:avLst/>
          </a:prstGeom>
          <a:noFill/>
        </p:spPr>
        <p:txBody>
          <a:bodyPr wrap="square" anchor="ctr">
            <a:spAutoFit/>
          </a:bodyPr>
          <a:lstStyle/>
          <a:p>
            <a:pPr algn="l"/>
            <a:r>
              <a:rPr sz="1150" b="0">
                <a:solidFill>
                  <a:srgbClr val="A9BAC6"/>
                </a:solidFill>
                <a:latin typeface="Aptos"/>
              </a:rPr>
              <a:t>The strongest finding is cellular composition; stratifying by cell type changes how expression differences are interpreted.</a:t>
            </a:r>
          </a:p>
        </p:txBody>
      </p:sp>
      <p:sp>
        <p:nvSpPr>
          <p:cNvPr id="5" name="Rounded Rectangle 4"/>
          <p:cNvSpPr/>
          <p:nvPr/>
        </p:nvSpPr>
        <p:spPr>
          <a:xfrm>
            <a:off x="685800" y="1783080"/>
            <a:ext cx="5532120" cy="370332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2560320" cy="201168"/>
          </a:xfrm>
          <a:prstGeom prst="rect">
            <a:avLst/>
          </a:prstGeom>
          <a:noFill/>
        </p:spPr>
        <p:txBody>
          <a:bodyPr wrap="square" anchor="ctr">
            <a:spAutoFit/>
          </a:bodyPr>
          <a:lstStyle/>
          <a:p>
            <a:pPr algn="l"/>
            <a:r>
              <a:rPr sz="1100" b="1">
                <a:solidFill>
                  <a:srgbClr val="55D0C7"/>
                </a:solidFill>
                <a:latin typeface="Aptos"/>
              </a:rPr>
              <a:t>A. RECOVERED CELL COMPOSITION</a:t>
            </a:r>
          </a:p>
        </p:txBody>
      </p:sp>
      <p:sp>
        <p:nvSpPr>
          <p:cNvPr id="7" name="TextBox 6"/>
          <p:cNvSpPr txBox="1"/>
          <p:nvPr/>
        </p:nvSpPr>
        <p:spPr>
          <a:xfrm>
            <a:off x="868680" y="2148840"/>
            <a:ext cx="5029200" cy="228600"/>
          </a:xfrm>
          <a:prstGeom prst="rect">
            <a:avLst/>
          </a:prstGeom>
          <a:noFill/>
        </p:spPr>
        <p:txBody>
          <a:bodyPr wrap="square" anchor="ctr">
            <a:spAutoFit/>
          </a:bodyPr>
          <a:lstStyle/>
          <a:p>
            <a:pPr algn="l"/>
            <a:r>
              <a:rPr sz="950" b="0">
                <a:solidFill>
                  <a:srgbClr val="A9BAC6"/>
                </a:solidFill>
                <a:latin typeface="Aptos"/>
              </a:rPr>
              <a:t>Fractions are among retained annotated cells — not direct tissue abundance.</a:t>
            </a:r>
          </a:p>
        </p:txBody>
      </p:sp>
      <p:sp>
        <p:nvSpPr>
          <p:cNvPr id="8" name="TextBox 7"/>
          <p:cNvSpPr txBox="1"/>
          <p:nvPr/>
        </p:nvSpPr>
        <p:spPr>
          <a:xfrm>
            <a:off x="2194560" y="2359152"/>
            <a:ext cx="1508760" cy="164592"/>
          </a:xfrm>
          <a:prstGeom prst="rect">
            <a:avLst/>
          </a:prstGeom>
          <a:noFill/>
        </p:spPr>
        <p:txBody>
          <a:bodyPr wrap="square" anchor="ctr">
            <a:spAutoFit/>
          </a:bodyPr>
          <a:lstStyle/>
          <a:p>
            <a:pPr algn="ctr"/>
            <a:r>
              <a:rPr sz="1019" b="1">
                <a:solidFill>
                  <a:srgbClr val="F4F8FB"/>
                </a:solidFill>
                <a:latin typeface="Aptos"/>
              </a:rPr>
              <a:t>HCC1</a:t>
            </a:r>
          </a:p>
        </p:txBody>
      </p:sp>
      <p:sp>
        <p:nvSpPr>
          <p:cNvPr id="9" name="TextBox 8"/>
          <p:cNvSpPr txBox="1"/>
          <p:nvPr/>
        </p:nvSpPr>
        <p:spPr>
          <a:xfrm>
            <a:off x="4160520" y="2359152"/>
            <a:ext cx="1508760" cy="164592"/>
          </a:xfrm>
          <a:prstGeom prst="rect">
            <a:avLst/>
          </a:prstGeom>
          <a:noFill/>
        </p:spPr>
        <p:txBody>
          <a:bodyPr wrap="square" anchor="ctr">
            <a:spAutoFit/>
          </a:bodyPr>
          <a:lstStyle/>
          <a:p>
            <a:pPr algn="ctr"/>
            <a:r>
              <a:rPr sz="1019" b="1">
                <a:solidFill>
                  <a:srgbClr val="F4F8FB"/>
                </a:solidFill>
                <a:latin typeface="Aptos"/>
              </a:rPr>
              <a:t>HCC2</a:t>
            </a:r>
          </a:p>
        </p:txBody>
      </p:sp>
      <p:sp>
        <p:nvSpPr>
          <p:cNvPr id="10" name="TextBox 9"/>
          <p:cNvSpPr txBox="1"/>
          <p:nvPr/>
        </p:nvSpPr>
        <p:spPr>
          <a:xfrm>
            <a:off x="960120" y="2660904"/>
            <a:ext cx="1161288" cy="164592"/>
          </a:xfrm>
          <a:prstGeom prst="rect">
            <a:avLst/>
          </a:prstGeom>
          <a:noFill/>
        </p:spPr>
        <p:txBody>
          <a:bodyPr wrap="square" anchor="ctr">
            <a:spAutoFit/>
          </a:bodyPr>
          <a:lstStyle/>
          <a:p>
            <a:pPr algn="l"/>
            <a:r>
              <a:rPr sz="930" b="0">
                <a:solidFill>
                  <a:srgbClr val="F4F8FB"/>
                </a:solidFill>
                <a:latin typeface="Aptos"/>
              </a:rPr>
              <a:t>T cells</a:t>
            </a:r>
          </a:p>
        </p:txBody>
      </p:sp>
      <p:sp>
        <p:nvSpPr>
          <p:cNvPr id="11" name="Rounded Rectangle 10"/>
          <p:cNvSpPr/>
          <p:nvPr/>
        </p:nvSpPr>
        <p:spPr>
          <a:xfrm>
            <a:off x="2194560" y="2642616"/>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94560" y="2642616"/>
            <a:ext cx="275952" cy="164592"/>
          </a:xfrm>
          <a:prstGeom prst="roundRect">
            <a:avLst/>
          </a:prstGeom>
          <a:solidFill>
            <a:srgbClr val="48A3FF"/>
          </a:solidFill>
          <a:ln w="635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0752" y="2624328"/>
            <a:ext cx="393192" cy="182880"/>
          </a:xfrm>
          <a:prstGeom prst="rect">
            <a:avLst/>
          </a:prstGeom>
          <a:noFill/>
        </p:spPr>
        <p:txBody>
          <a:bodyPr wrap="square" anchor="ctr">
            <a:spAutoFit/>
          </a:bodyPr>
          <a:lstStyle/>
          <a:p>
            <a:pPr algn="l"/>
            <a:r>
              <a:rPr sz="830" b="0">
                <a:solidFill>
                  <a:srgbClr val="A9BAC6"/>
                </a:solidFill>
                <a:latin typeface="Aptos"/>
              </a:rPr>
              <a:t>18.29%</a:t>
            </a:r>
          </a:p>
        </p:txBody>
      </p:sp>
      <p:sp>
        <p:nvSpPr>
          <p:cNvPr id="14" name="Rounded Rectangle 13"/>
          <p:cNvSpPr/>
          <p:nvPr/>
        </p:nvSpPr>
        <p:spPr>
          <a:xfrm>
            <a:off x="4160520" y="2642616"/>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160520" y="2642616"/>
            <a:ext cx="1173060" cy="164592"/>
          </a:xfrm>
          <a:prstGeom prst="roundRect">
            <a:avLst/>
          </a:prstGeom>
          <a:solidFill>
            <a:srgbClr val="48A3FF"/>
          </a:solidFill>
          <a:ln w="635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96712" y="2624328"/>
            <a:ext cx="393192" cy="182880"/>
          </a:xfrm>
          <a:prstGeom prst="rect">
            <a:avLst/>
          </a:prstGeom>
          <a:noFill/>
        </p:spPr>
        <p:txBody>
          <a:bodyPr wrap="square" anchor="ctr">
            <a:spAutoFit/>
          </a:bodyPr>
          <a:lstStyle/>
          <a:p>
            <a:pPr algn="l"/>
            <a:r>
              <a:rPr sz="830" b="0">
                <a:solidFill>
                  <a:srgbClr val="A9BAC6"/>
                </a:solidFill>
                <a:latin typeface="Aptos"/>
              </a:rPr>
              <a:t>77.75%</a:t>
            </a:r>
          </a:p>
        </p:txBody>
      </p:sp>
      <p:sp>
        <p:nvSpPr>
          <p:cNvPr id="17" name="TextBox 16"/>
          <p:cNvSpPr txBox="1"/>
          <p:nvPr/>
        </p:nvSpPr>
        <p:spPr>
          <a:xfrm>
            <a:off x="960120" y="3191256"/>
            <a:ext cx="1161288" cy="164592"/>
          </a:xfrm>
          <a:prstGeom prst="rect">
            <a:avLst/>
          </a:prstGeom>
          <a:noFill/>
        </p:spPr>
        <p:txBody>
          <a:bodyPr wrap="square" anchor="ctr">
            <a:spAutoFit/>
          </a:bodyPr>
          <a:lstStyle/>
          <a:p>
            <a:pPr algn="l"/>
            <a:r>
              <a:rPr sz="930" b="0">
                <a:solidFill>
                  <a:srgbClr val="F4F8FB"/>
                </a:solidFill>
                <a:latin typeface="Aptos"/>
              </a:rPr>
              <a:t>Macrophages</a:t>
            </a:r>
          </a:p>
        </p:txBody>
      </p:sp>
      <p:sp>
        <p:nvSpPr>
          <p:cNvPr id="18" name="Rounded Rectangle 17"/>
          <p:cNvSpPr/>
          <p:nvPr/>
        </p:nvSpPr>
        <p:spPr>
          <a:xfrm>
            <a:off x="2194560" y="3172968"/>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94560" y="3172968"/>
            <a:ext cx="779576" cy="164592"/>
          </a:xfrm>
          <a:prstGeom prst="roundRect">
            <a:avLst/>
          </a:prstGeom>
          <a:solidFill>
            <a:srgbClr val="55D0C7"/>
          </a:solidFill>
          <a:ln w="635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30752" y="3154680"/>
            <a:ext cx="393192" cy="182880"/>
          </a:xfrm>
          <a:prstGeom prst="rect">
            <a:avLst/>
          </a:prstGeom>
          <a:noFill/>
        </p:spPr>
        <p:txBody>
          <a:bodyPr wrap="square" anchor="ctr">
            <a:spAutoFit/>
          </a:bodyPr>
          <a:lstStyle/>
          <a:p>
            <a:pPr algn="l"/>
            <a:r>
              <a:rPr sz="830" b="0">
                <a:solidFill>
                  <a:srgbClr val="A9BAC6"/>
                </a:solidFill>
                <a:latin typeface="Aptos"/>
              </a:rPr>
              <a:t>51.67%</a:t>
            </a:r>
          </a:p>
        </p:txBody>
      </p:sp>
      <p:sp>
        <p:nvSpPr>
          <p:cNvPr id="21" name="Rounded Rectangle 20"/>
          <p:cNvSpPr/>
          <p:nvPr/>
        </p:nvSpPr>
        <p:spPr>
          <a:xfrm>
            <a:off x="4160520" y="3172968"/>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160520" y="3172968"/>
            <a:ext cx="8147" cy="164592"/>
          </a:xfrm>
          <a:prstGeom prst="roundRect">
            <a:avLst/>
          </a:prstGeom>
          <a:solidFill>
            <a:srgbClr val="55D0C7"/>
          </a:solidFill>
          <a:ln w="635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96712" y="3154680"/>
            <a:ext cx="393192" cy="182880"/>
          </a:xfrm>
          <a:prstGeom prst="rect">
            <a:avLst/>
          </a:prstGeom>
          <a:noFill/>
        </p:spPr>
        <p:txBody>
          <a:bodyPr wrap="square" anchor="ctr">
            <a:spAutoFit/>
          </a:bodyPr>
          <a:lstStyle/>
          <a:p>
            <a:pPr algn="l"/>
            <a:r>
              <a:rPr sz="830" b="0">
                <a:solidFill>
                  <a:srgbClr val="A9BAC6"/>
                </a:solidFill>
                <a:latin typeface="Aptos"/>
              </a:rPr>
              <a:t>0.54%</a:t>
            </a:r>
          </a:p>
        </p:txBody>
      </p:sp>
      <p:sp>
        <p:nvSpPr>
          <p:cNvPr id="24" name="TextBox 23"/>
          <p:cNvSpPr txBox="1"/>
          <p:nvPr/>
        </p:nvSpPr>
        <p:spPr>
          <a:xfrm>
            <a:off x="960120" y="3721608"/>
            <a:ext cx="1161288" cy="164592"/>
          </a:xfrm>
          <a:prstGeom prst="rect">
            <a:avLst/>
          </a:prstGeom>
          <a:noFill/>
        </p:spPr>
        <p:txBody>
          <a:bodyPr wrap="square" anchor="ctr">
            <a:spAutoFit/>
          </a:bodyPr>
          <a:lstStyle/>
          <a:p>
            <a:pPr algn="l"/>
            <a:r>
              <a:rPr sz="930" b="0">
                <a:solidFill>
                  <a:srgbClr val="F4F8FB"/>
                </a:solidFill>
                <a:latin typeface="Aptos"/>
              </a:rPr>
              <a:t>Hepatocytes</a:t>
            </a:r>
          </a:p>
        </p:txBody>
      </p:sp>
      <p:sp>
        <p:nvSpPr>
          <p:cNvPr id="25" name="Rounded Rectangle 24"/>
          <p:cNvSpPr/>
          <p:nvPr/>
        </p:nvSpPr>
        <p:spPr>
          <a:xfrm>
            <a:off x="2194560" y="3703320"/>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194560" y="3703320"/>
            <a:ext cx="292246" cy="164592"/>
          </a:xfrm>
          <a:prstGeom prst="roundRect">
            <a:avLst/>
          </a:prstGeom>
          <a:solidFill>
            <a:srgbClr val="F6A04D"/>
          </a:solidFill>
          <a:ln w="6350">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0752" y="3685032"/>
            <a:ext cx="393192" cy="182880"/>
          </a:xfrm>
          <a:prstGeom prst="rect">
            <a:avLst/>
          </a:prstGeom>
          <a:noFill/>
        </p:spPr>
        <p:txBody>
          <a:bodyPr wrap="square" anchor="ctr">
            <a:spAutoFit/>
          </a:bodyPr>
          <a:lstStyle/>
          <a:p>
            <a:pPr algn="l"/>
            <a:r>
              <a:rPr sz="830" b="0">
                <a:solidFill>
                  <a:srgbClr val="A9BAC6"/>
                </a:solidFill>
                <a:latin typeface="Aptos"/>
              </a:rPr>
              <a:t>19.37%</a:t>
            </a:r>
          </a:p>
        </p:txBody>
      </p:sp>
      <p:sp>
        <p:nvSpPr>
          <p:cNvPr id="28" name="Rounded Rectangle 27"/>
          <p:cNvSpPr/>
          <p:nvPr/>
        </p:nvSpPr>
        <p:spPr>
          <a:xfrm>
            <a:off x="4160520" y="3703320"/>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60520" y="3703320"/>
            <a:ext cx="301" cy="164592"/>
          </a:xfrm>
          <a:prstGeom prst="roundRect">
            <a:avLst/>
          </a:prstGeom>
          <a:solidFill>
            <a:srgbClr val="F6A04D"/>
          </a:solidFill>
          <a:ln w="6350">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96712" y="3685032"/>
            <a:ext cx="393192" cy="182880"/>
          </a:xfrm>
          <a:prstGeom prst="rect">
            <a:avLst/>
          </a:prstGeom>
          <a:noFill/>
        </p:spPr>
        <p:txBody>
          <a:bodyPr wrap="square" anchor="ctr">
            <a:spAutoFit/>
          </a:bodyPr>
          <a:lstStyle/>
          <a:p>
            <a:pPr algn="l"/>
            <a:r>
              <a:rPr sz="830" b="0">
                <a:solidFill>
                  <a:srgbClr val="A9BAC6"/>
                </a:solidFill>
                <a:latin typeface="Aptos"/>
              </a:rPr>
              <a:t>0.02%</a:t>
            </a:r>
          </a:p>
        </p:txBody>
      </p:sp>
      <p:sp>
        <p:nvSpPr>
          <p:cNvPr id="31" name="TextBox 30"/>
          <p:cNvSpPr txBox="1"/>
          <p:nvPr/>
        </p:nvSpPr>
        <p:spPr>
          <a:xfrm>
            <a:off x="960120" y="4251960"/>
            <a:ext cx="1161288" cy="164592"/>
          </a:xfrm>
          <a:prstGeom prst="rect">
            <a:avLst/>
          </a:prstGeom>
          <a:noFill/>
        </p:spPr>
        <p:txBody>
          <a:bodyPr wrap="square" anchor="ctr">
            <a:spAutoFit/>
          </a:bodyPr>
          <a:lstStyle/>
          <a:p>
            <a:pPr algn="l"/>
            <a:r>
              <a:rPr sz="930" b="0">
                <a:solidFill>
                  <a:srgbClr val="F4F8FB"/>
                </a:solidFill>
                <a:latin typeface="Aptos"/>
              </a:rPr>
              <a:t>B cells</a:t>
            </a:r>
          </a:p>
        </p:txBody>
      </p:sp>
      <p:sp>
        <p:nvSpPr>
          <p:cNvPr id="32" name="Rounded Rectangle 31"/>
          <p:cNvSpPr/>
          <p:nvPr/>
        </p:nvSpPr>
        <p:spPr>
          <a:xfrm>
            <a:off x="2194560" y="4233672"/>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194560" y="4233672"/>
            <a:ext cx="19312" cy="164592"/>
          </a:xfrm>
          <a:prstGeom prst="roundRect">
            <a:avLst/>
          </a:prstGeom>
          <a:solidFill>
            <a:srgbClr val="A78BFA"/>
          </a:solidFill>
          <a:ln w="63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30752" y="4215384"/>
            <a:ext cx="393192" cy="182880"/>
          </a:xfrm>
          <a:prstGeom prst="rect">
            <a:avLst/>
          </a:prstGeom>
          <a:noFill/>
        </p:spPr>
        <p:txBody>
          <a:bodyPr wrap="square" anchor="ctr">
            <a:spAutoFit/>
          </a:bodyPr>
          <a:lstStyle/>
          <a:p>
            <a:pPr algn="l"/>
            <a:r>
              <a:rPr sz="830" b="0">
                <a:solidFill>
                  <a:srgbClr val="A9BAC6"/>
                </a:solidFill>
                <a:latin typeface="Aptos"/>
              </a:rPr>
              <a:t>1.28%</a:t>
            </a:r>
          </a:p>
        </p:txBody>
      </p:sp>
      <p:sp>
        <p:nvSpPr>
          <p:cNvPr id="35" name="Rounded Rectangle 34"/>
          <p:cNvSpPr/>
          <p:nvPr/>
        </p:nvSpPr>
        <p:spPr>
          <a:xfrm>
            <a:off x="4160520" y="4233672"/>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160520" y="4233672"/>
            <a:ext cx="96560" cy="164592"/>
          </a:xfrm>
          <a:prstGeom prst="roundRect">
            <a:avLst/>
          </a:prstGeom>
          <a:solidFill>
            <a:srgbClr val="A78BFA"/>
          </a:solidFill>
          <a:ln w="63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96712" y="4215384"/>
            <a:ext cx="393192" cy="182880"/>
          </a:xfrm>
          <a:prstGeom prst="rect">
            <a:avLst/>
          </a:prstGeom>
          <a:noFill/>
        </p:spPr>
        <p:txBody>
          <a:bodyPr wrap="square" anchor="ctr">
            <a:spAutoFit/>
          </a:bodyPr>
          <a:lstStyle/>
          <a:p>
            <a:pPr algn="l"/>
            <a:r>
              <a:rPr sz="830" b="0">
                <a:solidFill>
                  <a:srgbClr val="A9BAC6"/>
                </a:solidFill>
                <a:latin typeface="Aptos"/>
              </a:rPr>
              <a:t>6.40%</a:t>
            </a:r>
          </a:p>
        </p:txBody>
      </p:sp>
      <p:sp>
        <p:nvSpPr>
          <p:cNvPr id="38" name="TextBox 37"/>
          <p:cNvSpPr txBox="1"/>
          <p:nvPr/>
        </p:nvSpPr>
        <p:spPr>
          <a:xfrm>
            <a:off x="960120" y="4782312"/>
            <a:ext cx="1161288" cy="164592"/>
          </a:xfrm>
          <a:prstGeom prst="rect">
            <a:avLst/>
          </a:prstGeom>
          <a:noFill/>
        </p:spPr>
        <p:txBody>
          <a:bodyPr wrap="square" anchor="ctr">
            <a:spAutoFit/>
          </a:bodyPr>
          <a:lstStyle/>
          <a:p>
            <a:pPr algn="l"/>
            <a:r>
              <a:rPr sz="930" b="0">
                <a:solidFill>
                  <a:srgbClr val="F4F8FB"/>
                </a:solidFill>
                <a:latin typeface="Aptos"/>
              </a:rPr>
              <a:t>Fibroblasts</a:t>
            </a:r>
          </a:p>
        </p:txBody>
      </p:sp>
      <p:sp>
        <p:nvSpPr>
          <p:cNvPr id="39" name="Rounded Rectangle 38"/>
          <p:cNvSpPr/>
          <p:nvPr/>
        </p:nvSpPr>
        <p:spPr>
          <a:xfrm>
            <a:off x="2194560" y="4764024"/>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194560" y="4764024"/>
            <a:ext cx="31382" cy="164592"/>
          </a:xfrm>
          <a:prstGeom prst="roundRect">
            <a:avLst/>
          </a:prstGeom>
          <a:solidFill>
            <a:srgbClr val="7AD17A"/>
          </a:solidFill>
          <a:ln w="6350">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30752" y="4745736"/>
            <a:ext cx="393192" cy="182880"/>
          </a:xfrm>
          <a:prstGeom prst="rect">
            <a:avLst/>
          </a:prstGeom>
          <a:noFill/>
        </p:spPr>
        <p:txBody>
          <a:bodyPr wrap="square" anchor="ctr">
            <a:spAutoFit/>
          </a:bodyPr>
          <a:lstStyle/>
          <a:p>
            <a:pPr algn="l"/>
            <a:r>
              <a:rPr sz="830" b="0">
                <a:solidFill>
                  <a:srgbClr val="A9BAC6"/>
                </a:solidFill>
                <a:latin typeface="Aptos"/>
              </a:rPr>
              <a:t>2.08%</a:t>
            </a:r>
          </a:p>
        </p:txBody>
      </p:sp>
      <p:sp>
        <p:nvSpPr>
          <p:cNvPr id="42" name="Rounded Rectangle 41"/>
          <p:cNvSpPr/>
          <p:nvPr/>
        </p:nvSpPr>
        <p:spPr>
          <a:xfrm>
            <a:off x="4160520" y="4764024"/>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160520" y="4764024"/>
            <a:ext cx="31683" cy="164592"/>
          </a:xfrm>
          <a:prstGeom prst="roundRect">
            <a:avLst/>
          </a:prstGeom>
          <a:solidFill>
            <a:srgbClr val="7AD17A"/>
          </a:solidFill>
          <a:ln w="6350">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96712" y="4745736"/>
            <a:ext cx="393192" cy="182880"/>
          </a:xfrm>
          <a:prstGeom prst="rect">
            <a:avLst/>
          </a:prstGeom>
          <a:noFill/>
        </p:spPr>
        <p:txBody>
          <a:bodyPr wrap="square" anchor="ctr">
            <a:spAutoFit/>
          </a:bodyPr>
          <a:lstStyle/>
          <a:p>
            <a:pPr algn="l"/>
            <a:r>
              <a:rPr sz="830" b="0">
                <a:solidFill>
                  <a:srgbClr val="A9BAC6"/>
                </a:solidFill>
                <a:latin typeface="Aptos"/>
              </a:rPr>
              <a:t>2.10%</a:t>
            </a:r>
          </a:p>
        </p:txBody>
      </p:sp>
      <p:sp>
        <p:nvSpPr>
          <p:cNvPr id="45" name="Rounded Rectangle 44"/>
          <p:cNvSpPr/>
          <p:nvPr/>
        </p:nvSpPr>
        <p:spPr>
          <a:xfrm>
            <a:off x="868680" y="4846320"/>
            <a:ext cx="5166360" cy="43891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4919472"/>
            <a:ext cx="4892040" cy="164592"/>
          </a:xfrm>
          <a:prstGeom prst="rect">
            <a:avLst/>
          </a:prstGeom>
          <a:noFill/>
        </p:spPr>
        <p:txBody>
          <a:bodyPr wrap="square" anchor="ctr">
            <a:spAutoFit/>
          </a:bodyPr>
          <a:lstStyle/>
          <a:p>
            <a:pPr algn="ctr"/>
            <a:r>
              <a:rPr sz="940" b="1">
                <a:solidFill>
                  <a:srgbClr val="55D0C7"/>
                </a:solidFill>
                <a:latin typeface="Aptos"/>
              </a:rPr>
              <a:t>HCC2 is T-cell dominated, whereas HCC1 contains many more macrophage- and hepatocyte-labelled cells.</a:t>
            </a:r>
          </a:p>
        </p:txBody>
      </p:sp>
      <p:sp>
        <p:nvSpPr>
          <p:cNvPr id="47" name="Rounded Rectangle 46"/>
          <p:cNvSpPr/>
          <p:nvPr/>
        </p:nvSpPr>
        <p:spPr>
          <a:xfrm>
            <a:off x="6400800" y="1783080"/>
            <a:ext cx="4937760" cy="370332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1920240"/>
            <a:ext cx="2743200" cy="201168"/>
          </a:xfrm>
          <a:prstGeom prst="rect">
            <a:avLst/>
          </a:prstGeom>
          <a:noFill/>
        </p:spPr>
        <p:txBody>
          <a:bodyPr wrap="square" anchor="ctr">
            <a:spAutoFit/>
          </a:bodyPr>
          <a:lstStyle/>
          <a:p>
            <a:pPr algn="l"/>
            <a:r>
              <a:rPr sz="1100" b="1">
                <a:solidFill>
                  <a:srgbClr val="55D0C7"/>
                </a:solidFill>
                <a:latin typeface="Aptos"/>
              </a:rPr>
              <a:t>B. WHY CELL-TYPE STRATIFICATION MATTERS</a:t>
            </a:r>
          </a:p>
        </p:txBody>
      </p:sp>
      <p:sp>
        <p:nvSpPr>
          <p:cNvPr id="49" name="TextBox 48"/>
          <p:cNvSpPr txBox="1"/>
          <p:nvPr/>
        </p:nvSpPr>
        <p:spPr>
          <a:xfrm>
            <a:off x="6601968" y="2148840"/>
            <a:ext cx="4297680" cy="228600"/>
          </a:xfrm>
          <a:prstGeom prst="rect">
            <a:avLst/>
          </a:prstGeom>
          <a:noFill/>
        </p:spPr>
        <p:txBody>
          <a:bodyPr wrap="square" anchor="ctr">
            <a:spAutoFit/>
          </a:bodyPr>
          <a:lstStyle/>
          <a:p>
            <a:pPr algn="l"/>
            <a:r>
              <a:rPr sz="950" b="0">
                <a:solidFill>
                  <a:srgbClr val="A9BAC6"/>
                </a:solidFill>
                <a:latin typeface="Aptos"/>
              </a:rPr>
              <a:t>Example: broad T-cell comparison</a:t>
            </a:r>
          </a:p>
        </p:txBody>
      </p:sp>
      <p:sp>
        <p:nvSpPr>
          <p:cNvPr id="50" name="Rounded Rectangle 49"/>
          <p:cNvSpPr/>
          <p:nvPr/>
        </p:nvSpPr>
        <p:spPr>
          <a:xfrm>
            <a:off x="6675120" y="2514600"/>
            <a:ext cx="105156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93408" y="2542032"/>
            <a:ext cx="1014984" cy="329184"/>
          </a:xfrm>
          <a:prstGeom prst="rect">
            <a:avLst/>
          </a:prstGeom>
          <a:noFill/>
        </p:spPr>
        <p:txBody>
          <a:bodyPr wrap="square" anchor="ctr">
            <a:spAutoFit/>
          </a:bodyPr>
          <a:lstStyle/>
          <a:p>
            <a:pPr algn="ctr"/>
            <a:r>
              <a:rPr sz="880" b="1">
                <a:solidFill>
                  <a:srgbClr val="F4F8FB"/>
                </a:solidFill>
                <a:latin typeface="Aptos"/>
              </a:rPr>
              <a:t>Marker</a:t>
            </a:r>
          </a:p>
        </p:txBody>
      </p:sp>
      <p:sp>
        <p:nvSpPr>
          <p:cNvPr id="52" name="Rounded Rectangle 51"/>
          <p:cNvSpPr/>
          <p:nvPr/>
        </p:nvSpPr>
        <p:spPr>
          <a:xfrm>
            <a:off x="7726680" y="2514600"/>
            <a:ext cx="100584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44968" y="2542032"/>
            <a:ext cx="969264" cy="329184"/>
          </a:xfrm>
          <a:prstGeom prst="rect">
            <a:avLst/>
          </a:prstGeom>
          <a:noFill/>
        </p:spPr>
        <p:txBody>
          <a:bodyPr wrap="square" anchor="ctr">
            <a:spAutoFit/>
          </a:bodyPr>
          <a:lstStyle/>
          <a:p>
            <a:pPr algn="ctr"/>
            <a:r>
              <a:rPr sz="880" b="1">
                <a:solidFill>
                  <a:srgbClr val="F4F8FB"/>
                </a:solidFill>
                <a:latin typeface="Aptos"/>
              </a:rPr>
              <a:t>Pooled
log2FC</a:t>
            </a:r>
          </a:p>
        </p:txBody>
      </p:sp>
      <p:sp>
        <p:nvSpPr>
          <p:cNvPr id="54" name="Rounded Rectangle 53"/>
          <p:cNvSpPr/>
          <p:nvPr/>
        </p:nvSpPr>
        <p:spPr>
          <a:xfrm>
            <a:off x="8732520" y="2514600"/>
            <a:ext cx="114300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50808" y="2542032"/>
            <a:ext cx="1106424" cy="329184"/>
          </a:xfrm>
          <a:prstGeom prst="rect">
            <a:avLst/>
          </a:prstGeom>
          <a:noFill/>
        </p:spPr>
        <p:txBody>
          <a:bodyPr wrap="square" anchor="ctr">
            <a:spAutoFit/>
          </a:bodyPr>
          <a:lstStyle/>
          <a:p>
            <a:pPr algn="ctr"/>
            <a:r>
              <a:rPr sz="880" b="1">
                <a:solidFill>
                  <a:srgbClr val="F4F8FB"/>
                </a:solidFill>
                <a:latin typeface="Aptos"/>
              </a:rPr>
              <a:t>Within T cells
log2FC</a:t>
            </a:r>
          </a:p>
        </p:txBody>
      </p:sp>
      <p:sp>
        <p:nvSpPr>
          <p:cNvPr id="56" name="Rounded Rectangle 55"/>
          <p:cNvSpPr/>
          <p:nvPr/>
        </p:nvSpPr>
        <p:spPr>
          <a:xfrm>
            <a:off x="9875520" y="2514600"/>
            <a:ext cx="141732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93808" y="2542032"/>
            <a:ext cx="1380744" cy="329184"/>
          </a:xfrm>
          <a:prstGeom prst="rect">
            <a:avLst/>
          </a:prstGeom>
          <a:noFill/>
        </p:spPr>
        <p:txBody>
          <a:bodyPr wrap="square" anchor="ctr">
            <a:spAutoFit/>
          </a:bodyPr>
          <a:lstStyle/>
          <a:p>
            <a:pPr algn="ctr"/>
            <a:r>
              <a:rPr sz="880" b="1">
                <a:solidFill>
                  <a:srgbClr val="F4F8FB"/>
                </a:solidFill>
                <a:latin typeface="Aptos"/>
              </a:rPr>
              <a:t>Interpretation</a:t>
            </a:r>
          </a:p>
        </p:txBody>
      </p:sp>
      <p:sp>
        <p:nvSpPr>
          <p:cNvPr id="58" name="Rounded Rectangle 57"/>
          <p:cNvSpPr/>
          <p:nvPr/>
        </p:nvSpPr>
        <p:spPr>
          <a:xfrm>
            <a:off x="6675120" y="2898648"/>
            <a:ext cx="105156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11696" y="2953512"/>
            <a:ext cx="978408" cy="457200"/>
          </a:xfrm>
          <a:prstGeom prst="rect">
            <a:avLst/>
          </a:prstGeom>
          <a:noFill/>
        </p:spPr>
        <p:txBody>
          <a:bodyPr wrap="square" anchor="ctr">
            <a:spAutoFit/>
          </a:bodyPr>
          <a:lstStyle/>
          <a:p>
            <a:pPr algn="ctr"/>
            <a:r>
              <a:rPr sz="900" b="1">
                <a:solidFill>
                  <a:srgbClr val="F4F8FB"/>
                </a:solidFill>
                <a:latin typeface="Aptos"/>
              </a:rPr>
              <a:t>CD8A</a:t>
            </a:r>
          </a:p>
        </p:txBody>
      </p:sp>
      <p:sp>
        <p:nvSpPr>
          <p:cNvPr id="60" name="Rounded Rectangle 59"/>
          <p:cNvSpPr/>
          <p:nvPr/>
        </p:nvSpPr>
        <p:spPr>
          <a:xfrm>
            <a:off x="7726680" y="2898648"/>
            <a:ext cx="100584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63256" y="2953512"/>
            <a:ext cx="932688" cy="457200"/>
          </a:xfrm>
          <a:prstGeom prst="rect">
            <a:avLst/>
          </a:prstGeom>
          <a:noFill/>
        </p:spPr>
        <p:txBody>
          <a:bodyPr wrap="square" anchor="ctr">
            <a:spAutoFit/>
          </a:bodyPr>
          <a:lstStyle/>
          <a:p>
            <a:pPr algn="ctr"/>
            <a:r>
              <a:rPr sz="900" b="0">
                <a:solidFill>
                  <a:srgbClr val="A9BAC6"/>
                </a:solidFill>
                <a:latin typeface="Aptos"/>
              </a:rPr>
              <a:t>+4.469</a:t>
            </a:r>
          </a:p>
        </p:txBody>
      </p:sp>
      <p:sp>
        <p:nvSpPr>
          <p:cNvPr id="62" name="Rounded Rectangle 61"/>
          <p:cNvSpPr/>
          <p:nvPr/>
        </p:nvSpPr>
        <p:spPr>
          <a:xfrm>
            <a:off x="8732520" y="2898648"/>
            <a:ext cx="114300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69096" y="2953512"/>
            <a:ext cx="1069848" cy="457200"/>
          </a:xfrm>
          <a:prstGeom prst="rect">
            <a:avLst/>
          </a:prstGeom>
          <a:noFill/>
        </p:spPr>
        <p:txBody>
          <a:bodyPr wrap="square" anchor="ctr">
            <a:spAutoFit/>
          </a:bodyPr>
          <a:lstStyle/>
          <a:p>
            <a:pPr algn="ctr"/>
            <a:r>
              <a:rPr sz="900" b="0">
                <a:solidFill>
                  <a:srgbClr val="A9BAC6"/>
                </a:solidFill>
                <a:latin typeface="Aptos"/>
              </a:rPr>
              <a:t>+2.495</a:t>
            </a:r>
          </a:p>
        </p:txBody>
      </p:sp>
      <p:sp>
        <p:nvSpPr>
          <p:cNvPr id="64" name="Rounded Rectangle 63"/>
          <p:cNvSpPr/>
          <p:nvPr/>
        </p:nvSpPr>
        <p:spPr>
          <a:xfrm>
            <a:off x="9875520" y="2898648"/>
            <a:ext cx="141732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12096" y="2953512"/>
            <a:ext cx="1344168" cy="457200"/>
          </a:xfrm>
          <a:prstGeom prst="rect">
            <a:avLst/>
          </a:prstGeom>
          <a:noFill/>
        </p:spPr>
        <p:txBody>
          <a:bodyPr wrap="square" anchor="ctr">
            <a:spAutoFit/>
          </a:bodyPr>
          <a:lstStyle/>
          <a:p>
            <a:pPr algn="ctr"/>
            <a:r>
              <a:rPr sz="860" b="0">
                <a:solidFill>
                  <a:srgbClr val="A9BAC6"/>
                </a:solidFill>
                <a:latin typeface="Aptos"/>
              </a:rPr>
              <a:t>Higher CD8-associated
expression persists</a:t>
            </a:r>
          </a:p>
        </p:txBody>
      </p:sp>
      <p:sp>
        <p:nvSpPr>
          <p:cNvPr id="66" name="Rounded Rectangle 65"/>
          <p:cNvSpPr/>
          <p:nvPr/>
        </p:nvSpPr>
        <p:spPr>
          <a:xfrm>
            <a:off x="6675120" y="3474720"/>
            <a:ext cx="105156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711696" y="3529584"/>
            <a:ext cx="978408" cy="457200"/>
          </a:xfrm>
          <a:prstGeom prst="rect">
            <a:avLst/>
          </a:prstGeom>
          <a:noFill/>
        </p:spPr>
        <p:txBody>
          <a:bodyPr wrap="square" anchor="ctr">
            <a:spAutoFit/>
          </a:bodyPr>
          <a:lstStyle/>
          <a:p>
            <a:pPr algn="ctr"/>
            <a:r>
              <a:rPr sz="900" b="1">
                <a:solidFill>
                  <a:srgbClr val="F4F8FB"/>
                </a:solidFill>
                <a:latin typeface="Aptos"/>
              </a:rPr>
              <a:t>PDCD1</a:t>
            </a:r>
          </a:p>
        </p:txBody>
      </p:sp>
      <p:sp>
        <p:nvSpPr>
          <p:cNvPr id="68" name="Rounded Rectangle 67"/>
          <p:cNvSpPr/>
          <p:nvPr/>
        </p:nvSpPr>
        <p:spPr>
          <a:xfrm>
            <a:off x="7726680" y="3474720"/>
            <a:ext cx="100584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63256" y="3529584"/>
            <a:ext cx="932688" cy="457200"/>
          </a:xfrm>
          <a:prstGeom prst="rect">
            <a:avLst/>
          </a:prstGeom>
          <a:noFill/>
        </p:spPr>
        <p:txBody>
          <a:bodyPr wrap="square" anchor="ctr">
            <a:spAutoFit/>
          </a:bodyPr>
          <a:lstStyle/>
          <a:p>
            <a:pPr algn="ctr"/>
            <a:r>
              <a:rPr sz="900" b="0">
                <a:solidFill>
                  <a:srgbClr val="A9BAC6"/>
                </a:solidFill>
                <a:latin typeface="Aptos"/>
              </a:rPr>
              <a:t>+3.541</a:t>
            </a:r>
          </a:p>
        </p:txBody>
      </p:sp>
      <p:sp>
        <p:nvSpPr>
          <p:cNvPr id="70" name="Rounded Rectangle 69"/>
          <p:cNvSpPr/>
          <p:nvPr/>
        </p:nvSpPr>
        <p:spPr>
          <a:xfrm>
            <a:off x="8732520" y="3474720"/>
            <a:ext cx="114300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769096" y="3529584"/>
            <a:ext cx="1069848" cy="457200"/>
          </a:xfrm>
          <a:prstGeom prst="rect">
            <a:avLst/>
          </a:prstGeom>
          <a:noFill/>
        </p:spPr>
        <p:txBody>
          <a:bodyPr wrap="square" anchor="ctr">
            <a:spAutoFit/>
          </a:bodyPr>
          <a:lstStyle/>
          <a:p>
            <a:pPr algn="ctr"/>
            <a:r>
              <a:rPr sz="900" b="0">
                <a:solidFill>
                  <a:srgbClr val="A9BAC6"/>
                </a:solidFill>
                <a:latin typeface="Aptos"/>
              </a:rPr>
              <a:t>+1.700</a:t>
            </a:r>
          </a:p>
        </p:txBody>
      </p:sp>
      <p:sp>
        <p:nvSpPr>
          <p:cNvPr id="72" name="Rounded Rectangle 71"/>
          <p:cNvSpPr/>
          <p:nvPr/>
        </p:nvSpPr>
        <p:spPr>
          <a:xfrm>
            <a:off x="9875520" y="3474720"/>
            <a:ext cx="141732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12096" y="3529584"/>
            <a:ext cx="1344168" cy="457200"/>
          </a:xfrm>
          <a:prstGeom prst="rect">
            <a:avLst/>
          </a:prstGeom>
          <a:noFill/>
        </p:spPr>
        <p:txBody>
          <a:bodyPr wrap="square" anchor="ctr">
            <a:spAutoFit/>
          </a:bodyPr>
          <a:lstStyle/>
          <a:p>
            <a:pPr algn="ctr"/>
            <a:r>
              <a:rPr sz="860" b="0">
                <a:solidFill>
                  <a:srgbClr val="A9BAC6"/>
                </a:solidFill>
                <a:latin typeface="Aptos"/>
              </a:rPr>
              <a:t>Checkpoint-associated
signal remains</a:t>
            </a:r>
          </a:p>
        </p:txBody>
      </p:sp>
      <p:sp>
        <p:nvSpPr>
          <p:cNvPr id="74" name="Rounded Rectangle 73"/>
          <p:cNvSpPr/>
          <p:nvPr/>
        </p:nvSpPr>
        <p:spPr>
          <a:xfrm>
            <a:off x="6675120" y="4050792"/>
            <a:ext cx="105156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711696" y="4105656"/>
            <a:ext cx="978408" cy="457200"/>
          </a:xfrm>
          <a:prstGeom prst="rect">
            <a:avLst/>
          </a:prstGeom>
          <a:noFill/>
        </p:spPr>
        <p:txBody>
          <a:bodyPr wrap="square" anchor="ctr">
            <a:spAutoFit/>
          </a:bodyPr>
          <a:lstStyle/>
          <a:p>
            <a:pPr algn="ctr"/>
            <a:r>
              <a:rPr sz="900" b="1">
                <a:solidFill>
                  <a:srgbClr val="F4F8FB"/>
                </a:solidFill>
                <a:latin typeface="Aptos"/>
              </a:rPr>
              <a:t>IFNG</a:t>
            </a:r>
          </a:p>
        </p:txBody>
      </p:sp>
      <p:sp>
        <p:nvSpPr>
          <p:cNvPr id="76" name="Rounded Rectangle 75"/>
          <p:cNvSpPr/>
          <p:nvPr/>
        </p:nvSpPr>
        <p:spPr>
          <a:xfrm>
            <a:off x="7726680" y="4050792"/>
            <a:ext cx="100584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63256" y="4105656"/>
            <a:ext cx="932688" cy="457200"/>
          </a:xfrm>
          <a:prstGeom prst="rect">
            <a:avLst/>
          </a:prstGeom>
          <a:noFill/>
        </p:spPr>
        <p:txBody>
          <a:bodyPr wrap="square" anchor="ctr">
            <a:spAutoFit/>
          </a:bodyPr>
          <a:lstStyle/>
          <a:p>
            <a:pPr algn="ctr"/>
            <a:r>
              <a:rPr sz="900" b="0">
                <a:solidFill>
                  <a:srgbClr val="A9BAC6"/>
                </a:solidFill>
                <a:latin typeface="Aptos"/>
              </a:rPr>
              <a:t>+2.329</a:t>
            </a:r>
          </a:p>
        </p:txBody>
      </p:sp>
      <p:sp>
        <p:nvSpPr>
          <p:cNvPr id="78" name="Rounded Rectangle 77"/>
          <p:cNvSpPr/>
          <p:nvPr/>
        </p:nvSpPr>
        <p:spPr>
          <a:xfrm>
            <a:off x="8732520" y="4050792"/>
            <a:ext cx="114300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769096" y="4105656"/>
            <a:ext cx="1069848" cy="457200"/>
          </a:xfrm>
          <a:prstGeom prst="rect">
            <a:avLst/>
          </a:prstGeom>
          <a:noFill/>
        </p:spPr>
        <p:txBody>
          <a:bodyPr wrap="square" anchor="ctr">
            <a:spAutoFit/>
          </a:bodyPr>
          <a:lstStyle/>
          <a:p>
            <a:pPr algn="ctr"/>
            <a:r>
              <a:rPr sz="900" b="0">
                <a:solidFill>
                  <a:srgbClr val="A9BAC6"/>
                </a:solidFill>
                <a:latin typeface="Aptos"/>
              </a:rPr>
              <a:t>+0.116
(ns)</a:t>
            </a:r>
          </a:p>
        </p:txBody>
      </p:sp>
      <p:sp>
        <p:nvSpPr>
          <p:cNvPr id="80" name="Rounded Rectangle 79"/>
          <p:cNvSpPr/>
          <p:nvPr/>
        </p:nvSpPr>
        <p:spPr>
          <a:xfrm>
            <a:off x="9875520" y="4050792"/>
            <a:ext cx="141732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12096" y="4105656"/>
            <a:ext cx="1344168" cy="457200"/>
          </a:xfrm>
          <a:prstGeom prst="rect">
            <a:avLst/>
          </a:prstGeom>
          <a:noFill/>
        </p:spPr>
        <p:txBody>
          <a:bodyPr wrap="square" anchor="ctr">
            <a:spAutoFit/>
          </a:bodyPr>
          <a:lstStyle/>
          <a:p>
            <a:pPr algn="ctr"/>
            <a:r>
              <a:rPr sz="860" b="0">
                <a:solidFill>
                  <a:srgbClr val="A9BAC6"/>
                </a:solidFill>
                <a:latin typeface="Aptos"/>
              </a:rPr>
              <a:t>Pooled increase largely
reflects composition</a:t>
            </a:r>
          </a:p>
        </p:txBody>
      </p:sp>
      <p:sp>
        <p:nvSpPr>
          <p:cNvPr id="82" name="Rounded Rectangle 81"/>
          <p:cNvSpPr/>
          <p:nvPr/>
        </p:nvSpPr>
        <p:spPr>
          <a:xfrm>
            <a:off x="6601968" y="4572000"/>
            <a:ext cx="4553712" cy="73152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784848" y="4636008"/>
            <a:ext cx="1554480" cy="164592"/>
          </a:xfrm>
          <a:prstGeom prst="rect">
            <a:avLst/>
          </a:prstGeom>
          <a:noFill/>
        </p:spPr>
        <p:txBody>
          <a:bodyPr wrap="square" anchor="ctr">
            <a:spAutoFit/>
          </a:bodyPr>
          <a:lstStyle/>
          <a:p>
            <a:pPr algn="l"/>
            <a:r>
              <a:rPr sz="1000" b="1">
                <a:solidFill>
                  <a:srgbClr val="F4F8FB"/>
                </a:solidFill>
                <a:latin typeface="Aptos"/>
              </a:rPr>
              <a:t>Selected pathway themes</a:t>
            </a:r>
          </a:p>
        </p:txBody>
      </p:sp>
      <p:sp>
        <p:nvSpPr>
          <p:cNvPr id="84" name="TextBox 83"/>
          <p:cNvSpPr txBox="1"/>
          <p:nvPr/>
        </p:nvSpPr>
        <p:spPr>
          <a:xfrm>
            <a:off x="6784848" y="4837176"/>
            <a:ext cx="4206240" cy="274320"/>
          </a:xfrm>
          <a:prstGeom prst="rect">
            <a:avLst/>
          </a:prstGeom>
          <a:noFill/>
        </p:spPr>
        <p:txBody>
          <a:bodyPr wrap="square" anchor="t">
            <a:spAutoFit/>
          </a:bodyPr>
          <a:lstStyle/>
          <a:p>
            <a:pPr algn="l"/>
            <a:r>
              <a:rPr sz="890" b="0">
                <a:solidFill>
                  <a:srgbClr val="A9BAC6"/>
                </a:solidFill>
                <a:latin typeface="Aptos"/>
              </a:rPr>
              <a:t>T cells: ↑ chemokine / FoxO, ↓ oxidative phosphorylation
Fibroblasts: provisional contractile / actomyosin program</a:t>
            </a:r>
          </a:p>
        </p:txBody>
      </p:sp>
      <p:sp>
        <p:nvSpPr>
          <p:cNvPr id="85" name="Rounded Rectangle 84"/>
          <p:cNvSpPr/>
          <p:nvPr/>
        </p:nvSpPr>
        <p:spPr>
          <a:xfrm>
            <a:off x="841248" y="5596128"/>
            <a:ext cx="10222992" cy="53035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5840" y="5669280"/>
            <a:ext cx="9875520" cy="164592"/>
          </a:xfrm>
          <a:prstGeom prst="rect">
            <a:avLst/>
          </a:prstGeom>
          <a:noFill/>
        </p:spPr>
        <p:txBody>
          <a:bodyPr wrap="square" anchor="ctr">
            <a:spAutoFit/>
          </a:bodyPr>
          <a:lstStyle/>
          <a:p>
            <a:pPr algn="ctr"/>
            <a:r>
              <a:rPr sz="950" b="0">
                <a:solidFill>
                  <a:srgbClr val="F4F8FB"/>
                </a:solidFill>
                <a:latin typeface="Aptos"/>
              </a:rPr>
              <a:t>Interpretation is exploratory: one sample per group, composition confounding, and possible ambient RNA (e.g., widespread ALB signal).</a:t>
            </a:r>
          </a:p>
        </p:txBody>
      </p:sp>
      <p:sp>
        <p:nvSpPr>
          <p:cNvPr id="87" name="TextBox 86"/>
          <p:cNvSpPr txBox="1"/>
          <p:nvPr/>
        </p:nvSpPr>
        <p:spPr>
          <a:xfrm>
            <a:off x="11201400" y="6272784"/>
            <a:ext cx="228600" cy="164592"/>
          </a:xfrm>
          <a:prstGeom prst="rect">
            <a:avLst/>
          </a:prstGeom>
          <a:noFill/>
        </p:spPr>
        <p:txBody>
          <a:bodyPr wrap="square" anchor="ctr">
            <a:spAutoFit/>
          </a:bodyPr>
          <a:lstStyle/>
          <a:p>
            <a:pPr algn="r"/>
            <a:r>
              <a:rPr sz="850" b="0">
                <a:solidFill>
                  <a:srgbClr val="7F9AAF"/>
                </a:solidFill>
                <a:latin typeface="Aptos"/>
              </a:rPr>
              <a:t>6</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60CA22-ED22-4F4C-9612-7308DA3B98ED}"/>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09 / OMICSAGE SPATIAL CASE STUDY</a:t>
            </a:r>
          </a:p>
        </p:txBody>
      </p:sp>
      <p:sp>
        <p:nvSpPr>
          <p:cNvPr id="2" name="">
            <a:extLst xmlns:a="http://schemas.openxmlformats.org/drawingml/2006/main">
              <a:ext uri="{FF2B5EF4-FFF2-40B4-BE49-F238E27FC236}">
                <a16:creationId xmlns:a16="http://schemas.microsoft.com/office/drawing/2014/main" id="{48EE2CCA-78AC-4A72-8A31-3115567D20C2}"/>
              </a:ext>
            </a:extLst>
          </p:cNvPr>
          <p:cNvSpPr>
            <a:spLocks xmlns:a="http://schemas.openxmlformats.org/drawingml/2006/main" noGrp="1"/>
          </p:cNvSpPr>
          <p:nvPr/>
        </p:nvSpPr>
        <p:spPr>
          <a:xfrm xmlns:a="http://schemas.openxmlformats.org/drawingml/2006/main">
            <a:off x="571500" y="7334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Control-heart spatial transcriptomics</a:t>
            </a:r>
          </a:p>
        </p:txBody>
      </p:sp>
      <p:sp>
        <p:nvSpPr>
          <p:cNvPr id="3" name="">
            <a:extLst xmlns:a="http://schemas.openxmlformats.org/drawingml/2006/main">
              <a:ext uri="{FF2B5EF4-FFF2-40B4-BE49-F238E27FC236}">
                <a16:creationId xmlns:a16="http://schemas.microsoft.com/office/drawing/2014/main" id="{343964B0-E886-4616-861F-4FA2F955E84E}"/>
              </a:ext>
            </a:extLst>
          </p:cNvPr>
          <p:cNvSpPr>
            <a:spLocks xmlns:a="http://schemas.openxmlformats.org/drawingml/2006/main" noGrp="1"/>
          </p:cNvSpPr>
          <p:nvPr/>
        </p:nvSpPr>
        <p:spPr>
          <a:xfrm xmlns:a="http://schemas.openxmlformats.org/drawingml/2006/main">
            <a:off x="571500" y="1371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Kuppe et al., Nature 2022 · Visium + single-nucleus reference · four sections</a:t>
            </a:r>
          </a:p>
        </p:txBody>
      </p:sp>
      <p:sp>
        <p:nvSpPr>
          <p:cNvPr id="4" name="">
            <a:extLst xmlns:a="http://schemas.openxmlformats.org/drawingml/2006/main">
              <a:ext uri="{FF2B5EF4-FFF2-40B4-BE49-F238E27FC236}">
                <a16:creationId xmlns:a16="http://schemas.microsoft.com/office/drawing/2014/main" id="{82549C0B-DE47-43EF-8D01-A7645C4E4217}"/>
              </a:ext>
            </a:extLst>
          </p:cNvPr>
          <p:cNvSpPr>
            <a:spLocks xmlns:a="http://schemas.openxmlformats.org/drawingml/2006/main" noGrp="1"/>
          </p:cNvSpPr>
          <p:nvPr/>
        </p:nvSpPr>
        <p:spPr>
          <a:xfrm xmlns:a="http://schemas.openxmlformats.org/drawingml/2006/main">
            <a:off x="11239500"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9419FFE7-453E-4190-AA68-62E0384BC6D6}"/>
              </a:ext>
            </a:extLst>
          </p:cNvPr>
          <p:cNvSpPr>
            <a:spLocks xmlns:a="http://schemas.openxmlformats.org/drawingml/2006/main" noGrp="1"/>
          </p:cNvSpPr>
          <p:nvPr/>
        </p:nvSpPr>
        <p:spPr>
          <a:xfrm xmlns:a="http://schemas.openxmlformats.org/drawingml/2006/main">
            <a:off x="571500" y="19907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QUESTION AND EXECUTED WORKFLOW</a:t>
            </a:r>
          </a:p>
        </p:txBody>
      </p:sp>
      <p:sp>
        <p:nvSpPr>
          <p:cNvPr id="6" name="">
            <a:extLst xmlns:a="http://schemas.openxmlformats.org/drawingml/2006/main">
              <a:ext uri="{FF2B5EF4-FFF2-40B4-BE49-F238E27FC236}">
                <a16:creationId xmlns:a16="http://schemas.microsoft.com/office/drawing/2014/main" id="{C6B8131A-9087-4A85-9DE2-C259B5F93E42}"/>
              </a:ext>
            </a:extLst>
          </p:cNvPr>
          <p:cNvSpPr>
            <a:spLocks xmlns:a="http://schemas.openxmlformats.org/drawingml/2006/main" noGrp="1"/>
          </p:cNvSpPr>
          <p:nvPr/>
        </p:nvSpPr>
        <p:spPr>
          <a:xfrm xmlns:a="http://schemas.openxmlformats.org/drawingml/2006/main">
            <a:off x="571500" y="2438400"/>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4F8FB"/>
                </a:solidFill>
                <a:latin typeface="Aptos"/>
                <a:ea typeface="Aptos"/>
                <a:cs typeface="Aptos"/>
              </a:defRPr>
            </a:pPr>
            <a:r>
              <a:rPr sz="1725" b="1">
                <a:solidFill>
                  <a:srgbClr val="F4F8FB"/>
                </a:solidFill>
                <a:latin typeface="Aptos"/>
                <a:ea typeface="Aptos"/>
                <a:cs typeface="Aptos"/>
              </a:rPr>
              <a:t>Can spatial expression and reference signatures</a:t>
            </a:r>
          </a:p>
          <a:p xmlns:a="http://schemas.openxmlformats.org/drawingml/2006/main">
            <a:pPr>
              <a:defRPr sz="1725" b="1">
                <a:solidFill>
                  <a:srgbClr val="F4F8FB"/>
                </a:solidFill>
                <a:latin typeface="Aptos"/>
                <a:ea typeface="Aptos"/>
                <a:cs typeface="Aptos"/>
              </a:defRPr>
            </a:pPr>
            <a:r>
              <a:rPr sz="1725" b="1">
                <a:solidFill>
                  <a:srgbClr val="F4F8FB"/>
                </a:solidFill>
                <a:latin typeface="Aptos"/>
                <a:ea typeface="Aptos"/>
                <a:cs typeface="Aptos"/>
              </a:rPr>
              <a:t>help interpret mixed tissue spots?</a:t>
            </a:r>
          </a:p>
        </p:txBody>
      </p:sp>
      <p:sp>
        <p:nvSpPr>
          <p:cNvPr id="7" name="">
            <a:extLst xmlns:a="http://schemas.openxmlformats.org/drawingml/2006/main">
              <a:ext uri="{FF2B5EF4-FFF2-40B4-BE49-F238E27FC236}">
                <a16:creationId xmlns:a16="http://schemas.microsoft.com/office/drawing/2014/main" id="{83308814-E2B9-42AC-B3CB-6AA5CA194399}"/>
              </a:ext>
            </a:extLst>
          </p:cNvPr>
          <p:cNvSpPr>
            <a:spLocks xmlns:a="http://schemas.openxmlformats.org/drawingml/2006/main" noGrp="1"/>
          </p:cNvSpPr>
          <p:nvPr/>
        </p:nvSpPr>
        <p:spPr>
          <a:xfrm xmlns:a="http://schemas.openxmlformats.org/drawingml/2006/main">
            <a:off x="571500" y="3257550"/>
            <a:ext cx="5334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QC: 11,725 → 11,719 spots; 36,601 genes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MT genes retained; mitochondrial filtering off</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Normalize + log1p → 3,000 variable genes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50 PCs computed; 30 used; Leiden 0.5</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Spatial graphs built separately per section</a:t>
            </a:r>
          </a:p>
        </p:txBody>
      </p:sp>
      <p:sp>
        <p:nvSpPr>
          <p:cNvPr id="8" name="">
            <a:extLst xmlns:a="http://schemas.openxmlformats.org/drawingml/2006/main">
              <a:ext uri="{FF2B5EF4-FFF2-40B4-BE49-F238E27FC236}">
                <a16:creationId xmlns:a16="http://schemas.microsoft.com/office/drawing/2014/main" id="{D0143634-3748-4556-B217-6F0A0F560C91}"/>
              </a:ext>
            </a:extLst>
          </p:cNvPr>
          <p:cNvSpPr>
            <a:spLocks xmlns:a="http://schemas.openxmlformats.org/drawingml/2006/main" noGrp="1"/>
          </p:cNvSpPr>
          <p:nvPr/>
        </p:nvSpPr>
        <p:spPr>
          <a:xfrm xmlns:a="http://schemas.openxmlformats.org/drawingml/2006/main">
            <a:off x="571500" y="4972050"/>
            <a:ext cx="538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NNLS: 11 reference cell-type signatures</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Moran’s I, neighbourhoods and composition groups</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Ligand–receptor hypotheses and SVG GSEA</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Imputation excluded from this corrected run</a:t>
            </a:r>
          </a:p>
        </p:txBody>
      </p:sp>
      <p:sp>
        <p:nvSpPr>
          <p:cNvPr id="9" name="">
            <a:extLst xmlns:a="http://schemas.openxmlformats.org/drawingml/2006/main">
              <a:ext uri="{FF2B5EF4-FFF2-40B4-BE49-F238E27FC236}">
                <a16:creationId xmlns:a16="http://schemas.microsoft.com/office/drawing/2014/main" id="{EAFC926C-72D3-4BEB-9A05-BBC04C4F5036}"/>
              </a:ext>
            </a:extLst>
          </p:cNvPr>
          <p:cNvSpPr>
            <a:spLocks xmlns:a="http://schemas.openxmlformats.org/drawingml/2006/main" noGrp="1"/>
          </p:cNvSpPr>
          <p:nvPr/>
        </p:nvSpPr>
        <p:spPr>
          <a:xfrm xmlns:a="http://schemas.openxmlformats.org/drawingml/2006/main">
            <a:off x="6286500" y="19907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RESULTS AND VALIDATION</a:t>
            </a:r>
          </a:p>
        </p:txBody>
      </p:sp>
      <p:graphicFrame>
        <p:nvGraphicFramePr>
          <p:cNvPr id="22" name=""/>
          <p:cNvGraphicFramePr/>
          <p:nvPr/>
        </p:nvGraphicFramePr>
        <p:xfrm>
          <a:off xmlns:a="http://schemas.openxmlformats.org/drawingml/2006/main" x="6286500" y="2495550"/>
          <a:ext xmlns:a="http://schemas.openxmlformats.org/drawingml/2006/main" cx="5334000" cy="3124200"/>
        </p:xfrm>
        <a:graphic xmlns:a="http://schemas.openxmlformats.org/drawingml/2006/main">
          <a:graphicData uri="http://schemas.openxmlformats.org/drawingml/2006/table">
            <a:tbl>
              <a:tblPr/>
              <a:tblGrid>
                <a:gridCol w="1428750"/>
                <a:gridCol w="3905250"/>
              </a:tblGrid>
              <a:tr h="400050">
                <a:tc>
                  <a:txBody>
                    <a:bodyPr/>
                    <a:lstStyle/>
                    <a:p>
                      <a:r>
                        <a:rPr sz="1350" b="1">
                          <a:solidFill>
                            <a:srgbClr val="F4F8FB"/>
                          </a:solidFill>
                          <a:latin typeface="Aptos"/>
                          <a:ea typeface="Aptos"/>
                          <a:cs typeface="Aptos"/>
                        </a:rPr>
                        <a:t>Analysis</a:t>
                      </a:r>
                    </a:p>
                  </a:txBody>
                  <a:tcPr marL="114300" marR="95250" marT="114300" marB="114300">
                    <a:solidFill>
                      <a:srgbClr val="245466"/>
                    </a:solidFill>
                  </a:tcPr>
                </a:tc>
                <a:tc>
                  <a:txBody>
                    <a:bodyPr/>
                    <a:lstStyle/>
                    <a:p>
                      <a:r>
                        <a:rPr sz="1350" b="1">
                          <a:solidFill>
                            <a:srgbClr val="F4F8FB"/>
                          </a:solidFill>
                          <a:latin typeface="Aptos"/>
                          <a:ea typeface="Aptos"/>
                          <a:cs typeface="Aptos"/>
                        </a:rPr>
                        <a:t>Result and interpretation</a:t>
                      </a:r>
                    </a:p>
                  </a:txBody>
                  <a:tcPr marL="114300" marR="95250" marT="114300" marB="114300">
                    <a:solidFill>
                      <a:srgbClr val="245466"/>
                    </a:solidFill>
                  </a:tcPr>
                </a:tc>
              </a:tr>
              <a:tr h="676275">
                <a:tc>
                  <a:txBody>
                    <a:bodyPr/>
                    <a:lstStyle/>
                    <a:p>
                      <a:r>
                        <a:rPr sz="1350">
                          <a:solidFill>
                            <a:srgbClr val="F4F8FB"/>
                          </a:solidFill>
                          <a:latin typeface="Aptos"/>
                          <a:ea typeface="Aptos"/>
                          <a:cs typeface="Aptos"/>
                        </a:rPr>
                        <a:t>Spatial graph</a:t>
                      </a:r>
                    </a:p>
                  </a:txBody>
                  <a:tcPr marL="114300" marR="95250" marT="114300" marB="114300">
                    <a:solidFill>
                      <a:srgbClr val="112634"/>
                    </a:solidFill>
                  </a:tcPr>
                </a:tc>
                <a:tc>
                  <a:txBody>
                    <a:bodyPr/>
                    <a:lstStyle/>
                    <a:p>
                      <a:r>
                        <a:rPr sz="1350">
                          <a:solidFill>
                            <a:srgbClr val="F4F8FB"/>
                          </a:solidFill>
                          <a:latin typeface="Aptos"/>
                          <a:ea typeface="Aptos"/>
                          <a:cs typeface="Aptos"/>
                        </a:rPr>
                        <a:t>Zero cross-section adjacency entries</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Expression</a:t>
                      </a:r>
                    </a:p>
                  </a:txBody>
                  <a:tcPr marL="114300" marR="95250" marT="114300" marB="114300">
                    <a:solidFill>
                      <a:srgbClr val="112634"/>
                    </a:solidFill>
                  </a:tcPr>
                </a:tc>
                <a:tc>
                  <a:txBody>
                    <a:bodyPr/>
                    <a:lstStyle/>
                    <a:p>
                      <a:r>
                        <a:rPr sz="1350">
                          <a:solidFill>
                            <a:srgbClr val="F4F8FB"/>
                          </a:solidFill>
                          <a:latin typeface="Aptos"/>
                          <a:ea typeface="Aptos"/>
                          <a:cs typeface="Aptos"/>
                        </a:rPr>
                        <a:t>673 candidate SVGs / 3,000 tested;</a:t>
                      </a:r>
                    </a:p>
                    <a:p>
                      <a:r>
                        <a:rPr sz="1350">
                          <a:solidFill>
                            <a:srgbClr val="F4F8FB"/>
                          </a:solidFill>
                          <a:latin typeface="Aptos"/>
                          <a:ea typeface="Aptos"/>
                          <a:cs typeface="Aptos"/>
                        </a:rPr>
                        <a:t>five clusters strongly track sections</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NNLS / regions</a:t>
                      </a:r>
                    </a:p>
                  </a:txBody>
                  <a:tcPr marL="114300" marR="95250" marT="114300" marB="114300">
                    <a:solidFill>
                      <a:srgbClr val="112634"/>
                    </a:solidFill>
                  </a:tcPr>
                </a:tc>
                <a:tc>
                  <a:txBody>
                    <a:bodyPr/>
                    <a:lstStyle/>
                    <a:p>
                      <a:r>
                        <a:rPr sz="1350">
                          <a:solidFill>
                            <a:srgbClr val="F4F8FB"/>
                          </a:solidFill>
                          <a:latin typeface="Aptos"/>
                          <a:ea typeface="Aptos"/>
                          <a:cs typeface="Aptos"/>
                        </a:rPr>
                        <a:t>Median relative residual 0.985;</a:t>
                      </a:r>
                    </a:p>
                    <a:p>
                      <a:r>
                        <a:rPr sz="1350">
                          <a:solidFill>
                            <a:srgbClr val="F4F8FB"/>
                          </a:solidFill>
                          <a:latin typeface="Aptos"/>
                          <a:ea typeface="Aptos"/>
                          <a:cs typeface="Aptos"/>
                        </a:rPr>
                        <a:t>45 composition groups remain provisional</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Pathways</a:t>
                      </a:r>
                    </a:p>
                  </a:txBody>
                  <a:tcPr marL="114300" marR="95250" marT="114300" marB="114300">
                    <a:solidFill>
                      <a:srgbClr val="112634"/>
                    </a:solidFill>
                  </a:tcPr>
                </a:tc>
                <a:tc>
                  <a:txBody>
                    <a:bodyPr/>
                    <a:lstStyle/>
                    <a:p>
                      <a:r>
                        <a:rPr sz="1350">
                          <a:solidFill>
                            <a:srgbClr val="F4F8FB"/>
                          </a:solidFill>
                          <a:latin typeface="Aptos"/>
                          <a:ea typeface="Aptos"/>
                          <a:cs typeface="Aptos"/>
                        </a:rPr>
                        <a:t>0 / 1,156 significant at FDR &lt; 0.05;</a:t>
                      </a:r>
                    </a:p>
                    <a:p>
                      <a:r>
                        <a:rPr sz="1350">
                          <a:solidFill>
                            <a:srgbClr val="F4F8FB"/>
                          </a:solidFill>
                          <a:latin typeface="Aptos"/>
                          <a:ea typeface="Aptos"/>
                          <a:cs typeface="Aptos"/>
                        </a:rPr>
                        <a:t>Moran ranking ≠ pathway activation</a:t>
                      </a:r>
                    </a:p>
                  </a:txBody>
                  <a:tcPr marL="114300" marR="95250" marT="114300" marB="114300">
                    <a:solidFill>
                      <a:srgbClr val="112634"/>
                    </a:solidFill>
                  </a:tcPr>
                </a:tc>
              </a:tr>
            </a:tbl>
          </a:graphicData>
        </a:graphic>
      </p:graphicFrame>
      <p:sp>
        <p:nvSpPr>
          <p:cNvPr id="11" name="">
            <a:extLst xmlns:a="http://schemas.openxmlformats.org/drawingml/2006/main">
              <a:ext uri="{FF2B5EF4-FFF2-40B4-BE49-F238E27FC236}">
                <a16:creationId xmlns:a16="http://schemas.microsoft.com/office/drawing/2014/main" id="{92D1479B-7916-48C2-8E68-8D4046BEC3EC}"/>
              </a:ext>
            </a:extLst>
          </p:cNvPr>
          <p:cNvSpPr>
            <a:spLocks xmlns:a="http://schemas.openxmlformats.org/drawingml/2006/main" noGrp="1"/>
          </p:cNvSpPr>
          <p:nvPr/>
        </p:nvSpPr>
        <p:spPr>
          <a:xfrm xmlns:a="http://schemas.openxmlformats.org/drawingml/2006/main">
            <a:off x="571500" y="61531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6A04D"/>
                </a:solidFill>
                <a:latin typeface="Aptos"/>
                <a:ea typeface="Aptos"/>
                <a:cs typeface="Aptos"/>
              </a:defRPr>
            </a:pPr>
            <a:r>
              <a:rPr sz="1500" b="1">
                <a:solidFill>
                  <a:srgbClr val="F6A04D"/>
                </a:solidFill>
                <a:latin typeface="Aptos"/>
                <a:ea typeface="Aptos"/>
                <a:cs typeface="Aptos"/>
              </a:rPr>
              <a:t>Direct gene-expression patterns are more defensible than the current inferred cell composition.</a:t>
            </a:r>
          </a:p>
        </p:txBody>
      </p:sp>
      <p:sp>
        <p:nvSpPr>
          <p:cNvPr id="12" name="">
            <a:extLst xmlns:a="http://schemas.openxmlformats.org/drawingml/2006/main">
              <a:ext uri="{FF2B5EF4-FFF2-40B4-BE49-F238E27FC236}">
                <a16:creationId xmlns:a16="http://schemas.microsoft.com/office/drawing/2014/main" id="{286B2383-DD68-45BF-AF64-F4ADF66195BD}"/>
              </a:ext>
            </a:extLst>
          </p:cNvPr>
          <p:cNvSpPr>
            <a:spLocks xmlns:a="http://schemas.openxmlformats.org/drawingml/2006/main" noGrp="1"/>
          </p:cNvSpPr>
          <p:nvPr/>
        </p:nvSpPr>
        <p:spPr>
          <a:xfrm xmlns:a="http://schemas.openxmlformats.org/drawingml/2006/main">
            <a:off x="571500" y="6543675"/>
            <a:ext cx="10525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F9AAF"/>
                </a:solidFill>
                <a:latin typeface="Aptos"/>
                <a:ea typeface="Aptos"/>
                <a:cs typeface="Aptos"/>
              </a:defRPr>
            </a:pPr>
            <a:r>
              <a:rPr sz="1050" b="0">
                <a:solidFill>
                  <a:srgbClr val="7F9AAF"/>
                </a:solidFill>
                <a:latin typeface="Aptos"/>
                <a:ea typeface="Aptos"/>
                <a:cs typeface="Aptos"/>
              </a:rPr>
              <a:t>Control-only benchmark · section and donor effects remain · cell-type proportions require validation</a:t>
            </a:r>
          </a:p>
        </p:txBody>
      </p:sp>
    </p:spTree>
    <p:extLst>
      <p:ext uri="{BB962C8B-B14F-4D97-AF65-F5344CB8AC3E}">
        <p14:creationId xmlns:p14="http://schemas.microsoft.com/office/powerpoint/2010/main" val="798907440"/>
      </p:ext>
    </p:extLst>
  </p:cSld>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74320"/>
          </a:xfrm>
          <a:prstGeom prst="rect">
            <a:avLst/>
          </a:prstGeom>
          <a:noFill/>
        </p:spPr>
        <p:txBody>
          <a:bodyPr wrap="square" anchor="ctr">
            <a:spAutoFit/>
          </a:bodyPr>
          <a:lstStyle/>
          <a:p>
            <a:pPr algn="l"/>
            <a:r>
              <a:rPr sz="1100" b="1">
                <a:solidFill>
                  <a:srgbClr val="55D0C7"/>
                </a:solidFill>
                <a:latin typeface="Aptos"/>
              </a:rPr>
              <a:t>11 / POSITIONING</a:t>
            </a:r>
          </a:p>
        </p:txBody>
      </p:sp>
      <p:sp>
        <p:nvSpPr>
          <p:cNvPr id="3" name="TextBox 2"/>
          <p:cNvSpPr txBox="1"/>
          <p:nvPr/>
        </p:nvSpPr>
        <p:spPr>
          <a:xfrm>
            <a:off x="640080" y="731520"/>
            <a:ext cx="10332720" cy="475488"/>
          </a:xfrm>
          <a:prstGeom prst="rect">
            <a:avLst/>
          </a:prstGeom>
          <a:noFill/>
        </p:spPr>
        <p:txBody>
          <a:bodyPr wrap="square" anchor="ctr">
            <a:spAutoFit/>
          </a:bodyPr>
          <a:lstStyle/>
          <a:p>
            <a:pPr algn="l"/>
            <a:r>
              <a:rPr sz="2350" b="1">
                <a:solidFill>
                  <a:srgbClr val="F4F8FB"/>
                </a:solidFill>
                <a:latin typeface="Aptos Display"/>
              </a:rPr>
              <a:t>A MULTIDISCIPLINARY, PROBLEM-SOLVING RESEARCH PROFILE</a:t>
            </a:r>
          </a:p>
        </p:txBody>
      </p:sp>
      <p:sp>
        <p:nvSpPr>
          <p:cNvPr id="4" name="TextBox 3"/>
          <p:cNvSpPr txBox="1"/>
          <p:nvPr/>
        </p:nvSpPr>
        <p:spPr>
          <a:xfrm>
            <a:off x="640080" y="1234440"/>
            <a:ext cx="10058400" cy="320040"/>
          </a:xfrm>
          <a:prstGeom prst="rect">
            <a:avLst/>
          </a:prstGeom>
          <a:noFill/>
        </p:spPr>
        <p:txBody>
          <a:bodyPr wrap="square" anchor="ctr">
            <a:spAutoFit/>
          </a:bodyPr>
          <a:lstStyle/>
          <a:p>
            <a:pPr algn="l"/>
            <a:r>
              <a:rPr sz="1130" b="0">
                <a:solidFill>
                  <a:srgbClr val="A9BAC6"/>
                </a:solidFill>
                <a:latin typeface="Aptos"/>
              </a:rPr>
              <a:t>The biological question comes first — the method can range from established bioinformatics to custom statistical or AI solutions.</a:t>
            </a:r>
          </a:p>
        </p:txBody>
      </p:sp>
      <p:sp>
        <p:nvSpPr>
          <p:cNvPr id="5" name="Rounded Rectangle 4"/>
          <p:cNvSpPr/>
          <p:nvPr/>
        </p:nvSpPr>
        <p:spPr>
          <a:xfrm>
            <a:off x="4846320" y="2679192"/>
            <a:ext cx="2286000" cy="950976"/>
          </a:xfrm>
          <a:prstGeom prst="roundRect">
            <a:avLst/>
          </a:prstGeom>
          <a:solidFill>
            <a:srgbClr val="102B38"/>
          </a:solidFill>
          <a:ln w="2159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83480" y="2880360"/>
            <a:ext cx="2011680" cy="228600"/>
          </a:xfrm>
          <a:prstGeom prst="rect">
            <a:avLst/>
          </a:prstGeom>
          <a:noFill/>
        </p:spPr>
        <p:txBody>
          <a:bodyPr wrap="square" anchor="ctr">
            <a:spAutoFit/>
          </a:bodyPr>
          <a:lstStyle/>
          <a:p>
            <a:pPr algn="ctr"/>
            <a:r>
              <a:rPr sz="1550" b="1">
                <a:solidFill>
                  <a:srgbClr val="F4F8FB"/>
                </a:solidFill>
                <a:latin typeface="Aptos"/>
              </a:rPr>
              <a:t>BIOLOGICAL QUESTION</a:t>
            </a:r>
          </a:p>
        </p:txBody>
      </p:sp>
      <p:sp>
        <p:nvSpPr>
          <p:cNvPr id="7" name="TextBox 6"/>
          <p:cNvSpPr txBox="1"/>
          <p:nvPr/>
        </p:nvSpPr>
        <p:spPr>
          <a:xfrm>
            <a:off x="5029200" y="3172968"/>
            <a:ext cx="1920240" cy="182880"/>
          </a:xfrm>
          <a:prstGeom prst="rect">
            <a:avLst/>
          </a:prstGeom>
          <a:noFill/>
        </p:spPr>
        <p:txBody>
          <a:bodyPr wrap="square" anchor="ctr">
            <a:spAutoFit/>
          </a:bodyPr>
          <a:lstStyle/>
          <a:p>
            <a:pPr algn="ctr"/>
            <a:r>
              <a:rPr sz="940" b="0">
                <a:solidFill>
                  <a:srgbClr val="55D0C7"/>
                </a:solidFill>
                <a:latin typeface="Aptos"/>
              </a:rPr>
              <a:t>What do we need to understand?</a:t>
            </a:r>
          </a:p>
        </p:txBody>
      </p:sp>
      <p:sp>
        <p:nvSpPr>
          <p:cNvPr id="8" name="Rounded Rectangle 7"/>
          <p:cNvSpPr/>
          <p:nvPr/>
        </p:nvSpPr>
        <p:spPr>
          <a:xfrm>
            <a:off x="777240" y="1874519"/>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8116" y="2016251"/>
            <a:ext cx="320040" cy="320040"/>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8116" y="2016251"/>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11" name="TextBox 10"/>
          <p:cNvSpPr txBox="1"/>
          <p:nvPr/>
        </p:nvSpPr>
        <p:spPr>
          <a:xfrm>
            <a:off x="1325880" y="2020823"/>
            <a:ext cx="2624328" cy="274320"/>
          </a:xfrm>
          <a:prstGeom prst="rect">
            <a:avLst/>
          </a:prstGeom>
          <a:noFill/>
        </p:spPr>
        <p:txBody>
          <a:bodyPr wrap="square" anchor="ctr">
            <a:spAutoFit/>
          </a:bodyPr>
          <a:lstStyle/>
          <a:p>
            <a:pPr algn="l"/>
            <a:r>
              <a:rPr sz="1050" b="1">
                <a:solidFill>
                  <a:srgbClr val="F4F8FB"/>
                </a:solidFill>
                <a:latin typeface="Aptos"/>
              </a:rPr>
              <a:t>MULTIDISCIPLINARY BACKGROUND</a:t>
            </a:r>
          </a:p>
        </p:txBody>
      </p:sp>
      <p:sp>
        <p:nvSpPr>
          <p:cNvPr id="12" name="TextBox 11"/>
          <p:cNvSpPr txBox="1"/>
          <p:nvPr/>
        </p:nvSpPr>
        <p:spPr>
          <a:xfrm>
            <a:off x="996696" y="2386583"/>
            <a:ext cx="2898648" cy="786384"/>
          </a:xfrm>
          <a:prstGeom prst="rect">
            <a:avLst/>
          </a:prstGeom>
          <a:noFill/>
        </p:spPr>
        <p:txBody>
          <a:bodyPr wrap="square" anchor="t">
            <a:spAutoFit/>
          </a:bodyPr>
          <a:lstStyle/>
          <a:p>
            <a:pPr algn="l"/>
            <a:r>
              <a:rPr sz="919" b="0">
                <a:solidFill>
                  <a:srgbClr val="A9BAC6"/>
                </a:solidFill>
                <a:latin typeface="Aptos"/>
              </a:rPr>
              <a:t>Biology → Omics → Statistics → AI
Understanding the problem from multiple computational and biological perspectives.</a:t>
            </a:r>
          </a:p>
        </p:txBody>
      </p:sp>
      <p:sp>
        <p:nvSpPr>
          <p:cNvPr id="13" name="Rounded Rectangle 12"/>
          <p:cNvSpPr/>
          <p:nvPr/>
        </p:nvSpPr>
        <p:spPr>
          <a:xfrm>
            <a:off x="8092440" y="1874519"/>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43316" y="2016251"/>
            <a:ext cx="320040" cy="320040"/>
          </a:xfrm>
          <a:prstGeom prst="ellipse">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316" y="2016251"/>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16" name="TextBox 15"/>
          <p:cNvSpPr txBox="1"/>
          <p:nvPr/>
        </p:nvSpPr>
        <p:spPr>
          <a:xfrm>
            <a:off x="8641080" y="2020823"/>
            <a:ext cx="2624328" cy="274320"/>
          </a:xfrm>
          <a:prstGeom prst="rect">
            <a:avLst/>
          </a:prstGeom>
          <a:noFill/>
        </p:spPr>
        <p:txBody>
          <a:bodyPr wrap="square" anchor="ctr">
            <a:spAutoFit/>
          </a:bodyPr>
          <a:lstStyle/>
          <a:p>
            <a:pPr algn="l"/>
            <a:r>
              <a:rPr sz="1050" b="1">
                <a:solidFill>
                  <a:srgbClr val="F4F8FB"/>
                </a:solidFill>
                <a:latin typeface="Aptos"/>
              </a:rPr>
              <a:t>TRANSFERABLE RESEARCH REASONING</a:t>
            </a:r>
          </a:p>
        </p:txBody>
      </p:sp>
      <p:sp>
        <p:nvSpPr>
          <p:cNvPr id="17" name="TextBox 16"/>
          <p:cNvSpPr txBox="1"/>
          <p:nvPr/>
        </p:nvSpPr>
        <p:spPr>
          <a:xfrm>
            <a:off x="8311896" y="2386583"/>
            <a:ext cx="2898648" cy="786384"/>
          </a:xfrm>
          <a:prstGeom prst="rect">
            <a:avLst/>
          </a:prstGeom>
          <a:noFill/>
        </p:spPr>
        <p:txBody>
          <a:bodyPr wrap="square" anchor="t">
            <a:spAutoFit/>
          </a:bodyPr>
          <a:lstStyle/>
          <a:p>
            <a:pPr algn="l"/>
            <a:r>
              <a:rPr sz="919" b="0">
                <a:solidFill>
                  <a:srgbClr val="A9BAC6"/>
                </a:solidFill>
                <a:latin typeface="Aptos"/>
              </a:rPr>
              <a:t>Genomics · transcriptomics · single-cell · spatial · multi-omics
Different biological systems, transferable analytical reasoning.</a:t>
            </a:r>
          </a:p>
        </p:txBody>
      </p:sp>
      <p:sp>
        <p:nvSpPr>
          <p:cNvPr id="18" name="Rounded Rectangle 17"/>
          <p:cNvSpPr/>
          <p:nvPr/>
        </p:nvSpPr>
        <p:spPr>
          <a:xfrm>
            <a:off x="777240" y="3886200"/>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28116" y="4027932"/>
            <a:ext cx="320040" cy="320040"/>
          </a:xfrm>
          <a:prstGeom prst="ellipse">
            <a:avLst/>
          </a:prstGeom>
          <a:solidFill>
            <a:srgbClr val="F6A04D"/>
          </a:solidFill>
          <a:ln>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 y="4027932"/>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21" name="TextBox 20"/>
          <p:cNvSpPr txBox="1"/>
          <p:nvPr/>
        </p:nvSpPr>
        <p:spPr>
          <a:xfrm>
            <a:off x="1325880" y="4032504"/>
            <a:ext cx="2624328" cy="274320"/>
          </a:xfrm>
          <a:prstGeom prst="rect">
            <a:avLst/>
          </a:prstGeom>
          <a:noFill/>
        </p:spPr>
        <p:txBody>
          <a:bodyPr wrap="square" anchor="ctr">
            <a:spAutoFit/>
          </a:bodyPr>
          <a:lstStyle/>
          <a:p>
            <a:pPr algn="l"/>
            <a:r>
              <a:rPr sz="1050" b="1">
                <a:solidFill>
                  <a:srgbClr val="F4F8FB"/>
                </a:solidFill>
                <a:latin typeface="Aptos"/>
              </a:rPr>
              <a:t>TOOL &amp; METHOD DEVELOPMENT</a:t>
            </a:r>
          </a:p>
        </p:txBody>
      </p:sp>
      <p:sp>
        <p:nvSpPr>
          <p:cNvPr id="22" name="TextBox 21"/>
          <p:cNvSpPr txBox="1"/>
          <p:nvPr/>
        </p:nvSpPr>
        <p:spPr>
          <a:xfrm>
            <a:off x="996696" y="4398264"/>
            <a:ext cx="2898648" cy="786384"/>
          </a:xfrm>
          <a:prstGeom prst="rect">
            <a:avLst/>
          </a:prstGeom>
          <a:noFill/>
        </p:spPr>
        <p:txBody>
          <a:bodyPr wrap="square" anchor="t">
            <a:spAutoFit/>
          </a:bodyPr>
          <a:lstStyle/>
          <a:p>
            <a:pPr algn="l"/>
            <a:r>
              <a:rPr sz="919" b="0">
                <a:solidFill>
                  <a:srgbClr val="A9BAC6"/>
                </a:solidFill>
                <a:latin typeface="Aptos"/>
              </a:rPr>
              <a:t>Existing tools → adapt / integrate → custom workflows → ML/DL when justified
Choose or develop the method that best answers the biological question.</a:t>
            </a:r>
          </a:p>
        </p:txBody>
      </p:sp>
      <p:sp>
        <p:nvSpPr>
          <p:cNvPr id="23" name="Rounded Rectangle 22"/>
          <p:cNvSpPr/>
          <p:nvPr/>
        </p:nvSpPr>
        <p:spPr>
          <a:xfrm>
            <a:off x="8092440" y="3886200"/>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43316" y="4027932"/>
            <a:ext cx="320040" cy="320040"/>
          </a:xfrm>
          <a:prstGeom prst="ellipse">
            <a:avLst/>
          </a:prstGeom>
          <a:solidFill>
            <a:srgbClr val="7AD17A"/>
          </a:solidFill>
          <a:ln>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43316" y="4027932"/>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26" name="TextBox 25"/>
          <p:cNvSpPr txBox="1"/>
          <p:nvPr/>
        </p:nvSpPr>
        <p:spPr>
          <a:xfrm>
            <a:off x="8641080" y="4032504"/>
            <a:ext cx="2624328" cy="274320"/>
          </a:xfrm>
          <a:prstGeom prst="rect">
            <a:avLst/>
          </a:prstGeom>
          <a:noFill/>
        </p:spPr>
        <p:txBody>
          <a:bodyPr wrap="square" anchor="ctr">
            <a:spAutoFit/>
          </a:bodyPr>
          <a:lstStyle/>
          <a:p>
            <a:pPr algn="l"/>
            <a:r>
              <a:rPr sz="1050" b="1">
                <a:solidFill>
                  <a:srgbClr val="F4F8FB"/>
                </a:solidFill>
                <a:latin typeface="Aptos"/>
              </a:rPr>
              <a:t>INTERDISCIPLINARY VALIDATION</a:t>
            </a:r>
          </a:p>
        </p:txBody>
      </p:sp>
      <p:sp>
        <p:nvSpPr>
          <p:cNvPr id="27" name="TextBox 26"/>
          <p:cNvSpPr txBox="1"/>
          <p:nvPr/>
        </p:nvSpPr>
        <p:spPr>
          <a:xfrm>
            <a:off x="8311896" y="4398264"/>
            <a:ext cx="2898648" cy="786384"/>
          </a:xfrm>
          <a:prstGeom prst="rect">
            <a:avLst/>
          </a:prstGeom>
          <a:noFill/>
        </p:spPr>
        <p:txBody>
          <a:bodyPr wrap="square" anchor="t">
            <a:spAutoFit/>
          </a:bodyPr>
          <a:lstStyle/>
          <a:p>
            <a:pPr algn="l"/>
            <a:r>
              <a:rPr sz="919" b="0">
                <a:solidFill>
                  <a:srgbClr val="A9BAC6"/>
                </a:solidFill>
                <a:latin typeface="Aptos"/>
              </a:rPr>
              <a:t>Bioinformatics ↔ biology / clinical expertise ↔ wet lab
Computation prioritizes hypotheses; domain expertise guides interpretation; experiments validate them.</a:t>
            </a:r>
          </a:p>
        </p:txBody>
      </p:sp>
      <p:cxnSp>
        <p:nvCxnSpPr>
          <p:cNvPr id="28" name="Connector 27"/>
          <p:cNvCxnSpPr/>
          <p:nvPr/>
        </p:nvCxnSpPr>
        <p:spPr>
          <a:xfrm>
            <a:off x="4114800" y="2615184"/>
            <a:ext cx="704088" cy="356616"/>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7159752" y="2615184"/>
            <a:ext cx="932688" cy="356616"/>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114800" y="3337560"/>
            <a:ext cx="704088" cy="1280160"/>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7159752" y="3337560"/>
            <a:ext cx="932688" cy="1280160"/>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270248" y="4005072"/>
            <a:ext cx="3429000" cy="71323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4078224"/>
            <a:ext cx="3017520" cy="164592"/>
          </a:xfrm>
          <a:prstGeom prst="rect">
            <a:avLst/>
          </a:prstGeom>
          <a:noFill/>
        </p:spPr>
        <p:txBody>
          <a:bodyPr wrap="square" anchor="ctr">
            <a:spAutoFit/>
          </a:bodyPr>
          <a:lstStyle/>
          <a:p>
            <a:pPr algn="ctr"/>
            <a:r>
              <a:rPr sz="950" b="1">
                <a:solidFill>
                  <a:srgbClr val="55D0C7"/>
                </a:solidFill>
                <a:latin typeface="Aptos"/>
              </a:rPr>
              <a:t>METHOD SPECTRUM</a:t>
            </a:r>
          </a:p>
        </p:txBody>
      </p:sp>
      <p:sp>
        <p:nvSpPr>
          <p:cNvPr id="34" name="TextBox 33"/>
          <p:cNvSpPr txBox="1"/>
          <p:nvPr/>
        </p:nvSpPr>
        <p:spPr>
          <a:xfrm>
            <a:off x="4425696" y="4279392"/>
            <a:ext cx="3154680" cy="228600"/>
          </a:xfrm>
          <a:prstGeom prst="rect">
            <a:avLst/>
          </a:prstGeom>
          <a:noFill/>
        </p:spPr>
        <p:txBody>
          <a:bodyPr wrap="square" anchor="ctr">
            <a:spAutoFit/>
          </a:bodyPr>
          <a:lstStyle/>
          <a:p>
            <a:pPr algn="ctr"/>
            <a:r>
              <a:rPr sz="910" b="1">
                <a:solidFill>
                  <a:srgbClr val="F4F8FB"/>
                </a:solidFill>
                <a:latin typeface="Aptos"/>
              </a:rPr>
              <a:t>Classical tools  →  custom pipelines  →  statistics / ML / DL</a:t>
            </a:r>
          </a:p>
        </p:txBody>
      </p:sp>
      <p:sp>
        <p:nvSpPr>
          <p:cNvPr id="35" name="Rounded Rectangle 34"/>
          <p:cNvSpPr/>
          <p:nvPr/>
        </p:nvSpPr>
        <p:spPr>
          <a:xfrm>
            <a:off x="1874519" y="5504688"/>
            <a:ext cx="8275320" cy="50292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1680" y="5577840"/>
            <a:ext cx="8001000" cy="155448"/>
          </a:xfrm>
          <a:prstGeom prst="rect">
            <a:avLst/>
          </a:prstGeom>
          <a:noFill/>
        </p:spPr>
        <p:txBody>
          <a:bodyPr wrap="square" anchor="ctr">
            <a:spAutoFit/>
          </a:bodyPr>
          <a:lstStyle/>
          <a:p>
            <a:pPr algn="ctr"/>
            <a:r>
              <a:rPr sz="960" b="0">
                <a:solidFill>
                  <a:srgbClr val="A9BAC6"/>
                </a:solidFill>
                <a:latin typeface="Aptos"/>
              </a:rPr>
              <a:t>Biological question  →  computational hypothesis  →  domain-guided interpretation  →  experimental validation</a:t>
            </a:r>
          </a:p>
        </p:txBody>
      </p:sp>
      <p:sp>
        <p:nvSpPr>
          <p:cNvPr id="37" name="TextBox 36"/>
          <p:cNvSpPr txBox="1"/>
          <p:nvPr/>
        </p:nvSpPr>
        <p:spPr>
          <a:xfrm>
            <a:off x="1371600" y="6089904"/>
            <a:ext cx="9144000" cy="256032"/>
          </a:xfrm>
          <a:prstGeom prst="rect">
            <a:avLst/>
          </a:prstGeom>
          <a:noFill/>
        </p:spPr>
        <p:txBody>
          <a:bodyPr wrap="square" anchor="ctr">
            <a:spAutoFit/>
          </a:bodyPr>
          <a:lstStyle/>
          <a:p>
            <a:pPr algn="ctr"/>
            <a:r>
              <a:rPr sz="1300" b="1">
                <a:solidFill>
                  <a:srgbClr val="F4F8FB"/>
                </a:solidFill>
                <a:latin typeface="Aptos"/>
              </a:rPr>
              <a:t>Building the computational bridge from biological questions to testable hypotheses.</a:t>
            </a:r>
          </a:p>
        </p:txBody>
      </p:sp>
      <p:sp>
        <p:nvSpPr>
          <p:cNvPr id="38" name="TextBox 37"/>
          <p:cNvSpPr txBox="1"/>
          <p:nvPr/>
        </p:nvSpPr>
        <p:spPr>
          <a:xfrm>
            <a:off x="10972800" y="6272784"/>
            <a:ext cx="457200" cy="164592"/>
          </a:xfrm>
          <a:prstGeom prst="rect">
            <a:avLst/>
          </a:prstGeom>
          <a:noFill/>
        </p:spPr>
        <p:txBody>
          <a:bodyPr wrap="square" anchor="ctr">
            <a:spAutoFit/>
          </a:bodyPr>
          <a:lstStyle/>
          <a:p>
            <a:pPr algn="r"/>
            <a:r>
              <a:rPr sz="850" b="0">
                <a:solidFill>
                  <a:srgbClr val="7F9AAF"/>
                </a:solidFill>
                <a:latin typeface="Aptos"/>
              </a:rPr>
              <a:t>11</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540176-4F97-4098-8329-61E0D04ACF14}"/>
              </a:ext>
            </a:extLst>
          </p:cNvPr>
          <p:cNvSpPr>
            <a:spLocks xmlns:a="http://schemas.openxmlformats.org/drawingml/2006/main" noGrp="1"/>
          </p:cNvSpPr>
          <p:nvPr/>
        </p:nvSpPr>
        <p:spPr>
          <a:xfrm xmlns:a="http://schemas.openxmlformats.org/drawingml/2006/main">
            <a:off x="571500" y="2857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07 / HCC GENE AND PATHWAY EXAMPLES</a:t>
            </a:r>
          </a:p>
        </p:txBody>
      </p:sp>
      <p:sp>
        <p:nvSpPr>
          <p:cNvPr id="2" name="">
            <a:extLst xmlns:a="http://schemas.openxmlformats.org/drawingml/2006/main">
              <a:ext uri="{FF2B5EF4-FFF2-40B4-BE49-F238E27FC236}">
                <a16:creationId xmlns:a16="http://schemas.microsoft.com/office/drawing/2014/main" id="{AD7D8386-C34C-4B22-B4A7-B7312B78F833}"/>
              </a:ext>
            </a:extLst>
          </p:cNvPr>
          <p:cNvSpPr>
            <a:spLocks xmlns:a="http://schemas.openxmlformats.org/drawingml/2006/main" noGrp="1"/>
          </p:cNvSpPr>
          <p:nvPr/>
        </p:nvSpPr>
        <p:spPr>
          <a:xfrm xmlns:a="http://schemas.openxmlformats.org/drawingml/2006/main">
            <a:off x="571500" y="7429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4F8FB"/>
                </a:solidFill>
                <a:latin typeface="Aptos"/>
                <a:ea typeface="Aptos"/>
                <a:cs typeface="Aptos"/>
              </a:defRPr>
            </a:pPr>
            <a:r>
              <a:rPr sz="2700" b="1">
                <a:solidFill>
                  <a:srgbClr val="F4F8FB"/>
                </a:solidFill>
                <a:latin typeface="Aptos"/>
                <a:ea typeface="Aptos"/>
                <a:cs typeface="Aptos"/>
              </a:rPr>
              <a:t>Selected genes with lower expression in HCC2</a:t>
            </a:r>
          </a:p>
        </p:txBody>
      </p:sp>
      <p:sp>
        <p:nvSpPr>
          <p:cNvPr id="3" name="">
            <a:extLst xmlns:a="http://schemas.openxmlformats.org/drawingml/2006/main">
              <a:ext uri="{FF2B5EF4-FFF2-40B4-BE49-F238E27FC236}">
                <a16:creationId xmlns:a16="http://schemas.microsoft.com/office/drawing/2014/main" id="{6A01FBF6-0BB3-4D5D-8AAB-6A0E7AFC7406}"/>
              </a:ext>
            </a:extLst>
          </p:cNvPr>
          <p:cNvSpPr>
            <a:spLocks xmlns:a="http://schemas.openxmlformats.org/drawingml/2006/main" noGrp="1"/>
          </p:cNvSpPr>
          <p:nvPr/>
        </p:nvSpPr>
        <p:spPr>
          <a:xfrm xmlns:a="http://schemas.openxmlformats.org/drawingml/2006/main">
            <a:off x="571500" y="13906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Pooled HCC2 versus HCC1 comparison. Each gene belongs to the listed GSEA leading edge.</a:t>
            </a:r>
          </a:p>
        </p:txBody>
      </p:sp>
      <p:graphicFrame>
        <p:nvGraphicFramePr>
          <p:cNvPr id="12" name=""/>
          <p:cNvGraphicFramePr/>
          <p:nvPr/>
        </p:nvGraphicFramePr>
        <p:xfrm>
          <a:off xmlns:a="http://schemas.openxmlformats.org/drawingml/2006/main" x="571500" y="2057400"/>
          <a:ext xmlns:a="http://schemas.openxmlformats.org/drawingml/2006/main" cx="11049000" cy="2952750"/>
        </p:xfrm>
        <a:graphic xmlns:a="http://schemas.openxmlformats.org/drawingml/2006/main">
          <a:graphicData uri="http://schemas.openxmlformats.org/drawingml/2006/table">
            <a:tbl>
              <a:tblPr/>
              <a:tblGrid>
                <a:gridCol w="1257300"/>
                <a:gridCol w="1066800"/>
                <a:gridCol w="3505200"/>
                <a:gridCol w="5219700"/>
              </a:tblGrid>
              <a:tr h="495300">
                <a:tc>
                  <a:txBody>
                    <a:bodyPr/>
                    <a:lstStyle/>
                    <a:p>
                      <a:r>
                        <a:rPr sz="1500" b="1">
                          <a:solidFill>
                            <a:srgbClr val="F4F8FB"/>
                          </a:solidFill>
                          <a:latin typeface="Aptos"/>
                          <a:ea typeface="Aptos"/>
                          <a:cs typeface="Aptos"/>
                        </a:rPr>
                        <a:t>Gene</a:t>
                      </a:r>
                    </a:p>
                  </a:txBody>
                  <a:tcPr marL="133350" marR="133350" marT="142875" marB="142875">
                    <a:solidFill>
                      <a:srgbClr val="245466"/>
                    </a:solidFill>
                  </a:tcPr>
                </a:tc>
                <a:tc>
                  <a:txBody>
                    <a:bodyPr/>
                    <a:lstStyle/>
                    <a:p>
                      <a:r>
                        <a:rPr sz="1500" b="1">
                          <a:solidFill>
                            <a:srgbClr val="F4F8FB"/>
                          </a:solidFill>
                          <a:latin typeface="Aptos"/>
                          <a:ea typeface="Aptos"/>
                          <a:cs typeface="Aptos"/>
                        </a:rPr>
                        <a:t>log2FC</a:t>
                      </a:r>
                    </a:p>
                  </a:txBody>
                  <a:tcPr marL="133350" marR="133350" marT="142875" marB="142875">
                    <a:solidFill>
                      <a:srgbClr val="245466"/>
                    </a:solidFill>
                  </a:tcPr>
                </a:tc>
                <a:tc>
                  <a:txBody>
                    <a:bodyPr/>
                    <a:lstStyle/>
                    <a:p>
                      <a:r>
                        <a:rPr sz="1500" b="1">
                          <a:solidFill>
                            <a:srgbClr val="F4F8FB"/>
                          </a:solidFill>
                          <a:latin typeface="Aptos"/>
                          <a:ea typeface="Aptos"/>
                          <a:cs typeface="Aptos"/>
                        </a:rPr>
                        <a:t>Enriched gene set</a:t>
                      </a:r>
                    </a:p>
                  </a:txBody>
                  <a:tcPr marL="133350" marR="133350" marT="142875" marB="142875">
                    <a:solidFill>
                      <a:srgbClr val="245466"/>
                    </a:solidFill>
                  </a:tcPr>
                </a:tc>
                <a:tc>
                  <a:txBody>
                    <a:bodyPr/>
                    <a:lstStyle/>
                    <a:p>
                      <a:r>
                        <a:rPr sz="1500" b="1">
                          <a:solidFill>
                            <a:srgbClr val="F4F8FB"/>
                          </a:solidFill>
                          <a:latin typeface="Aptos"/>
                          <a:ea typeface="Aptos"/>
                          <a:cs typeface="Aptos"/>
                        </a:rPr>
                        <a:t>Biological context</a:t>
                      </a:r>
                    </a:p>
                  </a:txBody>
                  <a:tcPr marL="133350" marR="133350" marT="142875" marB="142875">
                    <a:solidFill>
                      <a:srgbClr val="245466"/>
                    </a:solidFill>
                  </a:tcPr>
                </a:tc>
              </a:tr>
              <a:tr h="819150">
                <a:tc>
                  <a:txBody>
                    <a:bodyPr/>
                    <a:lstStyle/>
                    <a:p>
                      <a:r>
                        <a:rPr sz="1650" b="1">
                          <a:solidFill>
                            <a:srgbClr val="55D0C7"/>
                          </a:solidFill>
                          <a:latin typeface="Aptos"/>
                          <a:ea typeface="Aptos"/>
                          <a:cs typeface="Aptos"/>
                        </a:rPr>
                        <a:t>APOA2</a:t>
                      </a:r>
                    </a:p>
                  </a:txBody>
                  <a:tcPr marL="133350" marR="133350" marT="142875" marB="142875">
                    <a:solidFill>
                      <a:srgbClr val="112634"/>
                    </a:solidFill>
                  </a:tcPr>
                </a:tc>
                <a:tc>
                  <a:txBody>
                    <a:bodyPr/>
                    <a:lstStyle/>
                    <a:p>
                      <a:r>
                        <a:rPr sz="1650" b="1">
                          <a:solidFill>
                            <a:srgbClr val="F6A04D"/>
                          </a:solidFill>
                          <a:latin typeface="Aptos"/>
                          <a:ea typeface="Aptos"/>
                          <a:cs typeface="Aptos"/>
                        </a:rPr>
                        <a:t>−12.20</a:t>
                      </a:r>
                    </a:p>
                  </a:txBody>
                  <a:tcPr marL="133350" marR="133350" marT="142875" marB="142875">
                    <a:solidFill>
                      <a:srgbClr val="112634"/>
                    </a:solidFill>
                  </a:tcPr>
                </a:tc>
                <a:tc>
                  <a:txBody>
                    <a:bodyPr/>
                    <a:lstStyle/>
                    <a:p>
                      <a:r>
                        <a:rPr sz="1500">
                          <a:solidFill>
                            <a:srgbClr val="F4F8FB"/>
                          </a:solidFill>
                          <a:latin typeface="Aptos"/>
                          <a:ea typeface="Aptos"/>
                          <a:cs typeface="Aptos"/>
                        </a:rPr>
                        <a:t>Cholesterol metabolism</a:t>
                      </a:r>
                    </a:p>
                    <a:p>
                      <a:r>
                        <a:rPr sz="1500">
                          <a:solidFill>
                            <a:srgbClr val="F4F8FB"/>
                          </a:solidFill>
                          <a:latin typeface="Aptos"/>
                          <a:ea typeface="Aptos"/>
                          <a:cs typeface="Aptos"/>
                        </a:rPr>
                        <a:t>NES −2.28  ·  FDR 9.57 × 10⁻⁹</a:t>
                      </a:r>
                    </a:p>
                  </a:txBody>
                  <a:tcPr marL="133350" marR="133350" marT="142875" marB="142875">
                    <a:solidFill>
                      <a:srgbClr val="112634"/>
                    </a:solidFill>
                  </a:tcPr>
                </a:tc>
                <a:tc>
                  <a:txBody>
                    <a:bodyPr/>
                    <a:lstStyle/>
                    <a:p>
                      <a:r>
                        <a:rPr sz="1500">
                          <a:solidFill>
                            <a:srgbClr val="F4F8FB"/>
                          </a:solidFill>
                          <a:latin typeface="Aptos"/>
                          <a:ea typeface="Aptos"/>
                          <a:cs typeface="Aptos"/>
                        </a:rPr>
                        <a:t>Lipoprotein transport</a:t>
                      </a:r>
                    </a:p>
                    <a:p>
                      <a:r>
                        <a:rPr sz="1500">
                          <a:solidFill>
                            <a:srgbClr val="F4F8FB"/>
                          </a:solidFill>
                          <a:latin typeface="Aptos"/>
                          <a:ea typeface="Aptos"/>
                          <a:cs typeface="Aptos"/>
                        </a:rPr>
                        <a:t>Lower contribution of liver-associated transcripts.</a:t>
                      </a:r>
                    </a:p>
                  </a:txBody>
                  <a:tcPr marL="133350" marR="133350" marT="142875" marB="142875">
                    <a:solidFill>
                      <a:srgbClr val="112634"/>
                    </a:solidFill>
                  </a:tcPr>
                </a:tc>
              </a:tr>
              <a:tr h="819150">
                <a:tc>
                  <a:txBody>
                    <a:bodyPr/>
                    <a:lstStyle/>
                    <a:p>
                      <a:r>
                        <a:rPr sz="1650" b="1">
                          <a:solidFill>
                            <a:srgbClr val="55D0C7"/>
                          </a:solidFill>
                          <a:latin typeface="Aptos"/>
                          <a:ea typeface="Aptos"/>
                          <a:cs typeface="Aptos"/>
                        </a:rPr>
                        <a:t>SERPINA1</a:t>
                      </a:r>
                    </a:p>
                  </a:txBody>
                  <a:tcPr marL="133350" marR="133350" marT="142875" marB="142875">
                    <a:solidFill>
                      <a:srgbClr val="112634"/>
                    </a:solidFill>
                  </a:tcPr>
                </a:tc>
                <a:tc>
                  <a:txBody>
                    <a:bodyPr/>
                    <a:lstStyle/>
                    <a:p>
                      <a:r>
                        <a:rPr sz="1650" b="1">
                          <a:solidFill>
                            <a:srgbClr val="F6A04D"/>
                          </a:solidFill>
                          <a:latin typeface="Aptos"/>
                          <a:ea typeface="Aptos"/>
                          <a:cs typeface="Aptos"/>
                        </a:rPr>
                        <a:t>−6.45</a:t>
                      </a:r>
                    </a:p>
                  </a:txBody>
                  <a:tcPr marL="133350" marR="133350" marT="142875" marB="142875">
                    <a:solidFill>
                      <a:srgbClr val="112634"/>
                    </a:solidFill>
                  </a:tcPr>
                </a:tc>
                <a:tc>
                  <a:txBody>
                    <a:bodyPr/>
                    <a:lstStyle/>
                    <a:p>
                      <a:r>
                        <a:rPr sz="1500">
                          <a:solidFill>
                            <a:srgbClr val="F4F8FB"/>
                          </a:solidFill>
                          <a:latin typeface="Aptos"/>
                          <a:ea typeface="Aptos"/>
                          <a:cs typeface="Aptos"/>
                        </a:rPr>
                        <a:t>Complement and coagulation</a:t>
                      </a:r>
                    </a:p>
                    <a:p>
                      <a:r>
                        <a:rPr sz="1500">
                          <a:solidFill>
                            <a:srgbClr val="F4F8FB"/>
                          </a:solidFill>
                          <a:latin typeface="Aptos"/>
                          <a:ea typeface="Aptos"/>
                          <a:cs typeface="Aptos"/>
                        </a:rPr>
                        <a:t>NES −2.34  ·  FDR 4.32 × 10⁻¹³</a:t>
                      </a:r>
                    </a:p>
                  </a:txBody>
                  <a:tcPr marL="133350" marR="133350" marT="142875" marB="142875">
                    <a:solidFill>
                      <a:srgbClr val="112634"/>
                    </a:solidFill>
                  </a:tcPr>
                </a:tc>
                <a:tc>
                  <a:txBody>
                    <a:bodyPr/>
                    <a:lstStyle/>
                    <a:p>
                      <a:r>
                        <a:rPr sz="1500">
                          <a:solidFill>
                            <a:srgbClr val="F4F8FB"/>
                          </a:solidFill>
                          <a:latin typeface="Aptos"/>
                          <a:ea typeface="Aptos"/>
                          <a:cs typeface="Aptos"/>
                        </a:rPr>
                        <a:t>Alpha-1 antitrypsin / protease regulation</a:t>
                      </a:r>
                    </a:p>
                    <a:p>
                      <a:r>
                        <a:rPr sz="1500">
                          <a:solidFill>
                            <a:srgbClr val="F4F8FB"/>
                          </a:solidFill>
                          <a:latin typeface="Aptos"/>
                          <a:ea typeface="Aptos"/>
                          <a:cs typeface="Aptos"/>
                        </a:rPr>
                        <a:t>Lower contribution of secreted-protein transcripts.</a:t>
                      </a:r>
                    </a:p>
                  </a:txBody>
                  <a:tcPr marL="133350" marR="133350" marT="142875" marB="142875">
                    <a:solidFill>
                      <a:srgbClr val="112634"/>
                    </a:solidFill>
                  </a:tcPr>
                </a:tc>
              </a:tr>
              <a:tr h="819150">
                <a:tc>
                  <a:txBody>
                    <a:bodyPr/>
                    <a:lstStyle/>
                    <a:p>
                      <a:r>
                        <a:rPr sz="1650" b="1">
                          <a:solidFill>
                            <a:srgbClr val="55D0C7"/>
                          </a:solidFill>
                          <a:latin typeface="Aptos"/>
                          <a:ea typeface="Aptos"/>
                          <a:cs typeface="Aptos"/>
                        </a:rPr>
                        <a:t>FTL</a:t>
                      </a:r>
                    </a:p>
                  </a:txBody>
                  <a:tcPr marL="133350" marR="133350" marT="142875" marB="142875">
                    <a:solidFill>
                      <a:srgbClr val="112634"/>
                    </a:solidFill>
                  </a:tcPr>
                </a:tc>
                <a:tc>
                  <a:txBody>
                    <a:bodyPr/>
                    <a:lstStyle/>
                    <a:p>
                      <a:r>
                        <a:rPr sz="1650" b="1">
                          <a:solidFill>
                            <a:srgbClr val="F6A04D"/>
                          </a:solidFill>
                          <a:latin typeface="Aptos"/>
                          <a:ea typeface="Aptos"/>
                          <a:cs typeface="Aptos"/>
                        </a:rPr>
                        <a:t>−4.61</a:t>
                      </a:r>
                    </a:p>
                  </a:txBody>
                  <a:tcPr marL="133350" marR="133350" marT="142875" marB="142875">
                    <a:solidFill>
                      <a:srgbClr val="112634"/>
                    </a:solidFill>
                  </a:tcPr>
                </a:tc>
                <a:tc>
                  <a:txBody>
                    <a:bodyPr/>
                    <a:lstStyle/>
                    <a:p>
                      <a:r>
                        <a:rPr sz="1500">
                          <a:solidFill>
                            <a:srgbClr val="F4F8FB"/>
                          </a:solidFill>
                          <a:latin typeface="Aptos"/>
                          <a:ea typeface="Aptos"/>
                          <a:cs typeface="Aptos"/>
                        </a:rPr>
                        <a:t>Ferroptosis</a:t>
                      </a:r>
                    </a:p>
                    <a:p>
                      <a:r>
                        <a:rPr sz="1500">
                          <a:solidFill>
                            <a:srgbClr val="F4F8FB"/>
                          </a:solidFill>
                          <a:latin typeface="Aptos"/>
                          <a:ea typeface="Aptos"/>
                          <a:cs typeface="Aptos"/>
                        </a:rPr>
                        <a:t>NES −2.09  ·  FDR 8.63 × 10⁻⁶</a:t>
                      </a:r>
                    </a:p>
                  </a:txBody>
                  <a:tcPr marL="133350" marR="133350" marT="142875" marB="142875">
                    <a:solidFill>
                      <a:srgbClr val="112634"/>
                    </a:solidFill>
                  </a:tcPr>
                </a:tc>
                <a:tc>
                  <a:txBody>
                    <a:bodyPr/>
                    <a:lstStyle/>
                    <a:p>
                      <a:r>
                        <a:rPr sz="1500">
                          <a:solidFill>
                            <a:srgbClr val="F4F8FB"/>
                          </a:solidFill>
                          <a:latin typeface="Aptos"/>
                          <a:ea typeface="Aptos"/>
                          <a:cs typeface="Aptos"/>
                        </a:rPr>
                        <a:t>Ferritin light chain / iron storage</a:t>
                      </a:r>
                    </a:p>
                    <a:p>
                      <a:r>
                        <a:rPr sz="1500">
                          <a:solidFill>
                            <a:srgbClr val="F4F8FB"/>
                          </a:solidFill>
                          <a:latin typeface="Aptos"/>
                          <a:ea typeface="Aptos"/>
                          <a:cs typeface="Aptos"/>
                        </a:rPr>
                        <a:t>Iron-related expression differs between samples.</a:t>
                      </a:r>
                    </a:p>
                  </a:txBody>
                  <a:tcPr marL="133350" marR="133350" marT="142875" marB="142875">
                    <a:solidFill>
                      <a:srgbClr val="112634"/>
                    </a:solidFill>
                  </a:tcPr>
                </a:tc>
              </a:tr>
            </a:tbl>
          </a:graphicData>
        </a:graphic>
      </p:graphicFrame>
      <p:sp>
        <p:nvSpPr>
          <p:cNvPr id="5" name="">
            <a:extLst xmlns:a="http://schemas.openxmlformats.org/drawingml/2006/main">
              <a:ext uri="{FF2B5EF4-FFF2-40B4-BE49-F238E27FC236}">
                <a16:creationId xmlns:a16="http://schemas.microsoft.com/office/drawing/2014/main" id="{2AD31D66-3E21-4AD6-A74A-9EFEEDA1A2F0}"/>
              </a:ext>
            </a:extLst>
          </p:cNvPr>
          <p:cNvSpPr>
            <a:spLocks xmlns:a="http://schemas.openxmlformats.org/drawingml/2006/main" noGrp="1"/>
          </p:cNvSpPr>
          <p:nvPr/>
        </p:nvSpPr>
        <p:spPr>
          <a:xfrm xmlns:a="http://schemas.openxmlformats.org/drawingml/2006/main">
            <a:off x="571500" y="53054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5D0C7"/>
                </a:solidFill>
                <a:latin typeface="Aptos"/>
                <a:ea typeface="Aptos"/>
                <a:cs typeface="Aptos"/>
              </a:defRPr>
            </a:pPr>
            <a:r>
              <a:rPr sz="1650" b="1">
                <a:solidFill>
                  <a:srgbClr val="55D0C7"/>
                </a:solidFill>
                <a:latin typeface="Aptos"/>
                <a:ea typeface="Aptos"/>
                <a:cs typeface="Aptos"/>
              </a:rPr>
              <a:t>These are sample-associated differences, not confirmed changes in malignant cells.</a:t>
            </a:r>
          </a:p>
        </p:txBody>
      </p:sp>
      <p:sp>
        <p:nvSpPr>
          <p:cNvPr id="6" name="">
            <a:extLst xmlns:a="http://schemas.openxmlformats.org/drawingml/2006/main">
              <a:ext uri="{FF2B5EF4-FFF2-40B4-BE49-F238E27FC236}">
                <a16:creationId xmlns:a16="http://schemas.microsoft.com/office/drawing/2014/main" id="{4C0857BF-A4F7-47B8-AF62-1424527C2234}"/>
              </a:ext>
            </a:extLst>
          </p:cNvPr>
          <p:cNvSpPr>
            <a:spLocks xmlns:a="http://schemas.openxmlformats.org/drawingml/2006/main" noGrp="1"/>
          </p:cNvSpPr>
          <p:nvPr/>
        </p:nvSpPr>
        <p:spPr>
          <a:xfrm xmlns:a="http://schemas.openxmlformats.org/drawingml/2006/main">
            <a:off x="571500" y="57816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One sample per group; composition and possible ambient RNA remain. Negative NES favors HCC1.</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Expression and enrichment do not establish functional activity or drug efficacy.</a:t>
            </a:r>
          </a:p>
        </p:txBody>
      </p:sp>
      <p:sp>
        <p:nvSpPr>
          <p:cNvPr id="7" name="">
            <a:extLst xmlns:a="http://schemas.openxmlformats.org/drawingml/2006/main">
              <a:ext uri="{FF2B5EF4-FFF2-40B4-BE49-F238E27FC236}">
                <a16:creationId xmlns:a16="http://schemas.microsoft.com/office/drawing/2014/main" id="{4D68B913-A07D-4814-8FF0-7A0F977F7507}"/>
              </a:ext>
            </a:extLst>
          </p:cNvPr>
          <p:cNvSpPr>
            <a:spLocks xmlns:a="http://schemas.openxmlformats.org/drawingml/2006/main" noGrp="1"/>
          </p:cNvSpPr>
          <p:nvPr/>
        </p:nvSpPr>
        <p:spPr>
          <a:xfrm xmlns:a="http://schemas.openxmlformats.org/drawingml/2006/main">
            <a:off x="571500" y="64198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F9AAF"/>
                </a:solidFill>
                <a:latin typeface="Aptos"/>
                <a:ea typeface="Aptos"/>
                <a:cs typeface="Aptos"/>
              </a:defRPr>
            </a:pPr>
            <a:r>
              <a:rPr sz="1050" b="0">
                <a:solidFill>
                  <a:srgbClr val="7F9AAF"/>
                </a:solidFill>
                <a:latin typeface="Aptos"/>
                <a:ea typeface="Aptos"/>
                <a:cs typeface="Aptos"/>
              </a:rPr>
              <a:t>Current DE and GSEA results · GSE166635 · selected examples</a:t>
            </a:r>
          </a:p>
        </p:txBody>
      </p:sp>
      <p:sp>
        <p:nvSpPr>
          <p:cNvPr id="8" name="">
            <a:extLst xmlns:a="http://schemas.openxmlformats.org/drawingml/2006/main">
              <a:ext uri="{FF2B5EF4-FFF2-40B4-BE49-F238E27FC236}">
                <a16:creationId xmlns:a16="http://schemas.microsoft.com/office/drawing/2014/main" id="{06AB84F2-E56E-4874-898A-2AAF6AB8AD09}"/>
              </a:ext>
            </a:extLst>
          </p:cNvPr>
          <p:cNvSpPr>
            <a:spLocks xmlns:a="http://schemas.openxmlformats.org/drawingml/2006/main" noGrp="1"/>
          </p:cNvSpPr>
          <p:nvPr/>
        </p:nvSpPr>
        <p:spPr>
          <a:xfrm xmlns:a="http://schemas.openxmlformats.org/drawingml/2006/main">
            <a:off x="111442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F9AAF"/>
                </a:solidFill>
                <a:latin typeface="Aptos"/>
                <a:ea typeface="Aptos"/>
                <a:cs typeface="Aptos"/>
              </a:defRPr>
            </a:pPr>
            <a:r>
              <a:rPr sz="1200" b="0">
                <a:solidFill>
                  <a:srgbClr val="7F9AAF"/>
                </a:solidFill>
                <a:latin typeface="Aptos"/>
                <a:ea typeface="Aptos"/>
                <a:cs typeface="Aptos"/>
              </a:rPr>
              <a:t>7</a:t>
            </a:r>
          </a:p>
        </p:txBody>
      </p:sp>
    </p:spTree>
    <p:extLst>
      <p:ext uri="{BB962C8B-B14F-4D97-AF65-F5344CB8AC3E}">
        <p14:creationId xmlns:p14="http://schemas.microsoft.com/office/powerpoint/2010/main" val="288618969"/>
      </p:ext>
    </p:extLst>
  </p:cSld>
</p:sld>
</file>

<file path=ppt/slides/slide10.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242640D-7AAE-435A-B948-2B66AEB84065}"/>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08 / HCC GRAPH MODEL</a:t>
            </a:r>
          </a:p>
        </p:txBody>
      </p:sp>
      <p:sp>
        <p:nvSpPr>
          <p:cNvPr id="2" name="">
            <a:extLst xmlns:a="http://schemas.openxmlformats.org/drawingml/2006/main">
              <a:ext uri="{FF2B5EF4-FFF2-40B4-BE49-F238E27FC236}">
                <a16:creationId xmlns:a16="http://schemas.microsoft.com/office/drawing/2014/main" id="{36FD6F5F-E3D2-4337-9E49-228F1F437667}"/>
              </a:ext>
            </a:extLst>
          </p:cNvPr>
          <p:cNvSpPr>
            <a:spLocks xmlns:a="http://schemas.openxmlformats.org/drawingml/2006/main" noGrp="1"/>
          </p:cNvSpPr>
          <p:nvPr/>
        </p:nvSpPr>
        <p:spPr>
          <a:xfrm xmlns:a="http://schemas.openxmlformats.org/drawingml/2006/main">
            <a:off x="571500" y="73342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Graph neural networks for evidence-score regression</a:t>
            </a:r>
          </a:p>
        </p:txBody>
      </p:sp>
      <p:sp>
        <p:nvSpPr>
          <p:cNvPr id="3" name="">
            <a:extLst xmlns:a="http://schemas.openxmlformats.org/drawingml/2006/main">
              <a:ext uri="{FF2B5EF4-FFF2-40B4-BE49-F238E27FC236}">
                <a16:creationId xmlns:a16="http://schemas.microsoft.com/office/drawing/2014/main" id="{332C4FE6-9CE2-46A7-AC0C-1EF9AE6DAE04}"/>
              </a:ext>
            </a:extLst>
          </p:cNvPr>
          <p:cNvSpPr>
            <a:spLocks xmlns:a="http://schemas.openxmlformats.org/drawingml/2006/main" noGrp="1"/>
          </p:cNvSpPr>
          <p:nvPr/>
        </p:nvSpPr>
        <p:spPr>
          <a:xfrm xmlns:a="http://schemas.openxmlformats.org/drawingml/2006/main">
            <a:off x="571500" y="14001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Task: estimate a constructed score for known drug–gene associations.</a:t>
            </a:r>
          </a:p>
        </p:txBody>
      </p:sp>
      <p:sp>
        <p:nvSpPr>
          <p:cNvPr id="4" name="">
            <a:extLst xmlns:a="http://schemas.openxmlformats.org/drawingml/2006/main">
              <a:ext uri="{FF2B5EF4-FFF2-40B4-BE49-F238E27FC236}">
                <a16:creationId xmlns:a16="http://schemas.microsoft.com/office/drawing/2014/main" id="{A3A1A620-75AC-4514-BE53-964E103FD56D}"/>
              </a:ext>
            </a:extLst>
          </p:cNvPr>
          <p:cNvSpPr>
            <a:spLocks xmlns:a="http://schemas.openxmlformats.org/drawingml/2006/main" noGrp="1"/>
          </p:cNvSpPr>
          <p:nvPr/>
        </p:nvSpPr>
        <p:spPr>
          <a:xfrm xmlns:a="http://schemas.openxmlformats.org/drawingml/2006/main">
            <a:off x="571500" y="20574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INPUT AND MODEL</a:t>
            </a:r>
          </a:p>
        </p:txBody>
      </p:sp>
      <p:sp>
        <p:nvSpPr>
          <p:cNvPr id="5" name="">
            <a:extLst xmlns:a="http://schemas.openxmlformats.org/drawingml/2006/main">
              <a:ext uri="{FF2B5EF4-FFF2-40B4-BE49-F238E27FC236}">
                <a16:creationId xmlns:a16="http://schemas.microsoft.com/office/drawing/2014/main" id="{47E482B7-68EC-458E-808F-FCC6EB5E24D1}"/>
              </a:ext>
            </a:extLst>
          </p:cNvPr>
          <p:cNvSpPr>
            <a:spLocks xmlns:a="http://schemas.openxmlformats.org/drawingml/2006/main" noGrp="1"/>
          </p:cNvSpPr>
          <p:nvPr/>
        </p:nvSpPr>
        <p:spPr>
          <a:xfrm xmlns:a="http://schemas.openxmlformats.org/drawingml/2006/main">
            <a:off x="571500" y="2533650"/>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Bipartite graph: genes and drug database IDs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Edges: known DGIdb associations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Features: gene expression, hub scores and</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drug / interaction evidence metadata</a:t>
            </a:r>
          </a:p>
        </p:txBody>
      </p:sp>
      <p:sp>
        <p:nvSpPr>
          <p:cNvPr id="6" name="">
            <a:extLst xmlns:a="http://schemas.openxmlformats.org/drawingml/2006/main">
              <a:ext uri="{FF2B5EF4-FFF2-40B4-BE49-F238E27FC236}">
                <a16:creationId xmlns:a16="http://schemas.microsoft.com/office/drawing/2014/main" id="{D1FDA598-439E-4722-8428-78EE884439DE}"/>
              </a:ext>
            </a:extLst>
          </p:cNvPr>
          <p:cNvSpPr>
            <a:spLocks xmlns:a="http://schemas.openxmlformats.org/drawingml/2006/main" noGrp="1"/>
          </p:cNvSpPr>
          <p:nvPr/>
        </p:nvSpPr>
        <p:spPr>
          <a:xfrm xmlns:a="http://schemas.openxmlformats.org/drawingml/2006/main">
            <a:off x="571500" y="38957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Architectures: GCN, GAT and GraphSAGE</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Grouped label splits; validation-only selection</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Three initialization seeds per model</a:t>
            </a:r>
          </a:p>
        </p:txBody>
      </p:sp>
      <p:sp>
        <p:nvSpPr>
          <p:cNvPr id="7" name="">
            <a:extLst xmlns:a="http://schemas.openxmlformats.org/drawingml/2006/main">
              <a:ext uri="{FF2B5EF4-FFF2-40B4-BE49-F238E27FC236}">
                <a16:creationId xmlns:a16="http://schemas.microsoft.com/office/drawing/2014/main" id="{6EA97988-767B-4835-A3A1-F8A307CB4833}"/>
              </a:ext>
            </a:extLst>
          </p:cNvPr>
          <p:cNvSpPr>
            <a:spLocks xmlns:a="http://schemas.openxmlformats.org/drawingml/2006/main" noGrp="1"/>
          </p:cNvSpPr>
          <p:nvPr/>
        </p:nvSpPr>
        <p:spPr>
          <a:xfrm xmlns:a="http://schemas.openxmlformats.org/drawingml/2006/main">
            <a:off x="571500" y="48196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6A04D"/>
                </a:solidFill>
                <a:latin typeface="Aptos"/>
                <a:ea typeface="Aptos"/>
                <a:cs typeface="Aptos"/>
              </a:defRPr>
            </a:pPr>
            <a:r>
              <a:rPr sz="1425" b="0">
                <a:solidFill>
                  <a:srgbClr val="F6A04D"/>
                </a:solidFill>
                <a:latin typeface="Aptos"/>
                <a:ea typeface="Aptos"/>
                <a:cs typeface="Aptos"/>
              </a:rPr>
              <a:t>Target: 0.65 × interaction + 0.15 × approval</a:t>
            </a:r>
          </a:p>
          <a:p xmlns:a="http://schemas.openxmlformats.org/drawingml/2006/main">
            <a:pPr>
              <a:defRPr sz="1425" b="0">
                <a:solidFill>
                  <a:srgbClr val="F6A04D"/>
                </a:solidFill>
                <a:latin typeface="Aptos"/>
                <a:ea typeface="Aptos"/>
                <a:cs typeface="Aptos"/>
              </a:defRPr>
            </a:pPr>
            <a:r>
              <a:rPr sz="1425" b="0">
                <a:solidFill>
                  <a:srgbClr val="F6A04D"/>
                </a:solidFill>
                <a:latin typeface="Aptos"/>
                <a:ea typeface="Aptos"/>
                <a:cs typeface="Aptos"/>
              </a:rPr>
              <a:t>             + 0.20 × hub score</a:t>
            </a:r>
          </a:p>
        </p:txBody>
      </p:sp>
      <p:sp>
        <p:nvSpPr>
          <p:cNvPr id="8" name="">
            <a:extLst xmlns:a="http://schemas.openxmlformats.org/drawingml/2006/main">
              <a:ext uri="{FF2B5EF4-FFF2-40B4-BE49-F238E27FC236}">
                <a16:creationId xmlns:a16="http://schemas.microsoft.com/office/drawing/2014/main" id="{D6E922FE-66AC-477A-8733-6DD3B0880D43}"/>
              </a:ext>
            </a:extLst>
          </p:cNvPr>
          <p:cNvSpPr>
            <a:spLocks xmlns:a="http://schemas.openxmlformats.org/drawingml/2006/main" noGrp="1"/>
          </p:cNvSpPr>
          <p:nvPr/>
        </p:nvSpPr>
        <p:spPr>
          <a:xfrm xmlns:a="http://schemas.openxmlformats.org/drawingml/2006/main">
            <a:off x="6324600" y="20574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HELD-OUT TEST RESULTS</a:t>
            </a:r>
          </a:p>
        </p:txBody>
      </p:sp>
      <p:graphicFrame>
        <p:nvGraphicFramePr>
          <p:cNvPr id="22" name=""/>
          <p:cNvGraphicFramePr/>
          <p:nvPr/>
        </p:nvGraphicFramePr>
        <p:xfrm>
          <a:off xmlns:a="http://schemas.openxmlformats.org/drawingml/2006/main" x="6324600" y="2543175"/>
          <a:ext xmlns:a="http://schemas.openxmlformats.org/drawingml/2006/main" cx="5238750" cy="2628900"/>
        </p:xfrm>
        <a:graphic xmlns:a="http://schemas.openxmlformats.org/drawingml/2006/main">
          <a:graphicData uri="http://schemas.openxmlformats.org/drawingml/2006/table">
            <a:tbl>
              <a:tblPr/>
              <a:tblGrid>
                <a:gridCol w="2143125"/>
                <a:gridCol w="1952625"/>
                <a:gridCol w="1143000"/>
              </a:tblGrid>
              <a:tr h="438150">
                <a:tc>
                  <a:txBody>
                    <a:bodyPr/>
                    <a:lstStyle/>
                    <a:p>
                      <a:r>
                        <a:rPr sz="1425" b="1">
                          <a:solidFill>
                            <a:srgbClr val="F4F8FB"/>
                          </a:solidFill>
                          <a:latin typeface="Aptos"/>
                          <a:ea typeface="Aptos"/>
                          <a:cs typeface="Aptos"/>
                        </a:rPr>
                        <a:t>Model</a:t>
                      </a:r>
                    </a:p>
                  </a:txBody>
                  <a:tcPr marL="114300" marR="95250" marT="114300" marB="114300">
                    <a:solidFill>
                      <a:srgbClr val="245466"/>
                    </a:solidFill>
                  </a:tcPr>
                </a:tc>
                <a:tc>
                  <a:txBody>
                    <a:bodyPr/>
                    <a:lstStyle/>
                    <a:p>
                      <a:r>
                        <a:rPr sz="1425" b="1">
                          <a:solidFill>
                            <a:srgbClr val="F4F8FB"/>
                          </a:solidFill>
                          <a:latin typeface="Aptos"/>
                          <a:ea typeface="Aptos"/>
                          <a:cs typeface="Aptos"/>
                        </a:rPr>
                        <a:t>MSE</a:t>
                      </a:r>
                    </a:p>
                  </a:txBody>
                  <a:tcPr marL="114300" marR="95250" marT="114300" marB="114300">
                    <a:solidFill>
                      <a:srgbClr val="245466"/>
                    </a:solidFill>
                  </a:tcPr>
                </a:tc>
                <a:tc>
                  <a:txBody>
                    <a:bodyPr/>
                    <a:lstStyle/>
                    <a:p>
                      <a:r>
                        <a:rPr sz="1425" b="1">
                          <a:solidFill>
                            <a:srgbClr val="F4F8FB"/>
                          </a:solidFill>
                          <a:latin typeface="Aptos"/>
                          <a:ea typeface="Aptos"/>
                          <a:cs typeface="Aptos"/>
                        </a:rPr>
                        <a:t>R²</a:t>
                      </a:r>
                    </a:p>
                  </a:txBody>
                  <a:tcPr marL="114300" marR="95250" marT="114300" marB="114300">
                    <a:solidFill>
                      <a:srgbClr val="245466"/>
                    </a:solidFill>
                  </a:tcPr>
                </a:tc>
              </a:tr>
              <a:tr h="438150">
                <a:tc>
                  <a:txBody>
                    <a:bodyPr/>
                    <a:lstStyle/>
                    <a:p>
                      <a:r>
                        <a:rPr sz="1425">
                          <a:solidFill>
                            <a:srgbClr val="F4F8FB"/>
                          </a:solidFill>
                          <a:latin typeface="Aptos"/>
                          <a:ea typeface="Aptos"/>
                          <a:cs typeface="Aptos"/>
                        </a:rPr>
                        <a:t>GraphSAGE</a:t>
                      </a:r>
                    </a:p>
                  </a:txBody>
                  <a:tcPr marL="114300" marR="95250" marT="114300" marB="114300">
                    <a:solidFill>
                      <a:srgbClr val="112634"/>
                    </a:solidFill>
                  </a:tcPr>
                </a:tc>
                <a:tc>
                  <a:txBody>
                    <a:bodyPr/>
                    <a:lstStyle/>
                    <a:p>
                      <a:r>
                        <a:rPr sz="1425">
                          <a:solidFill>
                            <a:srgbClr val="F4F8FB"/>
                          </a:solidFill>
                          <a:latin typeface="Aptos"/>
                          <a:ea typeface="Aptos"/>
                          <a:cs typeface="Aptos"/>
                        </a:rPr>
                        <a:t>4.80 × 10⁻⁵</a:t>
                      </a:r>
                    </a:p>
                  </a:txBody>
                  <a:tcPr marL="114300" marR="95250" marT="114300" marB="114300">
                    <a:solidFill>
                      <a:srgbClr val="112634"/>
                    </a:solidFill>
                  </a:tcPr>
                </a:tc>
                <a:tc>
                  <a:txBody>
                    <a:bodyPr/>
                    <a:lstStyle/>
                    <a:p>
                      <a:r>
                        <a:rPr sz="1425">
                          <a:solidFill>
                            <a:srgbClr val="F4F8FB"/>
                          </a:solidFill>
                          <a:latin typeface="Aptos"/>
                          <a:ea typeface="Aptos"/>
                          <a:cs typeface="Aptos"/>
                        </a:rPr>
                        <a:t>0.991</a:t>
                      </a:r>
                    </a:p>
                  </a:txBody>
                  <a:tcPr marL="114300" marR="95250" marT="114300" marB="114300">
                    <a:solidFill>
                      <a:srgbClr val="112634"/>
                    </a:solidFill>
                  </a:tcPr>
                </a:tc>
              </a:tr>
              <a:tr h="438150">
                <a:tc>
                  <a:txBody>
                    <a:bodyPr/>
                    <a:lstStyle/>
                    <a:p>
                      <a:r>
                        <a:rPr sz="1425">
                          <a:solidFill>
                            <a:srgbClr val="F4F8FB"/>
                          </a:solidFill>
                          <a:latin typeface="Aptos"/>
                          <a:ea typeface="Aptos"/>
                          <a:cs typeface="Aptos"/>
                        </a:rPr>
                        <a:t>MLP</a:t>
                      </a:r>
                    </a:p>
                  </a:txBody>
                  <a:tcPr marL="114300" marR="95250" marT="114300" marB="114300">
                    <a:solidFill>
                      <a:srgbClr val="112634"/>
                    </a:solidFill>
                  </a:tcPr>
                </a:tc>
                <a:tc>
                  <a:txBody>
                    <a:bodyPr/>
                    <a:lstStyle/>
                    <a:p>
                      <a:r>
                        <a:rPr sz="1425">
                          <a:solidFill>
                            <a:srgbClr val="F4F8FB"/>
                          </a:solidFill>
                          <a:latin typeface="Aptos"/>
                          <a:ea typeface="Aptos"/>
                          <a:cs typeface="Aptos"/>
                        </a:rPr>
                        <a:t>7.93 × 10⁻⁵</a:t>
                      </a:r>
                    </a:p>
                  </a:txBody>
                  <a:tcPr marL="114300" marR="95250" marT="114300" marB="114300">
                    <a:solidFill>
                      <a:srgbClr val="112634"/>
                    </a:solidFill>
                  </a:tcPr>
                </a:tc>
                <a:tc>
                  <a:txBody>
                    <a:bodyPr/>
                    <a:lstStyle/>
                    <a:p>
                      <a:r>
                        <a:rPr sz="1425">
                          <a:solidFill>
                            <a:srgbClr val="F4F8FB"/>
                          </a:solidFill>
                          <a:latin typeface="Aptos"/>
                          <a:ea typeface="Aptos"/>
                          <a:cs typeface="Aptos"/>
                        </a:rPr>
                        <a:t>0.985</a:t>
                      </a:r>
                    </a:p>
                  </a:txBody>
                  <a:tcPr marL="114300" marR="95250" marT="114300" marB="114300">
                    <a:solidFill>
                      <a:srgbClr val="112634"/>
                    </a:solidFill>
                  </a:tcPr>
                </a:tc>
              </a:tr>
              <a:tr h="438150">
                <a:tc>
                  <a:txBody>
                    <a:bodyPr/>
                    <a:lstStyle/>
                    <a:p>
                      <a:r>
                        <a:rPr sz="1425">
                          <a:solidFill>
                            <a:srgbClr val="F4F8FB"/>
                          </a:solidFill>
                          <a:latin typeface="Aptos"/>
                          <a:ea typeface="Aptos"/>
                          <a:cs typeface="Aptos"/>
                        </a:rPr>
                        <a:t>Without neighbors</a:t>
                      </a:r>
                    </a:p>
                  </a:txBody>
                  <a:tcPr marL="114300" marR="95250" marT="114300" marB="114300">
                    <a:solidFill>
                      <a:srgbClr val="112634"/>
                    </a:solidFill>
                  </a:tcPr>
                </a:tc>
                <a:tc>
                  <a:txBody>
                    <a:bodyPr/>
                    <a:lstStyle/>
                    <a:p>
                      <a:r>
                        <a:rPr sz="1425">
                          <a:solidFill>
                            <a:srgbClr val="F4F8FB"/>
                          </a:solidFill>
                          <a:latin typeface="Aptos"/>
                          <a:ea typeface="Aptos"/>
                          <a:cs typeface="Aptos"/>
                        </a:rPr>
                        <a:t>6.83 × 10⁻⁵</a:t>
                      </a:r>
                    </a:p>
                  </a:txBody>
                  <a:tcPr marL="114300" marR="95250" marT="114300" marB="114300">
                    <a:solidFill>
                      <a:srgbClr val="112634"/>
                    </a:solidFill>
                  </a:tcPr>
                </a:tc>
                <a:tc>
                  <a:txBody>
                    <a:bodyPr/>
                    <a:lstStyle/>
                    <a:p>
                      <a:r>
                        <a:rPr sz="1425">
                          <a:solidFill>
                            <a:srgbClr val="F4F8FB"/>
                          </a:solidFill>
                          <a:latin typeface="Aptos"/>
                          <a:ea typeface="Aptos"/>
                          <a:cs typeface="Aptos"/>
                        </a:rPr>
                        <a:t>0.987</a:t>
                      </a:r>
                    </a:p>
                  </a:txBody>
                  <a:tcPr marL="114300" marR="95250" marT="114300" marB="114300">
                    <a:solidFill>
                      <a:srgbClr val="112634"/>
                    </a:solidFill>
                  </a:tcPr>
                </a:tc>
              </a:tr>
              <a:tr h="438150">
                <a:tc>
                  <a:txBody>
                    <a:bodyPr/>
                    <a:lstStyle/>
                    <a:p>
                      <a:r>
                        <a:rPr sz="1425" b="1">
                          <a:solidFill>
                            <a:srgbClr val="55D0C7"/>
                          </a:solidFill>
                          <a:latin typeface="Aptos"/>
                          <a:ea typeface="Aptos"/>
                          <a:cs typeface="Aptos"/>
                        </a:rPr>
                        <a:t>Ridge</a:t>
                      </a:r>
                    </a:p>
                  </a:txBody>
                  <a:tcPr marL="114300" marR="95250" marT="114300" marB="114300">
                    <a:solidFill>
                      <a:srgbClr val="112634"/>
                    </a:solidFill>
                  </a:tcPr>
                </a:tc>
                <a:tc>
                  <a:txBody>
                    <a:bodyPr/>
                    <a:lstStyle/>
                    <a:p>
                      <a:r>
                        <a:rPr sz="1425" b="1">
                          <a:solidFill>
                            <a:srgbClr val="55D0C7"/>
                          </a:solidFill>
                          <a:latin typeface="Aptos"/>
                          <a:ea typeface="Aptos"/>
                          <a:cs typeface="Aptos"/>
                        </a:rPr>
                        <a:t>1.18 × 10⁻¹¹</a:t>
                      </a:r>
                    </a:p>
                  </a:txBody>
                  <a:tcPr marL="114300" marR="95250" marT="114300" marB="114300">
                    <a:solidFill>
                      <a:srgbClr val="112634"/>
                    </a:solidFill>
                  </a:tcPr>
                </a:tc>
                <a:tc>
                  <a:txBody>
                    <a:bodyPr/>
                    <a:lstStyle/>
                    <a:p>
                      <a:r>
                        <a:rPr sz="1425" b="1">
                          <a:solidFill>
                            <a:srgbClr val="55D0C7"/>
                          </a:solidFill>
                          <a:latin typeface="Aptos"/>
                          <a:ea typeface="Aptos"/>
                          <a:cs typeface="Aptos"/>
                        </a:rPr>
                        <a:t>≈1.000</a:t>
                      </a:r>
                    </a:p>
                  </a:txBody>
                  <a:tcPr marL="114300" marR="95250" marT="114300" marB="114300">
                    <a:solidFill>
                      <a:srgbClr val="112634"/>
                    </a:solidFill>
                  </a:tcPr>
                </a:tc>
              </a:tr>
              <a:tr h="438150">
                <a:tc>
                  <a:txBody>
                    <a:bodyPr/>
                    <a:lstStyle/>
                    <a:p>
                      <a:r>
                        <a:rPr sz="1425">
                          <a:solidFill>
                            <a:srgbClr val="F4F8FB"/>
                          </a:solidFill>
                          <a:latin typeface="Aptos"/>
                          <a:ea typeface="Aptos"/>
                          <a:cs typeface="Aptos"/>
                        </a:rPr>
                        <a:t>Training mean</a:t>
                      </a:r>
                    </a:p>
                  </a:txBody>
                  <a:tcPr marL="114300" marR="95250" marT="114300" marB="114300">
                    <a:solidFill>
                      <a:srgbClr val="112634"/>
                    </a:solidFill>
                  </a:tcPr>
                </a:tc>
                <a:tc>
                  <a:txBody>
                    <a:bodyPr/>
                    <a:lstStyle/>
                    <a:p>
                      <a:r>
                        <a:rPr sz="1425">
                          <a:solidFill>
                            <a:srgbClr val="F4F8FB"/>
                          </a:solidFill>
                          <a:latin typeface="Aptos"/>
                          <a:ea typeface="Aptos"/>
                          <a:cs typeface="Aptos"/>
                        </a:rPr>
                        <a:t>5.41 × 10⁻³</a:t>
                      </a:r>
                    </a:p>
                  </a:txBody>
                  <a:tcPr marL="114300" marR="95250" marT="114300" marB="114300">
                    <a:solidFill>
                      <a:srgbClr val="112634"/>
                    </a:solidFill>
                  </a:tcPr>
                </a:tc>
                <a:tc>
                  <a:txBody>
                    <a:bodyPr/>
                    <a:lstStyle/>
                    <a:p>
                      <a:r>
                        <a:rPr sz="1425">
                          <a:solidFill>
                            <a:srgbClr val="F4F8FB"/>
                          </a:solidFill>
                          <a:latin typeface="Aptos"/>
                          <a:ea typeface="Aptos"/>
                          <a:cs typeface="Aptos"/>
                        </a:rPr>
                        <a:t>−0.001</a:t>
                      </a:r>
                    </a:p>
                  </a:txBody>
                  <a:tcPr marL="114300" marR="95250" marT="114300" marB="114300">
                    <a:solidFill>
                      <a:srgbClr val="112634"/>
                    </a:solidFill>
                  </a:tcPr>
                </a:tc>
              </a:tr>
            </a:tbl>
          </a:graphicData>
        </a:graphic>
      </p:graphicFrame>
      <p:sp>
        <p:nvSpPr>
          <p:cNvPr id="10" name="">
            <a:extLst xmlns:a="http://schemas.openxmlformats.org/drawingml/2006/main">
              <a:ext uri="{FF2B5EF4-FFF2-40B4-BE49-F238E27FC236}">
                <a16:creationId xmlns:a16="http://schemas.microsoft.com/office/drawing/2014/main" id="{1A380AA7-4FEA-438A-AEF3-9216B85B2BFD}"/>
              </a:ext>
            </a:extLst>
          </p:cNvPr>
          <p:cNvSpPr>
            <a:spLocks xmlns:a="http://schemas.openxmlformats.org/drawingml/2006/main" noGrp="1"/>
          </p:cNvSpPr>
          <p:nvPr/>
        </p:nvSpPr>
        <p:spPr>
          <a:xfrm xmlns:a="http://schemas.openxmlformats.org/drawingml/2006/main">
            <a:off x="571500" y="55721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5D0C7"/>
                </a:solidFill>
                <a:latin typeface="Aptos"/>
                <a:ea typeface="Aptos"/>
                <a:cs typeface="Aptos"/>
              </a:defRPr>
            </a:pPr>
            <a:r>
              <a:rPr sz="1725" b="1">
                <a:solidFill>
                  <a:srgbClr val="55D0C7"/>
                </a:solidFill>
                <a:latin typeface="Aptos"/>
                <a:ea typeface="Aptos"/>
                <a:cs typeface="Aptos"/>
              </a:rPr>
              <a:t>Ridge best reconstructs the rule-derived score; the transparent ranking remains primary.</a:t>
            </a:r>
          </a:p>
        </p:txBody>
      </p:sp>
      <p:sp>
        <p:nvSpPr>
          <p:cNvPr id="11" name="">
            <a:extLst xmlns:a="http://schemas.openxmlformats.org/drawingml/2006/main">
              <a:ext uri="{FF2B5EF4-FFF2-40B4-BE49-F238E27FC236}">
                <a16:creationId xmlns:a16="http://schemas.microsoft.com/office/drawing/2014/main" id="{C7B57778-DE38-49A9-9F92-2BC60A4A91E1}"/>
              </a:ext>
            </a:extLst>
          </p:cNvPr>
          <p:cNvSpPr>
            <a:spLocks xmlns:a="http://schemas.openxmlformats.org/drawingml/2006/main" noGrp="1"/>
          </p:cNvSpPr>
          <p:nvPr/>
        </p:nvSpPr>
        <p:spPr>
          <a:xfrm xmlns:a="http://schemas.openxmlformats.org/drawingml/2006/main">
            <a:off x="571500" y="60007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9BAC6"/>
                </a:solidFill>
                <a:latin typeface="Aptos"/>
                <a:ea typeface="Aptos"/>
                <a:cs typeface="Aptos"/>
              </a:defRPr>
            </a:pPr>
            <a:r>
              <a:rPr sz="1275" b="0">
                <a:solidFill>
                  <a:srgbClr val="A9BAC6"/>
                </a:solidFill>
                <a:latin typeface="Aptos"/>
                <a:ea typeface="Aptos"/>
                <a:cs typeface="Aptos"/>
              </a:rPr>
              <a:t>GraphSAGE wins among the tested GNNs. This evaluates score approximation on a known graph.</a:t>
            </a:r>
          </a:p>
          <a:p xmlns:a="http://schemas.openxmlformats.org/drawingml/2006/main">
            <a:pPr>
              <a:defRPr sz="1275" b="0">
                <a:solidFill>
                  <a:srgbClr val="A9BAC6"/>
                </a:solidFill>
                <a:latin typeface="Aptos"/>
                <a:ea typeface="Aptos"/>
                <a:cs typeface="Aptos"/>
              </a:defRPr>
            </a:pPr>
            <a:r>
              <a:rPr sz="1275" b="0">
                <a:solidFill>
                  <a:srgbClr val="A9BAC6"/>
                </a:solidFill>
                <a:latin typeface="Aptos"/>
                <a:ea typeface="Aptos"/>
                <a:cs typeface="Aptos"/>
              </a:rPr>
              <a:t>No experimental efficacy labels; no validation of novel links or responses in unseen drugs.</a:t>
            </a:r>
          </a:p>
        </p:txBody>
      </p:sp>
      <p:sp>
        <p:nvSpPr>
          <p:cNvPr id="12" name="">
            <a:extLst xmlns:a="http://schemas.openxmlformats.org/drawingml/2006/main">
              <a:ext uri="{FF2B5EF4-FFF2-40B4-BE49-F238E27FC236}">
                <a16:creationId xmlns:a16="http://schemas.microsoft.com/office/drawing/2014/main" id="{CF3DA52F-B028-444B-B824-1ACC493CE5A3}"/>
              </a:ext>
            </a:extLst>
          </p:cNvPr>
          <p:cNvSpPr>
            <a:spLocks xmlns:a="http://schemas.openxmlformats.org/drawingml/2006/main" noGrp="1"/>
          </p:cNvSpPr>
          <p:nvPr/>
        </p:nvSpPr>
        <p:spPr>
          <a:xfrm xmlns:a="http://schemas.openxmlformats.org/drawingml/2006/main">
            <a:off x="571500" y="658177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F9AAF"/>
                </a:solidFill>
                <a:latin typeface="Aptos"/>
                <a:ea typeface="Aptos"/>
                <a:cs typeface="Aptos"/>
              </a:defRPr>
            </a:pPr>
            <a:r>
              <a:rPr sz="975" b="0">
                <a:solidFill>
                  <a:srgbClr val="7F9AAF"/>
                </a:solidFill>
                <a:latin typeface="Aptos"/>
                <a:ea typeface="Aptos"/>
                <a:cs typeface="Aptos"/>
              </a:rPr>
              <a:t>Current pooled model run · baseline comparison</a:t>
            </a:r>
          </a:p>
        </p:txBody>
      </p:sp>
      <p:sp>
        <p:nvSpPr>
          <p:cNvPr id="13" name="">
            <a:extLst xmlns:a="http://schemas.openxmlformats.org/drawingml/2006/main">
              <a:ext uri="{FF2B5EF4-FFF2-40B4-BE49-F238E27FC236}">
                <a16:creationId xmlns:a16="http://schemas.microsoft.com/office/drawing/2014/main" id="{A3B4FA04-7D7C-4CF2-9A8E-0628DA3227D4}"/>
              </a:ext>
            </a:extLst>
          </p:cNvPr>
          <p:cNvSpPr>
            <a:spLocks xmlns:a="http://schemas.openxmlformats.org/drawingml/2006/main" noGrp="1"/>
          </p:cNvSpPr>
          <p:nvPr/>
        </p:nvSpPr>
        <p:spPr>
          <a:xfrm xmlns:a="http://schemas.openxmlformats.org/drawingml/2006/main">
            <a:off x="11191875" y="657225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8</a:t>
            </a:r>
          </a:p>
        </p:txBody>
      </p:sp>
    </p:spTree>
    <p:extLst>
      <p:ext uri="{BB962C8B-B14F-4D97-AF65-F5344CB8AC3E}">
        <p14:creationId xmlns:p14="http://schemas.microsoft.com/office/powerpoint/2010/main" val="1564140146"/>
      </p:ext>
    </p:extLst>
  </p:cSld>
</p:sld>
</file>

<file path=ppt/slides/slide11.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DF8EBF2-E443-4A6B-89D1-F13372EAB96F}"/>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10 / SPATIAL BIOLOGICAL INTERPRETATION</a:t>
            </a:r>
          </a:p>
        </p:txBody>
      </p:sp>
      <p:sp>
        <p:nvSpPr>
          <p:cNvPr id="2" name="">
            <a:extLst xmlns:a="http://schemas.openxmlformats.org/drawingml/2006/main">
              <a:ext uri="{FF2B5EF4-FFF2-40B4-BE49-F238E27FC236}">
                <a16:creationId xmlns:a16="http://schemas.microsoft.com/office/drawing/2014/main" id="{5769B645-B012-4715-BB2A-A389147FEC37}"/>
              </a:ext>
            </a:extLst>
          </p:cNvPr>
          <p:cNvSpPr>
            <a:spLocks xmlns:a="http://schemas.openxmlformats.org/drawingml/2006/main" noGrp="1"/>
          </p:cNvSpPr>
          <p:nvPr/>
        </p:nvSpPr>
        <p:spPr>
          <a:xfrm xmlns:a="http://schemas.openxmlformats.org/drawingml/2006/main">
            <a:off x="571500" y="7334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Cardiac expression varies across control sections</a:t>
            </a:r>
          </a:p>
        </p:txBody>
      </p:sp>
      <p:sp>
        <p:nvSpPr>
          <p:cNvPr id="3" name="">
            <a:extLst xmlns:a="http://schemas.openxmlformats.org/drawingml/2006/main">
              <a:ext uri="{FF2B5EF4-FFF2-40B4-BE49-F238E27FC236}">
                <a16:creationId xmlns:a16="http://schemas.microsoft.com/office/drawing/2014/main" id="{E25F5FBC-E489-4E68-9356-CE298B4AFC73}"/>
              </a:ext>
            </a:extLst>
          </p:cNvPr>
          <p:cNvSpPr>
            <a:spLocks xmlns:a="http://schemas.openxmlformats.org/drawingml/2006/main" noGrp="1"/>
          </p:cNvSpPr>
          <p:nvPr/>
        </p:nvSpPr>
        <p:spPr>
          <a:xfrm xmlns:a="http://schemas.openxmlformats.org/drawingml/2006/main">
            <a:off x="571500" y="1371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Direct spatial expression · shared NPPB colour scale · mixed-cell Visium spots</a:t>
            </a:r>
          </a:p>
        </p:txBody>
      </p:sp>
      <p:sp>
        <p:nvSpPr>
          <p:cNvPr id="4" name="">
            <a:extLst xmlns:a="http://schemas.openxmlformats.org/drawingml/2006/main">
              <a:ext uri="{FF2B5EF4-FFF2-40B4-BE49-F238E27FC236}">
                <a16:creationId xmlns:a16="http://schemas.microsoft.com/office/drawing/2014/main" id="{6E234B7D-6F09-42A4-BBAD-2B9B94E535B5}"/>
              </a:ext>
            </a:extLst>
          </p:cNvPr>
          <p:cNvSpPr>
            <a:spLocks xmlns:a="http://schemas.openxmlformats.org/drawingml/2006/main" noGrp="1"/>
          </p:cNvSpPr>
          <p:nvPr/>
        </p:nvSpPr>
        <p:spPr>
          <a:xfrm xmlns:a="http://schemas.openxmlformats.org/drawingml/2006/main">
            <a:off x="11239500"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BEF5D79F-FE4F-4C41-90A2-8630DB71FB4E}"/>
              </a:ext>
            </a:extLst>
          </p:cNvPr>
          <p:cNvSpPr>
            <a:spLocks xmlns:a="http://schemas.openxmlformats.org/drawingml/2006/main" noGrp="1"/>
          </p:cNvSpPr>
          <p:nvPr/>
        </p:nvSpPr>
        <p:spPr>
          <a:xfrm xmlns:a="http://schemas.openxmlformats.org/drawingml/2006/main">
            <a:off x="571500" y="19145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5D0C7"/>
                </a:solidFill>
                <a:latin typeface="Aptos"/>
                <a:ea typeface="Aptos"/>
                <a:cs typeface="Aptos"/>
              </a:defRPr>
            </a:pPr>
            <a:r>
              <a:rPr sz="1350" b="1">
                <a:solidFill>
                  <a:srgbClr val="55D0C7"/>
                </a:solidFill>
                <a:latin typeface="Aptos"/>
                <a:ea typeface="Aptos"/>
                <a:cs typeface="Aptos"/>
              </a:rPr>
              <a:t>NPPB: STRONG SECTION DIFFERENCES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748ec59df7147c0"/>
          <a:stretch xmlns:a="http://schemas.openxmlformats.org/drawingml/2006/main"/>
        </p:blipFill>
        <p:spPr>
          <a:xfrm xmlns:a="http://schemas.openxmlformats.org/drawingml/2006/main">
            <a:off x="523875" y="2229871"/>
            <a:ext cx="11144250" cy="262685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BADB8C2-1ED8-46D1-8FCD-1C57D9BCA484}"/>
              </a:ext>
            </a:extLst>
          </p:cNvPr>
          <p:cNvSpPr>
            <a:spLocks xmlns:a="http://schemas.openxmlformats.org/drawingml/2006/main" noGrp="1"/>
          </p:cNvSpPr>
          <p:nvPr/>
        </p:nvSpPr>
        <p:spPr>
          <a:xfrm xmlns:a="http://schemas.openxmlformats.org/drawingml/2006/main">
            <a:off x="57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MYL2</a:t>
            </a:r>
          </a:p>
        </p:txBody>
      </p:sp>
      <p:sp>
        <p:nvSpPr>
          <p:cNvPr id="8" name="">
            <a:extLst xmlns:a="http://schemas.openxmlformats.org/drawingml/2006/main">
              <a:ext uri="{FF2B5EF4-FFF2-40B4-BE49-F238E27FC236}">
                <a16:creationId xmlns:a16="http://schemas.microsoft.com/office/drawing/2014/main" id="{D5F859D4-4543-4CCD-9F34-BAF38ECDFEC0}"/>
              </a:ext>
            </a:extLst>
          </p:cNvPr>
          <p:cNvSpPr>
            <a:spLocks xmlns:a="http://schemas.openxmlformats.org/drawingml/2006/main" noGrp="1"/>
          </p:cNvSpPr>
          <p:nvPr/>
        </p:nvSpPr>
        <p:spPr>
          <a:xfrm xmlns:a="http://schemas.openxmlformats.org/drawingml/2006/main">
            <a:off x="57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Contractile-expression component</a:t>
            </a:r>
          </a:p>
        </p:txBody>
      </p:sp>
      <p:sp>
        <p:nvSpPr>
          <p:cNvPr id="9" name="">
            <a:extLst xmlns:a="http://schemas.openxmlformats.org/drawingml/2006/main">
              <a:ext uri="{FF2B5EF4-FFF2-40B4-BE49-F238E27FC236}">
                <a16:creationId xmlns:a16="http://schemas.microsoft.com/office/drawing/2014/main" id="{EF3227A3-BA3D-46BF-9854-ADC8AF0E676A}"/>
              </a:ext>
            </a:extLst>
          </p:cNvPr>
          <p:cNvSpPr>
            <a:spLocks xmlns:a="http://schemas.openxmlformats.org/drawingml/2006/main" noGrp="1"/>
          </p:cNvSpPr>
          <p:nvPr/>
        </p:nvSpPr>
        <p:spPr>
          <a:xfrm xmlns:a="http://schemas.openxmlformats.org/drawingml/2006/main">
            <a:off x="57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Widespread in all four sections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Moran’s I = 0.759</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Expression ≠ contractile function</a:t>
            </a:r>
          </a:p>
        </p:txBody>
      </p:sp>
      <p:sp>
        <p:nvSpPr>
          <p:cNvPr id="10" name="">
            <a:extLst xmlns:a="http://schemas.openxmlformats.org/drawingml/2006/main">
              <a:ext uri="{FF2B5EF4-FFF2-40B4-BE49-F238E27FC236}">
                <a16:creationId xmlns:a16="http://schemas.microsoft.com/office/drawing/2014/main" id="{2330B685-5BE5-4717-A2FE-56436B307B65}"/>
              </a:ext>
            </a:extLst>
          </p:cNvPr>
          <p:cNvSpPr>
            <a:spLocks xmlns:a="http://schemas.openxmlformats.org/drawingml/2006/main" noGrp="1"/>
          </p:cNvSpPr>
          <p:nvPr/>
        </p:nvSpPr>
        <p:spPr>
          <a:xfrm xmlns:a="http://schemas.openxmlformats.org/drawingml/2006/main">
            <a:off x="438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NPPB</a:t>
            </a:r>
          </a:p>
        </p:txBody>
      </p:sp>
      <p:sp>
        <p:nvSpPr>
          <p:cNvPr id="11" name="">
            <a:extLst xmlns:a="http://schemas.openxmlformats.org/drawingml/2006/main">
              <a:ext uri="{FF2B5EF4-FFF2-40B4-BE49-F238E27FC236}">
                <a16:creationId xmlns:a16="http://schemas.microsoft.com/office/drawing/2014/main" id="{6419D6EE-E54B-4DEC-B7B7-F21C9F2C3E1D}"/>
              </a:ext>
            </a:extLst>
          </p:cNvPr>
          <p:cNvSpPr>
            <a:spLocks xmlns:a="http://schemas.openxmlformats.org/drawingml/2006/main" noGrp="1"/>
          </p:cNvSpPr>
          <p:nvPr/>
        </p:nvSpPr>
        <p:spPr>
          <a:xfrm xmlns:a="http://schemas.openxmlformats.org/drawingml/2006/main">
            <a:off x="438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Candidate stress-associated pattern</a:t>
            </a:r>
          </a:p>
        </p:txBody>
      </p:sp>
      <p:sp>
        <p:nvSpPr>
          <p:cNvPr id="12" name="">
            <a:extLst xmlns:a="http://schemas.openxmlformats.org/drawingml/2006/main">
              <a:ext uri="{FF2B5EF4-FFF2-40B4-BE49-F238E27FC236}">
                <a16:creationId xmlns:a16="http://schemas.microsoft.com/office/drawing/2014/main" id="{32243E5A-DE29-4130-8228-1CAF90D347B8}"/>
              </a:ext>
            </a:extLst>
          </p:cNvPr>
          <p:cNvSpPr>
            <a:spLocks xmlns:a="http://schemas.openxmlformats.org/drawingml/2006/main" noGrp="1"/>
          </p:cNvSpPr>
          <p:nvPr/>
        </p:nvSpPr>
        <p:spPr>
          <a:xfrm xmlns:a="http://schemas.openxmlformats.org/drawingml/2006/main">
            <a:off x="438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Detected in 84% of P1 spots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Only 1–6% in the other sections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No disease-induced change established</a:t>
            </a:r>
          </a:p>
        </p:txBody>
      </p:sp>
      <p:sp>
        <p:nvSpPr>
          <p:cNvPr id="13" name="">
            <a:extLst xmlns:a="http://schemas.openxmlformats.org/drawingml/2006/main">
              <a:ext uri="{FF2B5EF4-FFF2-40B4-BE49-F238E27FC236}">
                <a16:creationId xmlns:a16="http://schemas.microsoft.com/office/drawing/2014/main" id="{D381333B-2D18-42F6-9BA8-55AEDE405220}"/>
              </a:ext>
            </a:extLst>
          </p:cNvPr>
          <p:cNvSpPr>
            <a:spLocks xmlns:a="http://schemas.openxmlformats.org/drawingml/2006/main" noGrp="1"/>
          </p:cNvSpPr>
          <p:nvPr/>
        </p:nvSpPr>
        <p:spPr>
          <a:xfrm xmlns:a="http://schemas.openxmlformats.org/drawingml/2006/main">
            <a:off x="819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ANKRD1</a:t>
            </a:r>
          </a:p>
        </p:txBody>
      </p:sp>
      <p:sp>
        <p:nvSpPr>
          <p:cNvPr id="14" name="">
            <a:extLst xmlns:a="http://schemas.openxmlformats.org/drawingml/2006/main">
              <a:ext uri="{FF2B5EF4-FFF2-40B4-BE49-F238E27FC236}">
                <a16:creationId xmlns:a16="http://schemas.microsoft.com/office/drawing/2014/main" id="{42971963-E4D6-422D-A82E-DF373A484DE7}"/>
              </a:ext>
            </a:extLst>
          </p:cNvPr>
          <p:cNvSpPr>
            <a:spLocks xmlns:a="http://schemas.openxmlformats.org/drawingml/2006/main" noGrp="1"/>
          </p:cNvSpPr>
          <p:nvPr/>
        </p:nvSpPr>
        <p:spPr>
          <a:xfrm xmlns:a="http://schemas.openxmlformats.org/drawingml/2006/main">
            <a:off x="819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Supporting cardiac-state marker</a:t>
            </a:r>
          </a:p>
        </p:txBody>
      </p:sp>
      <p:sp>
        <p:nvSpPr>
          <p:cNvPr id="15" name="">
            <a:extLst xmlns:a="http://schemas.openxmlformats.org/drawingml/2006/main">
              <a:ext uri="{FF2B5EF4-FFF2-40B4-BE49-F238E27FC236}">
                <a16:creationId xmlns:a16="http://schemas.microsoft.com/office/drawing/2014/main" id="{5A1E4D86-4341-457A-A0FD-92CAFE47DCA5}"/>
              </a:ext>
            </a:extLst>
          </p:cNvPr>
          <p:cNvSpPr>
            <a:spLocks xmlns:a="http://schemas.openxmlformats.org/drawingml/2006/main" noGrp="1"/>
          </p:cNvSpPr>
          <p:nvPr/>
        </p:nvSpPr>
        <p:spPr>
          <a:xfrm xmlns:a="http://schemas.openxmlformats.org/drawingml/2006/main">
            <a:off x="819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Higher mean expression in P1 / P8</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Moran’s I = 0.611</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Section effects require investigation</a:t>
            </a:r>
          </a:p>
        </p:txBody>
      </p:sp>
      <p:sp>
        <p:nvSpPr>
          <p:cNvPr id="16" name="">
            <a:extLst xmlns:a="http://schemas.openxmlformats.org/drawingml/2006/main">
              <a:ext uri="{FF2B5EF4-FFF2-40B4-BE49-F238E27FC236}">
                <a16:creationId xmlns:a16="http://schemas.microsoft.com/office/drawing/2014/main" id="{44390611-3712-4EFB-8EF9-8B85B35B0413}"/>
              </a:ext>
            </a:extLst>
          </p:cNvPr>
          <p:cNvSpPr>
            <a:spLocks xmlns:a="http://schemas.openxmlformats.org/drawingml/2006/main" noGrp="1"/>
          </p:cNvSpPr>
          <p:nvPr/>
        </p:nvSpPr>
        <p:spPr>
          <a:xfrm xmlns:a="http://schemas.openxmlformats.org/drawingml/2006/main">
            <a:off x="571500" y="6543675"/>
            <a:ext cx="10525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F6A04D"/>
                </a:solidFill>
                <a:latin typeface="Aptos"/>
                <a:ea typeface="Aptos"/>
                <a:cs typeface="Aptos"/>
              </a:defRPr>
            </a:pPr>
            <a:r>
              <a:rPr sz="1050" b="0">
                <a:solidFill>
                  <a:srgbClr val="F6A04D"/>
                </a:solidFill>
                <a:latin typeface="Aptos"/>
                <a:ea typeface="Aptos"/>
                <a:cs typeface="Aptos"/>
              </a:rPr>
              <a:t>Control-only data: patterns generate hypotheses; they do not establish injury or pathway activation.</a:t>
            </a:r>
          </a:p>
        </p:txBody>
      </p:sp>
    </p:spTree>
    <p:extLst>
      <p:ext uri="{BB962C8B-B14F-4D97-AF65-F5344CB8AC3E}">
        <p14:creationId xmlns:p14="http://schemas.microsoft.com/office/powerpoint/2010/main" val="82674906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Fatima Shokor - Scientific Journey</dc:title>
  <dc:subject>Interview Presentation - Slide 1</dc:subject>
  <dc:creator>OpenAI</dc:creator>
  <cp:lastModifiedBy>OpenAI</cp:lastModifiedBy>
  <cp:revision>1</cp:revision>
  <dcterms:created xsi:type="dcterms:W3CDTF">2026-10-02T19:19:11Z</dcterms:created>
  <dcterms:modified xsi:type="dcterms:W3CDTF">2026-10-02T19:19:11Z</dcterms:modified>
</cp:coreProperties>
</file>