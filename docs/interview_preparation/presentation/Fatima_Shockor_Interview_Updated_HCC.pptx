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  <p:sldId id="257" r:id="rId8"/>
    <p:sldId id="258" r:id="rId9"/>
    <p:sldId id="259" r:id="rId10"/>
    <p:sldId id="260" r:id="rId11"/>
    <p:sldId id="261" r:id="rId12"/>
    <p:sldId id="264" r:id="rId15"/>
    <p:sldId id="262" r:id="rId13"/>
    <p:sldId id="263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9.xml.rels><?xml version='1.0' encoding='UTF-8' standalone='yes'?>
<Relationships xmlns="http://schemas.openxmlformats.org/package/2006/relationships"><Relationship Type="http://schemas.openxmlformats.org/officeDocument/2006/relationships/slide" Target="../slides/slide9.xml" Id="R74c7de36fabc443c"/><Relationship Type="http://schemas.openxmlformats.org/officeDocument/2006/relationships/notesMaster" Target="../notesMasters/notesMaster1.xml" Id="Rb1cb9f8c82fe466d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Selected pooled HCC2-versus-HCC1 results, not malignant-cell comparisons. APOA2 log2FC -12.198462; SERPINA1 -6.4540467; FTL -4.614934. All meet FDR &lt;0.05 and absolute log2FC &gt;=1. Stored gene FDR values underflow to zero and must not be called literally zero probabilities. KEGG cholesterol metabolism NES -2.28463661861109, adjusted p 9.56994237462538e-09; complement and coagulation cascades NES -2.34291493486101, adjusted p 4.32318970305741e-13; ferroptosis NES -2.08599306895663, adjusted p 8.63458370357047e-06. Each selected gene is verified in the corresponding leading edge. Negative NES is relative enrichment, not functional pathway suppression. APOA2 detection in HCC1 T cells is 93.3%, raising ambient RNA/technical concerns. Only one HCC2 hepatocyte-labelled cell is present. HCC1/HCC2 labels follow Wang, with source-metadata ambiguity. No validated efficacy claim: SERPINA1-IGMESINE is a database association with unresolved mechanism; no FTL drug association in the current snapshot. See docs/interview_preparation/FIVE_PAPER_GENES_AUDIT.md and supporting CSVs. Biological sources: https://www.ncbi.nlm.nih.gov/gene/336/ ; https://medlineplus.gov/genetics/gene/serpina1/ ; https://www.ncbi.nlm.nih.gov/gene/2512 . Reference: https://doi.org/10.1038/s41698-025-00952-3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8"/>
          </a:solidFill>
          <a:ln w="12700">
            <a:solidFill>
              <a:srgbClr val="0710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02920"/>
            <a:ext cx="11430000" cy="0"/>
          </a:xfrm>
          <a:prstGeom prst="line">
            <a:avLst/>
          </a:prstGeom>
          <a:noFill/>
          <a:ln w="7620">
            <a:solidFill>
              <a:srgbClr val="163144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6355080"/>
            <a:ext cx="11430000" cy="0"/>
          </a:xfrm>
          <a:prstGeom prst="line">
            <a:avLst/>
          </a:prstGeom>
          <a:noFill/>
          <a:ln w="7620">
            <a:solidFill>
              <a:srgbClr val="163144">
                <a:alpha val="5500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C9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C9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1.xml" Id="Rd8d4e098713c487a"/><Relationship Type="http://schemas.openxmlformats.org/officeDocument/2006/relationships/notesSlide" Target="../notesSlides/notesSlide9.xml" Id="R0dc3277c52874d7d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0" cy="5715000"/>
          </a:xfrm>
          <a:prstGeom prst="line">
            <a:avLst/>
          </a:prstGeom>
          <a:noFill/>
          <a:ln w="4445">
            <a:solidFill>
              <a:srgbClr val="183043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83080" y="548640"/>
            <a:ext cx="0" cy="5715000"/>
          </a:xfrm>
          <a:prstGeom prst="line">
            <a:avLst/>
          </a:prstGeom>
          <a:noFill/>
          <a:ln w="4445">
            <a:solidFill>
              <a:srgbClr val="183043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548640"/>
            <a:ext cx="0" cy="5715000"/>
          </a:xfrm>
          <a:prstGeom prst="line">
            <a:avLst/>
          </a:prstGeom>
          <a:noFill/>
          <a:ln w="4445">
            <a:solidFill>
              <a:srgbClr val="183043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69080" y="548640"/>
            <a:ext cx="0" cy="5715000"/>
          </a:xfrm>
          <a:prstGeom prst="line">
            <a:avLst/>
          </a:prstGeom>
          <a:noFill/>
          <a:ln w="4445">
            <a:solidFill>
              <a:srgbClr val="183043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0" y="548640"/>
            <a:ext cx="0" cy="5715000"/>
          </a:xfrm>
          <a:prstGeom prst="line">
            <a:avLst/>
          </a:prstGeom>
          <a:noFill/>
          <a:ln w="4445">
            <a:solidFill>
              <a:srgbClr val="183043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55080" y="548640"/>
            <a:ext cx="0" cy="5715000"/>
          </a:xfrm>
          <a:prstGeom prst="line">
            <a:avLst/>
          </a:prstGeom>
          <a:noFill/>
          <a:ln w="4445">
            <a:solidFill>
              <a:srgbClr val="183043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0" y="548640"/>
            <a:ext cx="0" cy="5715000"/>
          </a:xfrm>
          <a:prstGeom prst="line">
            <a:avLst/>
          </a:prstGeom>
          <a:noFill/>
          <a:ln w="4445">
            <a:solidFill>
              <a:srgbClr val="183043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41080" y="548640"/>
            <a:ext cx="0" cy="5715000"/>
          </a:xfrm>
          <a:prstGeom prst="line">
            <a:avLst/>
          </a:prstGeom>
          <a:noFill/>
          <a:ln w="4445">
            <a:solidFill>
              <a:srgbClr val="183043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84080" y="548640"/>
            <a:ext cx="0" cy="5715000"/>
          </a:xfrm>
          <a:prstGeom prst="line">
            <a:avLst/>
          </a:prstGeom>
          <a:noFill/>
          <a:ln w="4445">
            <a:solidFill>
              <a:srgbClr val="183043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27080" y="548640"/>
            <a:ext cx="0" cy="5715000"/>
          </a:xfrm>
          <a:prstGeom prst="line">
            <a:avLst/>
          </a:prstGeom>
          <a:noFill/>
          <a:ln w="4445">
            <a:solidFill>
              <a:srgbClr val="183043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097280"/>
            <a:ext cx="11430000" cy="0"/>
          </a:xfrm>
          <a:prstGeom prst="line">
            <a:avLst/>
          </a:prstGeom>
          <a:noFill/>
          <a:ln w="4445">
            <a:solidFill>
              <a:srgbClr val="183043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48840"/>
            <a:ext cx="11430000" cy="0"/>
          </a:xfrm>
          <a:prstGeom prst="line">
            <a:avLst/>
          </a:prstGeom>
          <a:noFill/>
          <a:ln w="4445">
            <a:solidFill>
              <a:srgbClr val="183043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200400"/>
            <a:ext cx="11430000" cy="0"/>
          </a:xfrm>
          <a:prstGeom prst="line">
            <a:avLst/>
          </a:prstGeom>
          <a:noFill/>
          <a:ln w="4445">
            <a:solidFill>
              <a:srgbClr val="183043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4251960"/>
            <a:ext cx="11430000" cy="0"/>
          </a:xfrm>
          <a:prstGeom prst="line">
            <a:avLst/>
          </a:prstGeom>
          <a:noFill/>
          <a:ln w="4445">
            <a:solidFill>
              <a:srgbClr val="183043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5303520"/>
            <a:ext cx="11430000" cy="0"/>
          </a:xfrm>
          <a:prstGeom prst="line">
            <a:avLst/>
          </a:prstGeom>
          <a:noFill/>
          <a:ln w="4445">
            <a:solidFill>
              <a:srgbClr val="183043">
                <a:alpha val="1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7132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48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FATIMA SHOKOR, PhD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10698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D0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Computational Biology  •  Omics  •  Machine Learning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16916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BIOLOGY TO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40080" y="2121408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2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TRANSLATIONAL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2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COMPUTATIONAL OMICS</a:t>
            </a:r>
            <a:endParaRPr lang="en-US" sz="2500" dirty="0"/>
          </a:p>
        </p:txBody>
      </p:sp>
      <p:sp>
        <p:nvSpPr>
          <p:cNvPr id="21" name="Shape 19"/>
          <p:cNvSpPr/>
          <p:nvPr/>
        </p:nvSpPr>
        <p:spPr>
          <a:xfrm>
            <a:off x="658368" y="3401568"/>
            <a:ext cx="0" cy="676656"/>
          </a:xfrm>
          <a:prstGeom prst="line">
            <a:avLst/>
          </a:prstGeom>
          <a:noFill/>
          <a:ln w="27940">
            <a:solidFill>
              <a:srgbClr val="48A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3392424"/>
            <a:ext cx="40416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D9E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scientific journey from understanding biological systems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9E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modelling them across genes, cells, tissues and patients.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5074920" y="3063240"/>
            <a:ext cx="6309360" cy="0"/>
          </a:xfrm>
          <a:prstGeom prst="line">
            <a:avLst/>
          </a:prstGeom>
          <a:noFill/>
          <a:ln w="21590">
            <a:solidFill>
              <a:srgbClr val="2342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36208" y="2962656"/>
            <a:ext cx="201168" cy="201168"/>
          </a:xfrm>
          <a:prstGeom prst="chevron">
            <a:avLst/>
          </a:prstGeom>
          <a:solidFill>
            <a:srgbClr val="234255"/>
          </a:solidFill>
          <a:ln w="12700">
            <a:solidFill>
              <a:srgbClr val="2342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56448" y="2962656"/>
            <a:ext cx="201168" cy="201168"/>
          </a:xfrm>
          <a:prstGeom prst="chevron">
            <a:avLst/>
          </a:prstGeom>
          <a:solidFill>
            <a:srgbClr val="234255"/>
          </a:solidFill>
          <a:ln w="12700">
            <a:solidFill>
              <a:srgbClr val="2342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76688" y="2962656"/>
            <a:ext cx="201168" cy="201168"/>
          </a:xfrm>
          <a:prstGeom prst="chevron">
            <a:avLst/>
          </a:prstGeom>
          <a:solidFill>
            <a:srgbClr val="234255"/>
          </a:solidFill>
          <a:ln w="12700">
            <a:solidFill>
              <a:srgbClr val="2342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48656" y="2779776"/>
            <a:ext cx="566928" cy="566928"/>
          </a:xfrm>
          <a:prstGeom prst="ellipse">
            <a:avLst/>
          </a:prstGeom>
          <a:solidFill>
            <a:srgbClr val="0D1D29"/>
          </a:solidFill>
          <a:ln w="16510">
            <a:solidFill>
              <a:srgbClr val="55D0C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31536" y="2962656"/>
            <a:ext cx="201168" cy="201168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21224" y="1810512"/>
            <a:ext cx="621792" cy="621792"/>
          </a:xfrm>
          <a:prstGeom prst="ellipse">
            <a:avLst/>
          </a:prstGeom>
          <a:solidFill>
            <a:srgbClr val="0B1822"/>
          </a:solidFill>
          <a:ln w="13970">
            <a:solidFill>
              <a:srgbClr val="55D0C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40680" y="2011680"/>
            <a:ext cx="182880" cy="182880"/>
          </a:xfrm>
          <a:prstGeom prst="ellipse">
            <a:avLst/>
          </a:prstGeom>
          <a:solidFill>
            <a:srgbClr val="55D0C7">
              <a:alpha val="85000"/>
            </a:srgbClr>
          </a:solidFill>
          <a:ln w="10160">
            <a:solidFill>
              <a:srgbClr val="55D0C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10428" y="2098548"/>
            <a:ext cx="45720" cy="45720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71546" y="2289830"/>
            <a:ext cx="45720" cy="45720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46662" y="2216999"/>
            <a:ext cx="45720" cy="45720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46286" y="1980616"/>
            <a:ext cx="45720" cy="45720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70937" y="1907068"/>
            <a:ext cx="45720" cy="45720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57800" y="34930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5D0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846320" y="37490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BIOLOGY</a:t>
            </a:r>
            <a:endParaRPr lang="en-US" sz="1120" dirty="0"/>
          </a:p>
        </p:txBody>
      </p:sp>
      <p:sp>
        <p:nvSpPr>
          <p:cNvPr id="38" name="Text 36"/>
          <p:cNvSpPr/>
          <p:nvPr/>
        </p:nvSpPr>
        <p:spPr>
          <a:xfrm>
            <a:off x="4818888" y="4133088"/>
            <a:ext cx="14264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BDD0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BSc in Biology</a:t>
            </a:r>
            <a:endParaRPr lang="en-US" sz="940" dirty="0"/>
          </a:p>
        </p:txBody>
      </p:sp>
      <p:sp>
        <p:nvSpPr>
          <p:cNvPr id="39" name="Text 37"/>
          <p:cNvSpPr/>
          <p:nvPr/>
        </p:nvSpPr>
        <p:spPr>
          <a:xfrm>
            <a:off x="4782312" y="4553712"/>
            <a:ext cx="149961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7F9A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Curiosity about how complex living systems function.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168896" y="2779776"/>
            <a:ext cx="566928" cy="566928"/>
          </a:xfrm>
          <a:prstGeom prst="ellipse">
            <a:avLst/>
          </a:prstGeom>
          <a:solidFill>
            <a:srgbClr val="0D1D29"/>
          </a:solidFill>
          <a:ln w="16510">
            <a:solidFill>
              <a:srgbClr val="48A3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51776" y="2962656"/>
            <a:ext cx="201168" cy="201168"/>
          </a:xfrm>
          <a:prstGeom prst="ellipse">
            <a:avLst/>
          </a:prstGeom>
          <a:solidFill>
            <a:srgbClr val="48A3FF"/>
          </a:solidFill>
          <a:ln w="12700">
            <a:solidFill>
              <a:srgbClr val="48A3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123176" y="1883664"/>
            <a:ext cx="658368" cy="137160"/>
          </a:xfrm>
          <a:prstGeom prst="roundRect">
            <a:avLst>
              <a:gd name="adj" fmla="val 26667"/>
            </a:avLst>
          </a:prstGeom>
          <a:solidFill>
            <a:srgbClr val="48A3FF">
              <a:alpha val="45000"/>
            </a:srgbClr>
          </a:solidFill>
          <a:ln w="8890">
            <a:solidFill>
              <a:srgbClr val="48A3FF">
                <a:alpha val="9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187184" y="2057400"/>
            <a:ext cx="530352" cy="137160"/>
          </a:xfrm>
          <a:prstGeom prst="roundRect">
            <a:avLst>
              <a:gd name="adj" fmla="val 26667"/>
            </a:avLst>
          </a:prstGeom>
          <a:solidFill>
            <a:srgbClr val="48A3FF">
              <a:alpha val="37000"/>
            </a:srgbClr>
          </a:solidFill>
          <a:ln w="8890">
            <a:solidFill>
              <a:srgbClr val="48A3FF">
                <a:alpha val="9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242048" y="2231136"/>
            <a:ext cx="420624" cy="137160"/>
          </a:xfrm>
          <a:prstGeom prst="roundRect">
            <a:avLst>
              <a:gd name="adj" fmla="val 26667"/>
            </a:avLst>
          </a:prstGeom>
          <a:solidFill>
            <a:srgbClr val="48A3FF">
              <a:alpha val="29000"/>
            </a:srgbClr>
          </a:solidFill>
          <a:ln w="8890">
            <a:solidFill>
              <a:srgbClr val="48A3FF">
                <a:alpha val="9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78040" y="34930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8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766560" y="37490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OMICS &amp;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BIOINFORMATICS</a:t>
            </a:r>
            <a:endParaRPr lang="en-US" sz="1120" dirty="0"/>
          </a:p>
        </p:txBody>
      </p:sp>
      <p:sp>
        <p:nvSpPr>
          <p:cNvPr id="47" name="Text 45"/>
          <p:cNvSpPr/>
          <p:nvPr/>
        </p:nvSpPr>
        <p:spPr>
          <a:xfrm>
            <a:off x="6739128" y="4133088"/>
            <a:ext cx="14264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BDD0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MSc in Omics / Bioinformatics</a:t>
            </a:r>
            <a:endParaRPr lang="en-US" sz="940" dirty="0"/>
          </a:p>
        </p:txBody>
      </p:sp>
      <p:sp>
        <p:nvSpPr>
          <p:cNvPr id="48" name="Text 46"/>
          <p:cNvSpPr/>
          <p:nvPr/>
        </p:nvSpPr>
        <p:spPr>
          <a:xfrm>
            <a:off x="6702552" y="4553712"/>
            <a:ext cx="149961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7F9A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high-throughput data to study biology at scale.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9089136" y="2779776"/>
            <a:ext cx="566928" cy="566928"/>
          </a:xfrm>
          <a:prstGeom prst="ellipse">
            <a:avLst/>
          </a:prstGeom>
          <a:solidFill>
            <a:srgbClr val="0D1D29"/>
          </a:solidFill>
          <a:ln w="16510">
            <a:solidFill>
              <a:srgbClr val="55D0C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272016" y="2962656"/>
            <a:ext cx="201168" cy="201168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116568" y="1975104"/>
            <a:ext cx="256032" cy="-118872"/>
          </a:xfrm>
          <a:prstGeom prst="line">
            <a:avLst/>
          </a:prstGeom>
          <a:noFill/>
          <a:ln w="9525">
            <a:solidFill>
              <a:srgbClr val="55D0C7">
                <a:alpha val="8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372600" y="1856232"/>
            <a:ext cx="256032" cy="118872"/>
          </a:xfrm>
          <a:prstGeom prst="line">
            <a:avLst/>
          </a:prstGeom>
          <a:noFill/>
          <a:ln w="9525">
            <a:solidFill>
              <a:srgbClr val="55D0C7">
                <a:alpha val="8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116568" y="1975104"/>
            <a:ext cx="109728" cy="274320"/>
          </a:xfrm>
          <a:prstGeom prst="line">
            <a:avLst/>
          </a:prstGeom>
          <a:noFill/>
          <a:ln w="9525">
            <a:solidFill>
              <a:srgbClr val="55D0C7">
                <a:alpha val="8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372600" y="1856232"/>
            <a:ext cx="-146304" cy="393192"/>
          </a:xfrm>
          <a:prstGeom prst="line">
            <a:avLst/>
          </a:prstGeom>
          <a:noFill/>
          <a:ln w="9525">
            <a:solidFill>
              <a:srgbClr val="55D0C7">
                <a:alpha val="8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372600" y="1856232"/>
            <a:ext cx="164592" cy="374904"/>
          </a:xfrm>
          <a:prstGeom prst="line">
            <a:avLst/>
          </a:prstGeom>
          <a:noFill/>
          <a:ln w="9525">
            <a:solidFill>
              <a:srgbClr val="55D0C7">
                <a:alpha val="8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628632" y="1975104"/>
            <a:ext cx="-91440" cy="256032"/>
          </a:xfrm>
          <a:prstGeom prst="line">
            <a:avLst/>
          </a:prstGeom>
          <a:noFill/>
          <a:ln w="9525">
            <a:solidFill>
              <a:srgbClr val="55D0C7">
                <a:alpha val="8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226296" y="2249424"/>
            <a:ext cx="146304" cy="182880"/>
          </a:xfrm>
          <a:prstGeom prst="line">
            <a:avLst/>
          </a:prstGeom>
          <a:noFill/>
          <a:ln w="9525">
            <a:solidFill>
              <a:srgbClr val="55D0C7">
                <a:alpha val="8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537192" y="2231136"/>
            <a:ext cx="-164592" cy="201168"/>
          </a:xfrm>
          <a:prstGeom prst="line">
            <a:avLst/>
          </a:prstGeom>
          <a:noFill/>
          <a:ln w="9525">
            <a:solidFill>
              <a:srgbClr val="55D0C7">
                <a:alpha val="8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226296" y="2249424"/>
            <a:ext cx="310896" cy="-18288"/>
          </a:xfrm>
          <a:prstGeom prst="line">
            <a:avLst/>
          </a:prstGeom>
          <a:noFill/>
          <a:ln w="9525">
            <a:solidFill>
              <a:srgbClr val="55D0C7">
                <a:alpha val="8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079992" y="1938528"/>
            <a:ext cx="73152" cy="73152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336024" y="1819656"/>
            <a:ext cx="73152" cy="73152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592056" y="1938528"/>
            <a:ext cx="73152" cy="73152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189720" y="2212848"/>
            <a:ext cx="73152" cy="73152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500616" y="2194560"/>
            <a:ext cx="73152" cy="73152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336024" y="2395728"/>
            <a:ext cx="73152" cy="73152"/>
          </a:xfrm>
          <a:prstGeom prst="ellipse">
            <a:avLst/>
          </a:prstGeom>
          <a:solidFill>
            <a:srgbClr val="55D0C7"/>
          </a:solidFill>
          <a:ln w="12700">
            <a:solidFill>
              <a:srgbClr val="55D0C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098280" y="34930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5D0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8686800" y="37490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GENOMICS + AI</a:t>
            </a:r>
            <a:endParaRPr lang="en-US" sz="1120" dirty="0"/>
          </a:p>
        </p:txBody>
      </p:sp>
      <p:sp>
        <p:nvSpPr>
          <p:cNvPr id="68" name="Text 66"/>
          <p:cNvSpPr/>
          <p:nvPr/>
        </p:nvSpPr>
        <p:spPr>
          <a:xfrm>
            <a:off x="8659368" y="4133088"/>
            <a:ext cx="14264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BDD0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PhD in Genetics &amp; Bioinformatics</a:t>
            </a:r>
            <a:endParaRPr lang="en-US" sz="940" dirty="0"/>
          </a:p>
        </p:txBody>
      </p:sp>
      <p:sp>
        <p:nvSpPr>
          <p:cNvPr id="69" name="Text 67"/>
          <p:cNvSpPr/>
          <p:nvPr/>
        </p:nvSpPr>
        <p:spPr>
          <a:xfrm>
            <a:off x="8622792" y="4553712"/>
            <a:ext cx="149961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7F9A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learning for genomic prediction and non-linear biological relationships.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10826496" y="2779776"/>
            <a:ext cx="566928" cy="566928"/>
          </a:xfrm>
          <a:prstGeom prst="ellipse">
            <a:avLst/>
          </a:prstGeom>
          <a:solidFill>
            <a:srgbClr val="0D1D29"/>
          </a:solidFill>
          <a:ln w="16510">
            <a:solidFill>
              <a:srgbClr val="48A3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009376" y="2962656"/>
            <a:ext cx="201168" cy="201168"/>
          </a:xfrm>
          <a:prstGeom prst="ellipse">
            <a:avLst/>
          </a:prstGeom>
          <a:solidFill>
            <a:srgbClr val="48A3FF"/>
          </a:solidFill>
          <a:ln w="12700">
            <a:solidFill>
              <a:srgbClr val="48A3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799064" y="1883664"/>
            <a:ext cx="621792" cy="475488"/>
          </a:xfrm>
          <a:prstGeom prst="ellipse">
            <a:avLst/>
          </a:prstGeom>
          <a:solidFill>
            <a:srgbClr val="48A3FF">
              <a:alpha val="22000"/>
            </a:srgbClr>
          </a:solidFill>
          <a:ln w="10160">
            <a:solidFill>
              <a:srgbClr val="48A3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913364" y="1943100"/>
            <a:ext cx="64008" cy="64008"/>
          </a:xfrm>
          <a:prstGeom prst="ellipse">
            <a:avLst/>
          </a:prstGeom>
          <a:solidFill>
            <a:srgbClr val="48A3FF"/>
          </a:solidFill>
          <a:ln w="12700">
            <a:solidFill>
              <a:srgbClr val="48A3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096244" y="1933956"/>
            <a:ext cx="64008" cy="64008"/>
          </a:xfrm>
          <a:prstGeom prst="ellipse">
            <a:avLst/>
          </a:prstGeom>
          <a:solidFill>
            <a:srgbClr val="48A3FF"/>
          </a:solidFill>
          <a:ln w="12700">
            <a:solidFill>
              <a:srgbClr val="48A3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251692" y="2016252"/>
            <a:ext cx="64008" cy="64008"/>
          </a:xfrm>
          <a:prstGeom prst="ellipse">
            <a:avLst/>
          </a:prstGeom>
          <a:solidFill>
            <a:srgbClr val="48A3FF"/>
          </a:solidFill>
          <a:ln w="12700">
            <a:solidFill>
              <a:srgbClr val="48A3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023092" y="2098548"/>
            <a:ext cx="64008" cy="64008"/>
          </a:xfrm>
          <a:prstGeom prst="ellipse">
            <a:avLst/>
          </a:prstGeom>
          <a:solidFill>
            <a:srgbClr val="48A3FF"/>
          </a:solidFill>
          <a:ln w="12700">
            <a:solidFill>
              <a:srgbClr val="48A3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1215116" y="2180844"/>
            <a:ext cx="64008" cy="64008"/>
          </a:xfrm>
          <a:prstGeom prst="ellipse">
            <a:avLst/>
          </a:prstGeom>
          <a:solidFill>
            <a:srgbClr val="48A3FF"/>
          </a:solidFill>
          <a:ln w="12700">
            <a:solidFill>
              <a:srgbClr val="48A3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876788" y="2162556"/>
            <a:ext cx="64008" cy="64008"/>
          </a:xfrm>
          <a:prstGeom prst="ellipse">
            <a:avLst/>
          </a:prstGeom>
          <a:solidFill>
            <a:srgbClr val="48A3FF"/>
          </a:solidFill>
          <a:ln w="12700">
            <a:solidFill>
              <a:srgbClr val="48A3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1096244" y="2253996"/>
            <a:ext cx="64008" cy="64008"/>
          </a:xfrm>
          <a:prstGeom prst="ellipse">
            <a:avLst/>
          </a:prstGeom>
          <a:solidFill>
            <a:srgbClr val="48A3FF"/>
          </a:solidFill>
          <a:ln w="12700">
            <a:solidFill>
              <a:srgbClr val="48A3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835640" y="34930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8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10424160" y="37490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2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FOCUS</a:t>
            </a:r>
            <a:endParaRPr lang="en-US" sz="1120" dirty="0"/>
          </a:p>
        </p:txBody>
      </p:sp>
      <p:sp>
        <p:nvSpPr>
          <p:cNvPr id="82" name="Text 80"/>
          <p:cNvSpPr/>
          <p:nvPr/>
        </p:nvSpPr>
        <p:spPr>
          <a:xfrm>
            <a:off x="10396728" y="4133088"/>
            <a:ext cx="14264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BDD0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Translational Computational Omics</a:t>
            </a:r>
            <a:endParaRPr lang="en-US" sz="940" dirty="0"/>
          </a:p>
        </p:txBody>
      </p:sp>
      <p:sp>
        <p:nvSpPr>
          <p:cNvPr id="83" name="Text 81"/>
          <p:cNvSpPr/>
          <p:nvPr/>
        </p:nvSpPr>
        <p:spPr>
          <a:xfrm>
            <a:off x="10360152" y="4553712"/>
            <a:ext cx="149961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7F9A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Single-cell • Spatial • Multi-omics • Human disease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5001768" y="571500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F9AAF"/>
                </a:solidFill>
              </a:rPr>
              <a:t>BIOLOGICAL QUESTION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7251192" y="57150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F9AAF"/>
                </a:solidFill>
              </a:rPr>
              <a:t>DATA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9189720" y="571500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F9AAF"/>
                </a:solidFill>
              </a:rPr>
              <a:t>MODELS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10735056" y="571500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F9AAF"/>
                </a:solidFill>
              </a:rPr>
              <a:t>TRANSLATION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640080" y="599846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70" kern="0" dirty="0">
                <a:solidFill>
                  <a:srgbClr val="48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genes  →  cells  →  tissues  →  patients</a:t>
            </a:r>
            <a:endParaRPr lang="en-US" sz="1050" dirty="0"/>
          </a:p>
        </p:txBody>
      </p:sp>
      <p:sp>
        <p:nvSpPr>
          <p:cNvPr id="8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C9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40080" y="502920"/>
            <a:ext cx="0" cy="594360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783080" y="502920"/>
            <a:ext cx="0" cy="594360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926080" y="502920"/>
            <a:ext cx="0" cy="594360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069080" y="502920"/>
            <a:ext cx="0" cy="594360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212080" y="502920"/>
            <a:ext cx="0" cy="594360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355080" y="502920"/>
            <a:ext cx="0" cy="594360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498079" y="502920"/>
            <a:ext cx="0" cy="594360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641080" y="502920"/>
            <a:ext cx="0" cy="594360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784080" y="502920"/>
            <a:ext cx="0" cy="594360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927080" y="502920"/>
            <a:ext cx="0" cy="594360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685800"/>
            <a:ext cx="11521440" cy="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1645920"/>
            <a:ext cx="11521440" cy="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0040" y="2606040"/>
            <a:ext cx="11521440" cy="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20040" y="3566160"/>
            <a:ext cx="11521440" cy="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20040" y="4526280"/>
            <a:ext cx="11521440" cy="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0040" y="5486400"/>
            <a:ext cx="11521440" cy="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20040" y="6446520"/>
            <a:ext cx="11521440" cy="0"/>
          </a:xfrm>
          <a:prstGeom prst="line">
            <a:avLst/>
          </a:prstGeom>
          <a:ln w="5715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0080" y="438912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02 / EXPERTISE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768096"/>
            <a:ext cx="102412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4F8FB"/>
                </a:solidFill>
                <a:latin typeface="Aptos Display"/>
              </a:rPr>
              <a:t>COMPUTATIONAL &amp; BIOLOGICAL EXPERTISE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1335024"/>
            <a:ext cx="9509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9BAC6"/>
                </a:solidFill>
                <a:latin typeface="Aptos"/>
              </a:rPr>
              <a:t>A connected toolbox — from biological questions to interpretable, reproducible analysis.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27448" y="2542032"/>
            <a:ext cx="2743200" cy="987552"/>
          </a:xfrm>
          <a:prstGeom prst="roundRect">
            <a:avLst/>
          </a:prstGeom>
          <a:solidFill>
            <a:srgbClr val="0D1D29"/>
          </a:solidFill>
          <a:ln w="2032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2724912"/>
            <a:ext cx="2414016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55D0C7"/>
                </a:solidFill>
                <a:latin typeface="Aptos"/>
              </a:rPr>
              <a:t>COMPUTATIONAL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2971800"/>
            <a:ext cx="24140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4F8FB"/>
                </a:solidFill>
                <a:latin typeface="Aptos Display"/>
              </a:rPr>
              <a:t>BIOLOGY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3749039" y="2560320"/>
            <a:ext cx="2350009" cy="475488"/>
          </a:xfrm>
          <a:prstGeom prst="line">
            <a:avLst/>
          </a:prstGeom>
          <a:ln w="14604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099048" y="2560320"/>
            <a:ext cx="2340864" cy="475488"/>
          </a:xfrm>
          <a:prstGeom prst="line">
            <a:avLst/>
          </a:prstGeom>
          <a:ln w="14604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3749039" y="3035808"/>
            <a:ext cx="2350009" cy="1325880"/>
          </a:xfrm>
          <a:prstGeom prst="line">
            <a:avLst/>
          </a:prstGeom>
          <a:ln w="14604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099048" y="3035808"/>
            <a:ext cx="2340864" cy="1325880"/>
          </a:xfrm>
          <a:prstGeom prst="line">
            <a:avLst/>
          </a:prstGeom>
          <a:ln w="14604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099048" y="3035808"/>
            <a:ext cx="4572" cy="1124712"/>
          </a:xfrm>
          <a:prstGeom prst="line">
            <a:avLst/>
          </a:prstGeom>
          <a:ln w="14604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85800" y="1938528"/>
            <a:ext cx="3063240" cy="1261872"/>
          </a:xfrm>
          <a:prstGeom prst="roundRect">
            <a:avLst/>
          </a:prstGeom>
          <a:solidFill>
            <a:srgbClr val="0B1822"/>
          </a:solidFill>
          <a:ln w="10795">
            <a:solidFill>
              <a:srgbClr val="1A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1938528"/>
            <a:ext cx="50292" cy="1261872"/>
          </a:xfrm>
          <a:prstGeom prst="rect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86968" y="2121408"/>
            <a:ext cx="347472" cy="64008"/>
          </a:xfrm>
          <a:prstGeom prst="roundRect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23544" y="2221992"/>
            <a:ext cx="274320" cy="64008"/>
          </a:xfrm>
          <a:prstGeom prst="roundRect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0120" y="2322576"/>
            <a:ext cx="201168" cy="64008"/>
          </a:xfrm>
          <a:prstGeom prst="roundRect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44168" y="2093976"/>
            <a:ext cx="222199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4F8FB"/>
                </a:solidFill>
                <a:latin typeface="Aptos"/>
              </a:rPr>
              <a:t>OMICS &amp; BIOLOGICAL DATA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" y="2468880"/>
            <a:ext cx="267919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A9BAC6"/>
                </a:solidFill>
                <a:latin typeface="Aptos"/>
              </a:rPr>
              <a:t>Genomics · Transcriptomics
scRNA-seq · Spatial
Multi-omics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39912" y="1938528"/>
            <a:ext cx="3063240" cy="1261872"/>
          </a:xfrm>
          <a:prstGeom prst="roundRect">
            <a:avLst/>
          </a:prstGeom>
          <a:solidFill>
            <a:srgbClr val="0B1822"/>
          </a:solidFill>
          <a:ln w="10795">
            <a:solidFill>
              <a:srgbClr val="1A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439912" y="1938528"/>
            <a:ext cx="50292" cy="1261872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641080" y="2340864"/>
            <a:ext cx="68580" cy="146304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750808" y="2231136"/>
            <a:ext cx="68580" cy="256032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860536" y="2130552"/>
            <a:ext cx="68580" cy="356616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98280" y="2093976"/>
            <a:ext cx="222199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4F8FB"/>
                </a:solidFill>
                <a:latin typeface="Aptos"/>
              </a:rPr>
              <a:t>STATISTICS &amp; MODELING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41080" y="2468880"/>
            <a:ext cx="267919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A9BAC6"/>
                </a:solidFill>
                <a:latin typeface="Aptos"/>
              </a:rPr>
              <a:t>Statistical genetics
Differential &amp; pathway analysis
Validation design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3749039"/>
            <a:ext cx="3063240" cy="1261872"/>
          </a:xfrm>
          <a:prstGeom prst="roundRect">
            <a:avLst/>
          </a:prstGeom>
          <a:solidFill>
            <a:srgbClr val="0B1822"/>
          </a:solidFill>
          <a:ln w="10795">
            <a:solidFill>
              <a:srgbClr val="1A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5800" y="3749039"/>
            <a:ext cx="50292" cy="1261872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86968" y="3931920"/>
            <a:ext cx="347472" cy="347472"/>
          </a:xfrm>
          <a:prstGeom prst="ellipse">
            <a:avLst/>
          </a:prstGeom>
          <a:noFill/>
          <a:ln w="15240"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05840" y="4050791"/>
            <a:ext cx="109728" cy="109728"/>
          </a:xfrm>
          <a:prstGeom prst="ellipse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44168" y="3904487"/>
            <a:ext cx="222199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4F8FB"/>
                </a:solidFill>
                <a:latin typeface="Aptos"/>
              </a:rPr>
              <a:t>BIOLOGICAL INTERPRETATION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6968" y="4279392"/>
            <a:ext cx="267919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A9BAC6"/>
                </a:solidFill>
                <a:latin typeface="Aptos"/>
              </a:rPr>
              <a:t>Cell types &amp; states
Networks &amp; pathways
Translational interpretation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39912" y="3749039"/>
            <a:ext cx="3063240" cy="1261872"/>
          </a:xfrm>
          <a:prstGeom prst="roundRect">
            <a:avLst/>
          </a:prstGeom>
          <a:solidFill>
            <a:srgbClr val="0B1822"/>
          </a:solidFill>
          <a:ln w="10795">
            <a:solidFill>
              <a:srgbClr val="1A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439912" y="3749039"/>
            <a:ext cx="50292" cy="1261872"/>
          </a:xfrm>
          <a:prstGeom prst="rect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 flipV="1">
            <a:off x="8686800" y="3977639"/>
            <a:ext cx="146304" cy="146305"/>
          </a:xfrm>
          <a:prstGeom prst="line">
            <a:avLst/>
          </a:prstGeom>
          <a:ln w="1397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833104" y="3977639"/>
            <a:ext cx="146304" cy="146305"/>
          </a:xfrm>
          <a:prstGeom prst="line">
            <a:avLst/>
          </a:prstGeom>
          <a:ln w="1397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8641080" y="4078224"/>
            <a:ext cx="100584" cy="100584"/>
          </a:xfrm>
          <a:prstGeom prst="ellipse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787384" y="3931920"/>
            <a:ext cx="100584" cy="100584"/>
          </a:xfrm>
          <a:prstGeom prst="ellipse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933688" y="4078224"/>
            <a:ext cx="100584" cy="100584"/>
          </a:xfrm>
          <a:prstGeom prst="ellipse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98280" y="3904487"/>
            <a:ext cx="222199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4F8FB"/>
                </a:solidFill>
                <a:latin typeface="Aptos"/>
              </a:rPr>
              <a:t>PIPELINES &amp; DATA ENGINEERING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41080" y="4279392"/>
            <a:ext cx="267919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A9BAC6"/>
                </a:solidFill>
                <a:latin typeface="Aptos"/>
              </a:rPr>
              <a:t>QC · preprocessing · harmonization
Reproducible workflows
Versioned environments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0" y="4160520"/>
            <a:ext cx="3063240" cy="1261872"/>
          </a:xfrm>
          <a:prstGeom prst="roundRect">
            <a:avLst/>
          </a:prstGeom>
          <a:solidFill>
            <a:srgbClr val="0B1822"/>
          </a:solidFill>
          <a:ln w="10795">
            <a:solidFill>
              <a:srgbClr val="1A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72000" y="4160520"/>
            <a:ext cx="50292" cy="1261872"/>
          </a:xfrm>
          <a:prstGeom prst="rect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 flipV="1">
            <a:off x="4805172" y="4375404"/>
            <a:ext cx="155448" cy="73152"/>
          </a:xfrm>
          <a:prstGeom prst="line">
            <a:avLst/>
          </a:prstGeom>
          <a:ln w="8255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805172" y="4448556"/>
            <a:ext cx="155448" cy="91440"/>
          </a:xfrm>
          <a:prstGeom prst="line">
            <a:avLst/>
          </a:prstGeom>
          <a:ln w="8255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805172" y="4448556"/>
            <a:ext cx="155448" cy="256032"/>
          </a:xfrm>
          <a:prstGeom prst="line">
            <a:avLst/>
          </a:prstGeom>
          <a:ln w="8255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4805172" y="4375404"/>
            <a:ext cx="155448" cy="256032"/>
          </a:xfrm>
          <a:prstGeom prst="line">
            <a:avLst/>
          </a:prstGeom>
          <a:ln w="8255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4805172" y="4539996"/>
            <a:ext cx="155448" cy="91440"/>
          </a:xfrm>
          <a:prstGeom prst="line">
            <a:avLst/>
          </a:prstGeom>
          <a:ln w="8255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805172" y="4631436"/>
            <a:ext cx="155448" cy="73152"/>
          </a:xfrm>
          <a:prstGeom prst="line">
            <a:avLst/>
          </a:prstGeom>
          <a:ln w="8255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960620" y="4375404"/>
            <a:ext cx="173736" cy="164592"/>
          </a:xfrm>
          <a:prstGeom prst="line">
            <a:avLst/>
          </a:prstGeom>
          <a:ln w="8255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960620" y="4539996"/>
            <a:ext cx="173736" cy="0"/>
          </a:xfrm>
          <a:prstGeom prst="line">
            <a:avLst/>
          </a:prstGeom>
          <a:ln w="8255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960620" y="4539996"/>
            <a:ext cx="173736" cy="164592"/>
          </a:xfrm>
          <a:prstGeom prst="line">
            <a:avLst/>
          </a:prstGeom>
          <a:ln w="8255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4773168" y="4416552"/>
            <a:ext cx="68580" cy="68580"/>
          </a:xfrm>
          <a:prstGeom prst="ellipse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773168" y="4599432"/>
            <a:ext cx="68580" cy="68580"/>
          </a:xfrm>
          <a:prstGeom prst="ellipse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928616" y="4343400"/>
            <a:ext cx="68580" cy="68580"/>
          </a:xfrm>
          <a:prstGeom prst="ellipse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928616" y="4507992"/>
            <a:ext cx="68580" cy="68580"/>
          </a:xfrm>
          <a:prstGeom prst="ellipse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928616" y="4672584"/>
            <a:ext cx="68580" cy="68580"/>
          </a:xfrm>
          <a:prstGeom prst="ellipse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102352" y="4507992"/>
            <a:ext cx="68580" cy="68580"/>
          </a:xfrm>
          <a:prstGeom prst="ellipse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230368" y="4315968"/>
            <a:ext cx="222199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4F8FB"/>
                </a:solidFill>
                <a:latin typeface="Aptos"/>
              </a:rPr>
              <a:t>MACHINE LEARNING &amp; AI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773168" y="4690872"/>
            <a:ext cx="267919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A9BAC6"/>
                </a:solidFill>
                <a:latin typeface="Aptos"/>
              </a:rPr>
              <a:t>Deep &amp; multimodal learning
Transfer / representation learning
Graph neural networks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85800" y="5742432"/>
            <a:ext cx="10817352" cy="566928"/>
          </a:xfrm>
          <a:prstGeom prst="roundRect">
            <a:avLst/>
          </a:prstGeom>
          <a:solidFill>
            <a:srgbClr val="0D1D29"/>
          </a:solidFill>
          <a:ln w="10160">
            <a:solidFill>
              <a:srgbClr val="1A3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14400" y="5897880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55D0C7"/>
                </a:solidFill>
                <a:latin typeface="Aptos"/>
              </a:rPr>
              <a:t>TOOLS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874519" y="5843016"/>
            <a:ext cx="9052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4F8FB"/>
                </a:solidFill>
                <a:latin typeface="Aptos"/>
              </a:rPr>
              <a:t>Python   •   R   •   PyTorch   •   Scanpy   •   Seurat   •   Bash   •   Git   •   Docker / Conda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13232" y="6455664"/>
            <a:ext cx="7223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A9BAC6"/>
                </a:solidFill>
                <a:latin typeface="Aptos"/>
              </a:rPr>
              <a:t>The case studies that follow focus only on the domains most relevant to the project.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292840" y="6437376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9BAC6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521208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03 / PhD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68096"/>
            <a:ext cx="1033272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4F8FB"/>
                </a:solidFill>
                <a:latin typeface="Aptos Display"/>
              </a:rPr>
              <a:t>DEEP LEARNING FOR GENOMIC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14984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A9BAC6"/>
                </a:solidFill>
                <a:latin typeface="Aptos"/>
              </a:rPr>
              <a:t>Can deep learning capture biological relationships that classical genomic models may miss?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3200400" cy="3584448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096512" y="1874519"/>
            <a:ext cx="3968496" cy="3584448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02752" y="1874519"/>
            <a:ext cx="3227832" cy="3584448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265176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1  COMPLEX BIOLOGY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2039112"/>
            <a:ext cx="30175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48A3FF"/>
                </a:solidFill>
                <a:latin typeface="Aptos"/>
              </a:rPr>
              <a:t>2  MY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0496" y="2039112"/>
            <a:ext cx="2560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3  KEY LESSON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578608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568" y="2578608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16736" y="2578608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17904" y="2578608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9072" y="2578608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20240" y="2578608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21408" y="2578608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22576" y="2578608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2779776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15568" y="2779776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16736" y="2779776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517904" y="2779776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719072" y="2779776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920240" y="2779776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21408" y="2779776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22576" y="2779776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2980944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15568" y="2980944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316736" y="2980944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17904" y="2980944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19072" y="2980944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20240" y="2980944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121408" y="2980944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322576" y="2980944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0" y="3182112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15568" y="3182112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316736" y="3182112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517904" y="3182112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719072" y="3182112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920240" y="3182112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21408" y="3182112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22576" y="3182112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4400" y="3383279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15568" y="3383279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316736" y="3383279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517904" y="3383279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719072" y="3383279"/>
            <a:ext cx="155448" cy="155448"/>
          </a:xfrm>
          <a:prstGeom prst="rect">
            <a:avLst/>
          </a:prstGeom>
          <a:solidFill>
            <a:srgbClr val="18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920240" y="3383279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121408" y="3383279"/>
            <a:ext cx="155448" cy="155448"/>
          </a:xfrm>
          <a:prstGeom prst="rect">
            <a:avLst/>
          </a:prstGeom>
          <a:solidFill>
            <a:srgbClr val="23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322576" y="3383279"/>
            <a:ext cx="155448" cy="155448"/>
          </a:xfrm>
          <a:prstGeom prst="rect">
            <a:avLst/>
          </a:prstGeom>
          <a:solidFill>
            <a:srgbClr val="4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642616" y="2532888"/>
            <a:ext cx="91440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7F9AAF"/>
                </a:solidFill>
                <a:latin typeface="Aptos"/>
              </a:rPr>
              <a:t>GENOMIC
DATA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2688" y="3730752"/>
            <a:ext cx="146304" cy="246888"/>
          </a:xfrm>
          <a:prstGeom prst="rect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88720" y="3520439"/>
            <a:ext cx="146304" cy="457200"/>
          </a:xfrm>
          <a:prstGeom prst="rect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444752" y="3648456"/>
            <a:ext cx="146304" cy="329184"/>
          </a:xfrm>
          <a:prstGeom prst="rect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700784" y="3383279"/>
            <a:ext cx="146304" cy="594360"/>
          </a:xfrm>
          <a:prstGeom prst="rect">
            <a:avLst/>
          </a:prstGeom>
          <a:solidFill>
            <a:srgbClr val="55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84831" y="3666744"/>
            <a:ext cx="1417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7F9AAF"/>
                </a:solidFill>
                <a:latin typeface="Aptos"/>
              </a:rPr>
              <a:t>PHENOTYPE</a:t>
            </a:r>
          </a:p>
        </p:txBody>
      </p:sp>
      <p:cxnSp>
        <p:nvCxnSpPr>
          <p:cNvPr id="57" name="Connector 56"/>
          <p:cNvCxnSpPr/>
          <p:nvPr/>
        </p:nvCxnSpPr>
        <p:spPr>
          <a:xfrm flipV="1">
            <a:off x="932688" y="3794760"/>
            <a:ext cx="1307592" cy="621792"/>
          </a:xfrm>
          <a:prstGeom prst="line">
            <a:avLst/>
          </a:prstGeom>
          <a:ln w="17780">
            <a:solidFill>
              <a:srgbClr val="7F9A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2359152" y="4206240"/>
            <a:ext cx="219456" cy="201168"/>
          </a:xfrm>
          <a:prstGeom prst="line">
            <a:avLst/>
          </a:prstGeom>
          <a:ln w="22860">
            <a:solidFill>
              <a:srgbClr val="48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578608" y="4206240"/>
            <a:ext cx="192024" cy="73152"/>
          </a:xfrm>
          <a:prstGeom prst="line">
            <a:avLst/>
          </a:prstGeom>
          <a:ln w="22860">
            <a:solidFill>
              <a:srgbClr val="48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2770632" y="3913632"/>
            <a:ext cx="201168" cy="365760"/>
          </a:xfrm>
          <a:prstGeom prst="line">
            <a:avLst/>
          </a:prstGeom>
          <a:ln w="22860">
            <a:solidFill>
              <a:srgbClr val="48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971800" y="3913632"/>
            <a:ext cx="210312" cy="109728"/>
          </a:xfrm>
          <a:prstGeom prst="line">
            <a:avLst/>
          </a:prstGeom>
          <a:ln w="22860">
            <a:solidFill>
              <a:srgbClr val="48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182112" y="3703320"/>
            <a:ext cx="219456" cy="320040"/>
          </a:xfrm>
          <a:prstGeom prst="line">
            <a:avLst/>
          </a:prstGeom>
          <a:ln w="22860">
            <a:solidFill>
              <a:srgbClr val="48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896112" y="4718304"/>
            <a:ext cx="274320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4F8FB"/>
                </a:solidFill>
                <a:latin typeface="Aptos"/>
              </a:rPr>
              <a:t>High-dimensional traits can combine
additive and non-linear relationships.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70832" y="2578608"/>
            <a:ext cx="9601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7F9AAF"/>
                </a:solidFill>
                <a:latin typeface="Aptos"/>
              </a:rPr>
              <a:t>INPUT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370832" y="2871216"/>
            <a:ext cx="868680" cy="105156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471416" y="2980944"/>
            <a:ext cx="6583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4F8FB"/>
                </a:solidFill>
                <a:latin typeface="Aptos"/>
              </a:rPr>
              <a:t>SNPs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71416" y="3300984"/>
            <a:ext cx="6583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4F8FB"/>
                </a:solidFill>
                <a:latin typeface="Aptos"/>
              </a:rPr>
              <a:t>Traits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71416" y="3621024"/>
            <a:ext cx="6583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A9BAC6"/>
                </a:solidFill>
                <a:latin typeface="Aptos"/>
              </a:rPr>
              <a:t>Covariates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5285232" y="3392424"/>
            <a:ext cx="448056" cy="0"/>
          </a:xfrm>
          <a:prstGeom prst="line">
            <a:avLst/>
          </a:prstGeom>
          <a:ln w="17780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5760720" y="2679192"/>
            <a:ext cx="1554480" cy="111556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897880" y="2807208"/>
            <a:ext cx="128016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48A3FF"/>
                </a:solidFill>
                <a:latin typeface="Aptos"/>
              </a:rPr>
              <a:t>STATISTICAL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97880" y="3081528"/>
            <a:ext cx="128016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4F8FB"/>
                </a:solidFill>
                <a:latin typeface="Aptos"/>
              </a:rPr>
              <a:t>GBLUP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879592" y="3410712"/>
            <a:ext cx="1316736" cy="2103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A9BAC6"/>
                </a:solidFill>
                <a:latin typeface="Aptos"/>
              </a:rPr>
              <a:t>additive signal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760720" y="3995928"/>
            <a:ext cx="1554480" cy="109728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897880" y="4114800"/>
            <a:ext cx="128016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55D0C7"/>
                </a:solidFill>
                <a:latin typeface="Aptos"/>
              </a:rPr>
              <a:t>DEEP LEARNING</a:t>
            </a:r>
          </a:p>
        </p:txBody>
      </p:sp>
      <p:sp>
        <p:nvSpPr>
          <p:cNvPr id="76" name="Oval 75"/>
          <p:cNvSpPr/>
          <p:nvPr/>
        </p:nvSpPr>
        <p:spPr>
          <a:xfrm>
            <a:off x="6021324" y="4604004"/>
            <a:ext cx="82296" cy="82296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6313932" y="4402836"/>
            <a:ext cx="82296" cy="82296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313932" y="4805172"/>
            <a:ext cx="82296" cy="82296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6615684" y="4366260"/>
            <a:ext cx="82296" cy="82296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6615684" y="4631436"/>
            <a:ext cx="82296" cy="82296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6615684" y="4878324"/>
            <a:ext cx="82296" cy="82296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917436" y="4594860"/>
            <a:ext cx="82296" cy="82296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 flipV="1">
            <a:off x="6062472" y="4443984"/>
            <a:ext cx="292608" cy="201168"/>
          </a:xfrm>
          <a:prstGeom prst="line">
            <a:avLst/>
          </a:prstGeom>
          <a:ln w="1143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6062472" y="4645152"/>
            <a:ext cx="292608" cy="201168"/>
          </a:xfrm>
          <a:prstGeom prst="line">
            <a:avLst/>
          </a:prstGeom>
          <a:ln w="1143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6355080" y="4407408"/>
            <a:ext cx="301752" cy="36576"/>
          </a:xfrm>
          <a:prstGeom prst="line">
            <a:avLst/>
          </a:prstGeom>
          <a:ln w="1143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6355080" y="4443984"/>
            <a:ext cx="301752" cy="228600"/>
          </a:xfrm>
          <a:prstGeom prst="line">
            <a:avLst/>
          </a:prstGeom>
          <a:ln w="1143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6355080" y="4672584"/>
            <a:ext cx="301752" cy="173736"/>
          </a:xfrm>
          <a:prstGeom prst="line">
            <a:avLst/>
          </a:prstGeom>
          <a:ln w="1143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6355080" y="4846320"/>
            <a:ext cx="301752" cy="73152"/>
          </a:xfrm>
          <a:prstGeom prst="line">
            <a:avLst/>
          </a:prstGeom>
          <a:ln w="1143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6656832" y="4407408"/>
            <a:ext cx="301752" cy="228600"/>
          </a:xfrm>
          <a:prstGeom prst="line">
            <a:avLst/>
          </a:prstGeom>
          <a:ln w="1143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6656832" y="4636008"/>
            <a:ext cx="301752" cy="36576"/>
          </a:xfrm>
          <a:prstGeom prst="line">
            <a:avLst/>
          </a:prstGeom>
          <a:ln w="1143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6656832" y="4636008"/>
            <a:ext cx="301752" cy="283464"/>
          </a:xfrm>
          <a:prstGeom prst="line">
            <a:avLst/>
          </a:prstGeom>
          <a:ln w="1143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7315200" y="3236976"/>
            <a:ext cx="182879" cy="512063"/>
          </a:xfrm>
          <a:prstGeom prst="line">
            <a:avLst/>
          </a:prstGeom>
          <a:ln w="17780">
            <a:solidFill>
              <a:srgbClr val="48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7315200" y="4041648"/>
            <a:ext cx="182879" cy="512064"/>
          </a:xfrm>
          <a:prstGeom prst="line">
            <a:avLst/>
          </a:prstGeom>
          <a:ln w="1778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Diamond 93"/>
          <p:cNvSpPr/>
          <p:nvPr/>
        </p:nvSpPr>
        <p:spPr>
          <a:xfrm>
            <a:off x="7424927" y="3703320"/>
            <a:ext cx="512064" cy="512064"/>
          </a:xfrm>
          <a:prstGeom prst="diamond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498079" y="3813048"/>
            <a:ext cx="36576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4F8FB"/>
                </a:solidFill>
                <a:latin typeface="Aptos"/>
              </a:rPr>
              <a:t>GV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70832" y="5084064"/>
            <a:ext cx="352044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4F8FB"/>
                </a:solidFill>
                <a:latin typeface="Aptos"/>
              </a:rPr>
              <a:t>Statistical baseline  +  neural model</a:t>
            </a:r>
          </a:p>
        </p:txBody>
      </p:sp>
      <p:sp>
        <p:nvSpPr>
          <p:cNvPr id="97" name="Oval 96"/>
          <p:cNvSpPr/>
          <p:nvPr/>
        </p:nvSpPr>
        <p:spPr>
          <a:xfrm>
            <a:off x="8522208" y="2615184"/>
            <a:ext cx="292608" cy="292608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540496" y="2660903"/>
            <a:ext cx="256032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01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51976" y="2596896"/>
            <a:ext cx="2258568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4F8FB"/>
                </a:solidFill>
                <a:latin typeface="Aptos"/>
              </a:rPr>
              <a:t>Strong baseline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51976" y="2871215"/>
            <a:ext cx="21945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A9BAC6"/>
                </a:solidFill>
                <a:latin typeface="Aptos"/>
              </a:rPr>
              <a:t>Classical models remain robust
for additive genetic effects.</a:t>
            </a:r>
          </a:p>
        </p:txBody>
      </p:sp>
      <p:sp>
        <p:nvSpPr>
          <p:cNvPr id="101" name="Oval 100"/>
          <p:cNvSpPr/>
          <p:nvPr/>
        </p:nvSpPr>
        <p:spPr>
          <a:xfrm>
            <a:off x="8522208" y="3483864"/>
            <a:ext cx="292608" cy="292608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540496" y="3529584"/>
            <a:ext cx="256032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02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51976" y="3465576"/>
            <a:ext cx="2258568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4F8FB"/>
                </a:solidFill>
                <a:latin typeface="Aptos"/>
              </a:rPr>
              <a:t>Selective DL value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51976" y="3739896"/>
            <a:ext cx="21945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A9BAC6"/>
                </a:solidFill>
                <a:latin typeface="Aptos"/>
              </a:rPr>
              <a:t>DL helps when additional
non-linear structure exists.</a:t>
            </a:r>
          </a:p>
        </p:txBody>
      </p:sp>
      <p:sp>
        <p:nvSpPr>
          <p:cNvPr id="105" name="Oval 104"/>
          <p:cNvSpPr/>
          <p:nvPr/>
        </p:nvSpPr>
        <p:spPr>
          <a:xfrm>
            <a:off x="8522208" y="4352544"/>
            <a:ext cx="292608" cy="292608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540496" y="4398264"/>
            <a:ext cx="256032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03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51976" y="4334256"/>
            <a:ext cx="2258568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4F8FB"/>
                </a:solidFill>
                <a:latin typeface="Aptos"/>
              </a:rPr>
              <a:t>Justify complexity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51976" y="4608576"/>
            <a:ext cx="21945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A9BAC6"/>
                </a:solidFill>
                <a:latin typeface="Aptos"/>
              </a:rPr>
              <a:t>Complex models should earn
their place against baselines.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58368" y="5678424"/>
            <a:ext cx="10872216" cy="512064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32688" y="5769864"/>
            <a:ext cx="103327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55D0C7"/>
                </a:solidFill>
                <a:latin typeface="Aptos"/>
              </a:rPr>
              <a:t>DEEP LEARNING AS A COMPLEMENT TO ESTABLISHED STATISTICAL MODELS — NOT A REPLACEMENT.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13232" y="6245352"/>
            <a:ext cx="438912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7F9AAF"/>
                </a:solidFill>
                <a:latin typeface="Aptos"/>
              </a:rPr>
              <a:t>Python  •  PyTorch  •  statistical genetics  •  simulation + real data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1265408" y="6245352"/>
            <a:ext cx="22860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50" b="0">
                <a:solidFill>
                  <a:srgbClr val="7F9AAF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04 / OMICSAGE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3327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4F8FB"/>
                </a:solidFill>
                <a:latin typeface="Aptos Display"/>
              </a:rPr>
              <a:t>FROM ISOLATED ANALYSES TO REPRODUCIBLE MULTI-OMICS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71016"/>
            <a:ext cx="9966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9BAC6"/>
                </a:solidFill>
                <a:latin typeface="Aptos"/>
              </a:rPr>
              <a:t>A modular framework connecting single-cell, spatial and multimodal analysis with reproducible biological interpretation.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2331720" cy="3520440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039111"/>
            <a:ext cx="192938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BIOLOGICAL INPUTS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313431"/>
            <a:ext cx="1929384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4F8FB"/>
                </a:solidFill>
                <a:latin typeface="Aptos"/>
              </a:rPr>
              <a:t>Different assays,
one analysis framework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054095"/>
            <a:ext cx="347472" cy="347472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54095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RNA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53312" y="2999231"/>
            <a:ext cx="1417320" cy="457200"/>
          </a:xfrm>
          <a:prstGeom prst="roundRect">
            <a:avLst/>
          </a:prstGeom>
          <a:solidFill>
            <a:srgbClr val="112634"/>
          </a:solidFill>
          <a:ln w="1397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2999231"/>
            <a:ext cx="1417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1">
                <a:solidFill>
                  <a:srgbClr val="F4F8FB"/>
                </a:solidFill>
                <a:latin typeface="Aptos"/>
              </a:rPr>
              <a:t>scRNA-seq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648455"/>
            <a:ext cx="347472" cy="347472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48455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XY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53312" y="3593591"/>
            <a:ext cx="1417320" cy="457200"/>
          </a:xfrm>
          <a:prstGeom prst="roundRect">
            <a:avLst/>
          </a:prstGeom>
          <a:solidFill>
            <a:srgbClr val="112634"/>
          </a:solidFill>
          <a:ln w="13970"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53312" y="3593591"/>
            <a:ext cx="1417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1">
                <a:solidFill>
                  <a:srgbClr val="F4F8FB"/>
                </a:solidFill>
                <a:latin typeface="Aptos"/>
              </a:rPr>
              <a:t>Spatial transcriptomics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242815"/>
            <a:ext cx="347472" cy="347472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242815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53312" y="4187951"/>
            <a:ext cx="1417320" cy="457200"/>
          </a:xfrm>
          <a:prstGeom prst="roundRect">
            <a:avLst/>
          </a:prstGeom>
          <a:solidFill>
            <a:srgbClr val="112634"/>
          </a:solidFill>
          <a:ln w="1397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53312" y="4187951"/>
            <a:ext cx="1417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1">
                <a:solidFill>
                  <a:srgbClr val="F4F8FB"/>
                </a:solidFill>
                <a:latin typeface="Aptos"/>
              </a:rPr>
              <a:t>ATAC / CITE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4837175"/>
            <a:ext cx="347472" cy="347472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37175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REF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53312" y="4782311"/>
            <a:ext cx="1417320" cy="457200"/>
          </a:xfrm>
          <a:prstGeom prst="roundRect">
            <a:avLst/>
          </a:prstGeom>
          <a:solidFill>
            <a:srgbClr val="112634"/>
          </a:solidFill>
          <a:ln w="13970"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53312" y="4782311"/>
            <a:ext cx="1417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1">
                <a:solidFill>
                  <a:srgbClr val="F4F8FB"/>
                </a:solidFill>
                <a:latin typeface="Aptos"/>
              </a:rPr>
              <a:t>Paired references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46120" y="1874519"/>
            <a:ext cx="4572000" cy="3520440"/>
          </a:xfrm>
          <a:prstGeom prst="roundRect">
            <a:avLst/>
          </a:prstGeom>
          <a:solidFill>
            <a:srgbClr val="0D1D29"/>
          </a:solidFill>
          <a:ln w="16510">
            <a:solidFill>
              <a:srgbClr val="1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2039111"/>
            <a:ext cx="4114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48A3FF"/>
                </a:solidFill>
                <a:latin typeface="Aptos"/>
              </a:rPr>
              <a:t>MODULAR ANALYSIS HUB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2496311"/>
            <a:ext cx="2377440" cy="749808"/>
          </a:xfrm>
          <a:prstGeom prst="roundRect">
            <a:avLst/>
          </a:prstGeom>
          <a:solidFill>
            <a:srgbClr val="102B38"/>
          </a:solidFill>
          <a:ln w="2159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2551175"/>
            <a:ext cx="23774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4F8FB"/>
                </a:solidFill>
                <a:latin typeface="Aptos"/>
              </a:rPr>
              <a:t>OMIC SAGE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2889503"/>
            <a:ext cx="2377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55D0C7"/>
                </a:solidFill>
                <a:latin typeface="Aptos"/>
              </a:rPr>
              <a:t>Modular  •  Reproducible  •  Extensible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66160" y="3538727"/>
            <a:ext cx="1783080" cy="65836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639312" y="3621023"/>
            <a:ext cx="256032" cy="256032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39312" y="3621023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B1822"/>
                </a:solidFill>
                <a:latin typeface="Aptos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50208" y="3630167"/>
            <a:ext cx="1325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PREPROCESS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3320" y="3877055"/>
            <a:ext cx="15087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0">
                <a:solidFill>
                  <a:srgbClr val="A9BAC6"/>
                </a:solidFill>
                <a:latin typeface="Aptos"/>
              </a:rPr>
              <a:t>QC · normalize · HVGs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96712" y="3538727"/>
            <a:ext cx="1783080" cy="65836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69864" y="3621023"/>
            <a:ext cx="256032" cy="256032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9864" y="3621023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B1822"/>
                </a:solidFill>
                <a:latin typeface="Aptos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3630167"/>
            <a:ext cx="1325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REPRESENT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33872" y="3877055"/>
            <a:ext cx="15087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0">
                <a:solidFill>
                  <a:srgbClr val="A9BAC6"/>
                </a:solidFill>
                <a:latin typeface="Aptos"/>
              </a:rPr>
              <a:t>PCA · neighbors · clusters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566160" y="4416551"/>
            <a:ext cx="1783080" cy="65836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639312" y="4498847"/>
            <a:ext cx="256032" cy="256032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39312" y="4498847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B1822"/>
                </a:solidFill>
                <a:latin typeface="Aptos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50208" y="4507991"/>
            <a:ext cx="1325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INTEGRATE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03320" y="4754879"/>
            <a:ext cx="15087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0">
                <a:solidFill>
                  <a:srgbClr val="A9BAC6"/>
                </a:solidFill>
                <a:latin typeface="Aptos"/>
              </a:rPr>
              <a:t>DE · deconvolution · mapping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96712" y="4416551"/>
            <a:ext cx="1783080" cy="65836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769864" y="4498847"/>
            <a:ext cx="256032" cy="256032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69864" y="4498847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B1822"/>
                </a:solidFill>
                <a:latin typeface="Aptos"/>
              </a:rP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0760" y="4507991"/>
            <a:ext cx="1325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INTERPRET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33872" y="4754879"/>
            <a:ext cx="15087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0">
                <a:solidFill>
                  <a:srgbClr val="A9BAC6"/>
                </a:solidFill>
                <a:latin typeface="Aptos"/>
              </a:rPr>
              <a:t>pathways · niches · communication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532120" y="3246119"/>
            <a:ext cx="0" cy="219456"/>
          </a:xfrm>
          <a:prstGeom prst="line">
            <a:avLst/>
          </a:prstGeom>
          <a:ln w="19050">
            <a:solidFill>
              <a:srgbClr val="55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349240" y="3867911"/>
            <a:ext cx="347472" cy="0"/>
          </a:xfrm>
          <a:prstGeom prst="line">
            <a:avLst/>
          </a:prstGeom>
          <a:ln w="15240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349240" y="4745735"/>
            <a:ext cx="347472" cy="0"/>
          </a:xfrm>
          <a:prstGeom prst="line">
            <a:avLst/>
          </a:prstGeom>
          <a:ln w="15240">
            <a:solidFill>
              <a:srgbClr val="13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532120" y="4197095"/>
            <a:ext cx="0" cy="219456"/>
          </a:xfrm>
          <a:prstGeom prst="line">
            <a:avLst/>
          </a:prstGeom>
          <a:ln w="12700">
            <a:solidFill>
              <a:srgbClr val="132A3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ight Arrow 52"/>
          <p:cNvSpPr/>
          <p:nvPr/>
        </p:nvSpPr>
        <p:spPr>
          <a:xfrm>
            <a:off x="3090672" y="3538727"/>
            <a:ext cx="429768" cy="530352"/>
          </a:xfrm>
          <a:prstGeom prst="rightArrow">
            <a:avLst/>
          </a:prstGeom>
          <a:solidFill>
            <a:srgbClr val="18303F"/>
          </a:solidFill>
          <a:ln>
            <a:solidFill>
              <a:srgbClr val="183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ight Arrow 53"/>
          <p:cNvSpPr/>
          <p:nvPr/>
        </p:nvSpPr>
        <p:spPr>
          <a:xfrm>
            <a:off x="7891272" y="3538727"/>
            <a:ext cx="429768" cy="530352"/>
          </a:xfrm>
          <a:prstGeom prst="rightArrow">
            <a:avLst/>
          </a:prstGeom>
          <a:solidFill>
            <a:srgbClr val="18303F"/>
          </a:solidFill>
          <a:ln>
            <a:solidFill>
              <a:srgbClr val="183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046720" y="1874519"/>
            <a:ext cx="3429000" cy="3520440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47888" y="2039111"/>
            <a:ext cx="302666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BIOLOGICAL OUTPUTS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47888" y="2313431"/>
            <a:ext cx="3026664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4F8FB"/>
                </a:solidFill>
                <a:latin typeface="Aptos"/>
              </a:rPr>
              <a:t>From processing
to interpretable results</a:t>
            </a:r>
          </a:p>
        </p:txBody>
      </p:sp>
      <p:sp>
        <p:nvSpPr>
          <p:cNvPr id="58" name="Oval 57"/>
          <p:cNvSpPr/>
          <p:nvPr/>
        </p:nvSpPr>
        <p:spPr>
          <a:xfrm>
            <a:off x="8266176" y="3108959"/>
            <a:ext cx="237744" cy="237744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66176" y="3108959"/>
            <a:ext cx="237744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B1822"/>
                </a:solidFill>
                <a:latin typeface="Aptos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13648" y="3044951"/>
            <a:ext cx="2468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CELL STATES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13648" y="3273551"/>
            <a:ext cx="2468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9BAC6"/>
                </a:solidFill>
                <a:latin typeface="Aptos"/>
              </a:rPr>
              <a:t>clusters · annotations · DE</a:t>
            </a:r>
          </a:p>
        </p:txBody>
      </p:sp>
      <p:sp>
        <p:nvSpPr>
          <p:cNvPr id="62" name="Oval 61"/>
          <p:cNvSpPr/>
          <p:nvPr/>
        </p:nvSpPr>
        <p:spPr>
          <a:xfrm>
            <a:off x="8266176" y="3721607"/>
            <a:ext cx="237744" cy="237744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66176" y="3721607"/>
            <a:ext cx="237744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B1822"/>
                </a:solidFill>
                <a:latin typeface="Aptos"/>
              </a:rPr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13648" y="3657599"/>
            <a:ext cx="2468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SPATIAL CONTEXT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13648" y="3886199"/>
            <a:ext cx="2468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9BAC6"/>
                </a:solidFill>
                <a:latin typeface="Aptos"/>
              </a:rPr>
              <a:t>SVGs · niches · neighborhoods</a:t>
            </a:r>
          </a:p>
        </p:txBody>
      </p:sp>
      <p:sp>
        <p:nvSpPr>
          <p:cNvPr id="66" name="Oval 65"/>
          <p:cNvSpPr/>
          <p:nvPr/>
        </p:nvSpPr>
        <p:spPr>
          <a:xfrm>
            <a:off x="8266176" y="4334255"/>
            <a:ext cx="237744" cy="237744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66176" y="4334255"/>
            <a:ext cx="237744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B1822"/>
                </a:solidFill>
                <a:latin typeface="Aptos"/>
              </a:rPr>
              <a:t>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13648" y="4270247"/>
            <a:ext cx="2468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INTERACTIONS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13648" y="4498847"/>
            <a:ext cx="2468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9BAC6"/>
                </a:solidFill>
                <a:latin typeface="Aptos"/>
              </a:rPr>
              <a:t>co-occurrence · ligand–receptor</a:t>
            </a:r>
          </a:p>
        </p:txBody>
      </p:sp>
      <p:sp>
        <p:nvSpPr>
          <p:cNvPr id="70" name="Oval 69"/>
          <p:cNvSpPr/>
          <p:nvPr/>
        </p:nvSpPr>
        <p:spPr>
          <a:xfrm>
            <a:off x="8266176" y="4946903"/>
            <a:ext cx="237744" cy="237744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66176" y="4946903"/>
            <a:ext cx="237744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1">
                <a:solidFill>
                  <a:srgbClr val="0B1822"/>
                </a:solidFill>
                <a:latin typeface="Aptos"/>
              </a:rP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613648" y="4882895"/>
            <a:ext cx="2468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REPRODUCIBLE REPORTS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13648" y="5111495"/>
            <a:ext cx="2468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9BAC6"/>
                </a:solidFill>
                <a:latin typeface="Aptos"/>
              </a:rPr>
              <a:t>configs · reruns · documented outputs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68680" y="5605272"/>
            <a:ext cx="10149840" cy="576072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05840" y="5660136"/>
            <a:ext cx="9875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20" b="1">
                <a:solidFill>
                  <a:srgbClr val="F4F8FB"/>
                </a:solidFill>
                <a:latin typeface="Aptos"/>
              </a:rPr>
              <a:t>A common framework for moving from raw omics data to interpretable biological results.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05840" y="5907024"/>
            <a:ext cx="9875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0">
                <a:solidFill>
                  <a:srgbClr val="55D0C7"/>
                </a:solidFill>
                <a:latin typeface="Aptos"/>
              </a:rPr>
              <a:t>Reusable analysis logic  •  project-specific biological questions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01400" y="6272784"/>
            <a:ext cx="228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0">
                <a:solidFill>
                  <a:srgbClr val="7F9AAF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05 / HCC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3327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50" b="1">
                <a:solidFill>
                  <a:srgbClr val="F4F8FB"/>
                </a:solidFill>
                <a:latin typeface="Aptos Display"/>
              </a:rPr>
              <a:t>HCC SINGLE-CELL TRANSCRIPTOMICS — WORKFLOW &amp; ANALYTICAL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52728"/>
            <a:ext cx="9784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9BAC6"/>
                </a:solidFill>
                <a:latin typeface="Aptos"/>
              </a:rPr>
              <a:t>An end-to-end exploratory scRNA-seq workflow, from quality control to cell-type-specific biological interpretation.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6583680" cy="3611880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21945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ANALYSIS FLOW</a:t>
            </a:r>
          </a:p>
        </p:txBody>
      </p:sp>
      <p:sp>
        <p:nvSpPr>
          <p:cNvPr id="7" name="Oval 6"/>
          <p:cNvSpPr/>
          <p:nvPr/>
        </p:nvSpPr>
        <p:spPr>
          <a:xfrm>
            <a:off x="768096" y="2249424"/>
            <a:ext cx="475488" cy="475488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249424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1">
                <a:solidFill>
                  <a:srgbClr val="F4F8FB"/>
                </a:solidFill>
                <a:latin typeface="Aptos"/>
              </a:rP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3063240"/>
            <a:ext cx="1143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0" b="0">
                <a:solidFill>
                  <a:srgbClr val="A9BAC6"/>
                </a:solidFill>
                <a:latin typeface="Aptos"/>
              </a:rPr>
              <a:t>25,189 cells
2 samples (HCC1 / HCC2)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280160" y="2487168"/>
            <a:ext cx="475488" cy="0"/>
          </a:xfrm>
          <a:prstGeom prst="line">
            <a:avLst/>
          </a:prstGeom>
          <a:ln w="25400">
            <a:solidFill>
              <a:srgbClr val="1A3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792224" y="2249424"/>
            <a:ext cx="475488" cy="475488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92224" y="2249424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834640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1">
                <a:solidFill>
                  <a:srgbClr val="F4F8FB"/>
                </a:solidFill>
                <a:latin typeface="Aptos"/>
              </a:rPr>
              <a:t>QC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063240"/>
            <a:ext cx="1143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0" b="0">
                <a:solidFill>
                  <a:srgbClr val="A9BAC6"/>
                </a:solidFill>
                <a:latin typeface="Aptos"/>
              </a:rPr>
              <a:t>200–7,500 genes
mt &lt;15%
18,309 retained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304288" y="2487168"/>
            <a:ext cx="475488" cy="0"/>
          </a:xfrm>
          <a:prstGeom prst="line">
            <a:avLst/>
          </a:prstGeom>
          <a:ln w="25400">
            <a:solidFill>
              <a:srgbClr val="1A3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816352" y="2249424"/>
            <a:ext cx="475488" cy="475488"/>
          </a:xfrm>
          <a:prstGeom prst="ellipse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16352" y="2249424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2834640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1">
                <a:solidFill>
                  <a:srgbClr val="F4F8FB"/>
                </a:solidFill>
                <a:latin typeface="Aptos"/>
              </a:rPr>
              <a:t>REPRESENT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87168" y="3063240"/>
            <a:ext cx="1143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0" b="0">
                <a:solidFill>
                  <a:srgbClr val="A9BAC6"/>
                </a:solidFill>
                <a:latin typeface="Aptos"/>
              </a:rPr>
              <a:t>Normalize · log1p
2,000 HVGs
20 PCs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328416" y="2487168"/>
            <a:ext cx="475488" cy="0"/>
          </a:xfrm>
          <a:prstGeom prst="line">
            <a:avLst/>
          </a:prstGeom>
          <a:ln w="25400">
            <a:solidFill>
              <a:srgbClr val="1A3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840480" y="2249424"/>
            <a:ext cx="475488" cy="475488"/>
          </a:xfrm>
          <a:prstGeom prst="ellipse">
            <a:avLst/>
          </a:prstGeom>
          <a:solidFill>
            <a:srgbClr val="F6A04D"/>
          </a:solidFill>
          <a:ln>
            <a:solidFill>
              <a:srgbClr val="F6A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0" y="2249424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21024" y="2834640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1">
                <a:solidFill>
                  <a:srgbClr val="F4F8FB"/>
                </a:solidFill>
                <a:latin typeface="Aptos"/>
              </a:rPr>
              <a:t>CLUSTER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11296" y="3063240"/>
            <a:ext cx="1143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0" b="0">
                <a:solidFill>
                  <a:srgbClr val="A9BAC6"/>
                </a:solidFill>
                <a:latin typeface="Aptos"/>
              </a:rPr>
              <a:t>15 neighbors
Leiden 0.5
19 clusters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352544" y="2487168"/>
            <a:ext cx="475488" cy="0"/>
          </a:xfrm>
          <a:prstGeom prst="line">
            <a:avLst/>
          </a:prstGeom>
          <a:ln w="25400">
            <a:solidFill>
              <a:srgbClr val="1A3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4864608" y="2249424"/>
            <a:ext cx="475488" cy="475488"/>
          </a:xfrm>
          <a:prstGeom prst="ellipse">
            <a:avLst/>
          </a:prstGeom>
          <a:solidFill>
            <a:srgbClr val="F7C95C"/>
          </a:solidFill>
          <a:ln>
            <a:solidFill>
              <a:srgbClr val="F7C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4608" y="2249424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5152" y="2834640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1">
                <a:solidFill>
                  <a:srgbClr val="F4F8FB"/>
                </a:solidFill>
                <a:latin typeface="Aptos"/>
              </a:rPr>
              <a:t>ANNOTATE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35424" y="3063240"/>
            <a:ext cx="1143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0" b="0">
                <a:solidFill>
                  <a:srgbClr val="A9BAC6"/>
                </a:solidFill>
                <a:latin typeface="Aptos"/>
              </a:rPr>
              <a:t>CellTypist + ScType
SingleR + markers
11 broad labels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376672" y="2487168"/>
            <a:ext cx="475488" cy="0"/>
          </a:xfrm>
          <a:prstGeom prst="line">
            <a:avLst/>
          </a:prstGeom>
          <a:ln w="25400">
            <a:solidFill>
              <a:srgbClr val="1A3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888736" y="2249424"/>
            <a:ext cx="475488" cy="475488"/>
          </a:xfrm>
          <a:prstGeom prst="ellipse">
            <a:avLst/>
          </a:prstGeom>
          <a:solidFill>
            <a:srgbClr val="7AD17A"/>
          </a:solidFill>
          <a:ln>
            <a:solidFill>
              <a:srgbClr val="7AD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88736" y="2249424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2834640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1">
                <a:solidFill>
                  <a:srgbClr val="F4F8FB"/>
                </a:solidFill>
                <a:latin typeface="Aptos"/>
              </a:rPr>
              <a:t>COMPARE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59552" y="3063240"/>
            <a:ext cx="1143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0" b="0">
                <a:solidFill>
                  <a:srgbClr val="A9BAC6"/>
                </a:solidFill>
                <a:latin typeface="Aptos"/>
              </a:rPr>
              <a:t>Pooled and cell-type-specific
DE + GSEA
interpretation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" y="4023360"/>
            <a:ext cx="6217920" cy="109728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2415" y="4151376"/>
            <a:ext cx="1645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48A3FF"/>
                </a:solidFill>
                <a:latin typeface="Aptos"/>
              </a:rPr>
              <a:t>KEY TAKEAWAYS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" y="4407408"/>
            <a:ext cx="57607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A9BAC6"/>
                </a:solidFill>
                <a:latin typeface="Aptos"/>
              </a:rPr>
              <a:t>• Distribution-informed QC rather than copying the paper thresholds.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4" y="4608576"/>
            <a:ext cx="57607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A9BAC6"/>
                </a:solidFill>
                <a:latin typeface="Aptos"/>
              </a:rPr>
              <a:t>• Annotation supported by multiple references plus marker review.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" y="4809744"/>
            <a:ext cx="57607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A9BAC6"/>
                </a:solidFill>
                <a:latin typeface="Aptos"/>
              </a:rPr>
              <a:t>• Cell-type-specific contrasts used to avoid over-interpreting pooled sample differences.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52360" y="1783080"/>
            <a:ext cx="3886200" cy="3611880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53527" y="1920240"/>
            <a:ext cx="2103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DESIGN &amp; INTERPRETATION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62672" y="2212848"/>
            <a:ext cx="3456432" cy="82296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27264" y="2286000"/>
            <a:ext cx="31546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4F8FB"/>
                </a:solidFill>
                <a:latin typeface="Aptos"/>
              </a:rPr>
              <a:t>Experimental unit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27264" y="248716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0" b="0">
                <a:solidFill>
                  <a:srgbClr val="A9BAC6"/>
                </a:solidFill>
                <a:latin typeface="Aptos"/>
              </a:rPr>
              <a:t>1 sample per analysis group.
Cells are observations within samples, not independent biological replicates.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662672" y="3182112"/>
            <a:ext cx="3456432" cy="100584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27264" y="3255264"/>
            <a:ext cx="2926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4F8FB"/>
                </a:solidFill>
                <a:latin typeface="Aptos"/>
              </a:rPr>
              <a:t>How to position the results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27264" y="3474720"/>
            <a:ext cx="3063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0" b="0">
                <a:solidFill>
                  <a:srgbClr val="A9BAC6"/>
                </a:solidFill>
                <a:latin typeface="Aptos"/>
              </a:rPr>
              <a:t>Exploratory, sample-associated differences.
Good for workflow development and biological hypotheses, not population-level HCC conclusions.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662672" y="4352544"/>
            <a:ext cx="3456432" cy="77724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27264" y="4443984"/>
            <a:ext cx="2926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4F8FB"/>
                </a:solidFill>
                <a:latin typeface="Aptos"/>
              </a:rPr>
              <a:t>Main message for the interview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27264" y="4663440"/>
            <a:ext cx="29992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55D0C7"/>
                </a:solidFill>
                <a:latin typeface="Aptos"/>
              </a:rPr>
              <a:t>I can build and critically audit a complete scRNA-seq workflow.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01400" y="6272784"/>
            <a:ext cx="228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0">
                <a:solidFill>
                  <a:srgbClr val="7F9AAF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06 / BIOLOGICAL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3327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F4F8FB"/>
                </a:solidFill>
                <a:latin typeface="Aptos Display"/>
              </a:rPr>
              <a:t>WHAT DID SINGLE-CELL RESOLUTION CHANGE BIOLOGICALLY?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52728"/>
            <a:ext cx="9966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9BAC6"/>
                </a:solidFill>
                <a:latin typeface="Aptos"/>
              </a:rPr>
              <a:t>The strongest finding is cellular composition; stratifying by cell type changes how expression differences are interpreted.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5532120" cy="3703320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2560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A. RECOVERED CELL COMPOSITION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5029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A9BAC6"/>
                </a:solidFill>
                <a:latin typeface="Aptos"/>
              </a:rPr>
              <a:t>Fractions are among retained annotated cells — not direct tissue abundance.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359152"/>
            <a:ext cx="15087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1">
                <a:solidFill>
                  <a:srgbClr val="F4F8FB"/>
                </a:solidFill>
                <a:latin typeface="Aptos"/>
              </a:rPr>
              <a:t>HCC1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359152"/>
            <a:ext cx="15087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1">
                <a:solidFill>
                  <a:srgbClr val="F4F8FB"/>
                </a:solidFill>
                <a:latin typeface="Aptos"/>
              </a:rPr>
              <a:t>HCC2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60904"/>
            <a:ext cx="116128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F4F8FB"/>
                </a:solidFill>
                <a:latin typeface="Aptos"/>
              </a:rPr>
              <a:t>T cells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4560" y="2642616"/>
            <a:ext cx="1508760" cy="164592"/>
          </a:xfrm>
          <a:prstGeom prst="roundRect">
            <a:avLst/>
          </a:prstGeom>
          <a:solidFill>
            <a:srgbClr val="132431"/>
          </a:solidFill>
          <a:ln w="6350">
            <a:solidFill>
              <a:srgbClr val="13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94560" y="2642616"/>
            <a:ext cx="275952" cy="164592"/>
          </a:xfrm>
          <a:prstGeom prst="roundRect">
            <a:avLst/>
          </a:prstGeom>
          <a:solidFill>
            <a:srgbClr val="48A3FF"/>
          </a:solidFill>
          <a:ln w="6350"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2624328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9BAC6"/>
                </a:solidFill>
                <a:latin typeface="Aptos"/>
              </a:rPr>
              <a:t>18.29%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2642616"/>
            <a:ext cx="1508760" cy="164592"/>
          </a:xfrm>
          <a:prstGeom prst="roundRect">
            <a:avLst/>
          </a:prstGeom>
          <a:solidFill>
            <a:srgbClr val="132431"/>
          </a:solidFill>
          <a:ln w="6350">
            <a:solidFill>
              <a:srgbClr val="13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60520" y="2642616"/>
            <a:ext cx="1173060" cy="164592"/>
          </a:xfrm>
          <a:prstGeom prst="roundRect">
            <a:avLst/>
          </a:prstGeom>
          <a:solidFill>
            <a:srgbClr val="48A3FF"/>
          </a:solidFill>
          <a:ln w="6350"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96712" y="2624328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9BAC6"/>
                </a:solidFill>
                <a:latin typeface="Aptos"/>
              </a:rPr>
              <a:t>77.75%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191256"/>
            <a:ext cx="116128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F4F8FB"/>
                </a:solidFill>
                <a:latin typeface="Aptos"/>
              </a:rPr>
              <a:t>Macrophages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94560" y="3172968"/>
            <a:ext cx="1508760" cy="164592"/>
          </a:xfrm>
          <a:prstGeom prst="roundRect">
            <a:avLst/>
          </a:prstGeom>
          <a:solidFill>
            <a:srgbClr val="132431"/>
          </a:solidFill>
          <a:ln w="6350">
            <a:solidFill>
              <a:srgbClr val="13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194560" y="3172968"/>
            <a:ext cx="779576" cy="164592"/>
          </a:xfrm>
          <a:prstGeom prst="roundRect">
            <a:avLst/>
          </a:prstGeom>
          <a:solidFill>
            <a:srgbClr val="55D0C7"/>
          </a:solidFill>
          <a:ln w="635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30752" y="3154680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9BAC6"/>
                </a:solidFill>
                <a:latin typeface="Aptos"/>
              </a:rPr>
              <a:t>51.67%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172968"/>
            <a:ext cx="1508760" cy="164592"/>
          </a:xfrm>
          <a:prstGeom prst="roundRect">
            <a:avLst/>
          </a:prstGeom>
          <a:solidFill>
            <a:srgbClr val="132431"/>
          </a:solidFill>
          <a:ln w="6350">
            <a:solidFill>
              <a:srgbClr val="13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160520" y="3172968"/>
            <a:ext cx="8147" cy="164592"/>
          </a:xfrm>
          <a:prstGeom prst="roundRect">
            <a:avLst/>
          </a:prstGeom>
          <a:solidFill>
            <a:srgbClr val="55D0C7"/>
          </a:solidFill>
          <a:ln w="635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96712" y="3154680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9BAC6"/>
                </a:solidFill>
                <a:latin typeface="Aptos"/>
              </a:rPr>
              <a:t>0.54%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721608"/>
            <a:ext cx="116128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F4F8FB"/>
                </a:solidFill>
                <a:latin typeface="Aptos"/>
              </a:rPr>
              <a:t>Hepatocytes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94560" y="3703320"/>
            <a:ext cx="1508760" cy="164592"/>
          </a:xfrm>
          <a:prstGeom prst="roundRect">
            <a:avLst/>
          </a:prstGeom>
          <a:solidFill>
            <a:srgbClr val="132431"/>
          </a:solidFill>
          <a:ln w="6350">
            <a:solidFill>
              <a:srgbClr val="13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194560" y="3703320"/>
            <a:ext cx="292246" cy="164592"/>
          </a:xfrm>
          <a:prstGeom prst="roundRect">
            <a:avLst/>
          </a:prstGeom>
          <a:solidFill>
            <a:srgbClr val="F6A04D"/>
          </a:solidFill>
          <a:ln w="6350">
            <a:solidFill>
              <a:srgbClr val="F6A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30752" y="3685032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9BAC6"/>
                </a:solidFill>
                <a:latin typeface="Aptos"/>
              </a:rPr>
              <a:t>19.37%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60520" y="3703320"/>
            <a:ext cx="1508760" cy="164592"/>
          </a:xfrm>
          <a:prstGeom prst="roundRect">
            <a:avLst/>
          </a:prstGeom>
          <a:solidFill>
            <a:srgbClr val="132431"/>
          </a:solidFill>
          <a:ln w="6350">
            <a:solidFill>
              <a:srgbClr val="13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160520" y="3703320"/>
            <a:ext cx="301" cy="164592"/>
          </a:xfrm>
          <a:prstGeom prst="roundRect">
            <a:avLst/>
          </a:prstGeom>
          <a:solidFill>
            <a:srgbClr val="F6A04D"/>
          </a:solidFill>
          <a:ln w="6350">
            <a:solidFill>
              <a:srgbClr val="F6A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96712" y="3685032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9BAC6"/>
                </a:solidFill>
                <a:latin typeface="Aptos"/>
              </a:rPr>
              <a:t>0.02%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251960"/>
            <a:ext cx="116128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F4F8FB"/>
                </a:solidFill>
                <a:latin typeface="Aptos"/>
              </a:rPr>
              <a:t>B cells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94560" y="4233672"/>
            <a:ext cx="1508760" cy="164592"/>
          </a:xfrm>
          <a:prstGeom prst="roundRect">
            <a:avLst/>
          </a:prstGeom>
          <a:solidFill>
            <a:srgbClr val="132431"/>
          </a:solidFill>
          <a:ln w="6350">
            <a:solidFill>
              <a:srgbClr val="13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194560" y="4233672"/>
            <a:ext cx="19312" cy="164592"/>
          </a:xfrm>
          <a:prstGeom prst="roundRect">
            <a:avLst/>
          </a:prstGeom>
          <a:solidFill>
            <a:srgbClr val="A78BFA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30752" y="4215384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9BAC6"/>
                </a:solidFill>
                <a:latin typeface="Aptos"/>
              </a:rPr>
              <a:t>1.28%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60520" y="4233672"/>
            <a:ext cx="1508760" cy="164592"/>
          </a:xfrm>
          <a:prstGeom prst="roundRect">
            <a:avLst/>
          </a:prstGeom>
          <a:solidFill>
            <a:srgbClr val="132431"/>
          </a:solidFill>
          <a:ln w="6350">
            <a:solidFill>
              <a:srgbClr val="13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160520" y="4233672"/>
            <a:ext cx="96560" cy="164592"/>
          </a:xfrm>
          <a:prstGeom prst="roundRect">
            <a:avLst/>
          </a:prstGeom>
          <a:solidFill>
            <a:srgbClr val="A78BFA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96712" y="4215384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9BAC6"/>
                </a:solidFill>
                <a:latin typeface="Aptos"/>
              </a:rPr>
              <a:t>6.40%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782312"/>
            <a:ext cx="116128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0">
                <a:solidFill>
                  <a:srgbClr val="F4F8FB"/>
                </a:solidFill>
                <a:latin typeface="Aptos"/>
              </a:rPr>
              <a:t>Fibroblasts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194560" y="4764024"/>
            <a:ext cx="1508760" cy="164592"/>
          </a:xfrm>
          <a:prstGeom prst="roundRect">
            <a:avLst/>
          </a:prstGeom>
          <a:solidFill>
            <a:srgbClr val="132431"/>
          </a:solidFill>
          <a:ln w="6350">
            <a:solidFill>
              <a:srgbClr val="13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194560" y="4764024"/>
            <a:ext cx="31382" cy="164592"/>
          </a:xfrm>
          <a:prstGeom prst="roundRect">
            <a:avLst/>
          </a:prstGeom>
          <a:solidFill>
            <a:srgbClr val="7AD17A"/>
          </a:solidFill>
          <a:ln w="6350">
            <a:solidFill>
              <a:srgbClr val="7AD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30752" y="4745736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9BAC6"/>
                </a:solidFill>
                <a:latin typeface="Aptos"/>
              </a:rPr>
              <a:t>2.08%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60520" y="4764024"/>
            <a:ext cx="1508760" cy="164592"/>
          </a:xfrm>
          <a:prstGeom prst="roundRect">
            <a:avLst/>
          </a:prstGeom>
          <a:solidFill>
            <a:srgbClr val="132431"/>
          </a:solidFill>
          <a:ln w="6350">
            <a:solidFill>
              <a:srgbClr val="13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160520" y="4764024"/>
            <a:ext cx="31683" cy="164592"/>
          </a:xfrm>
          <a:prstGeom prst="roundRect">
            <a:avLst/>
          </a:prstGeom>
          <a:solidFill>
            <a:srgbClr val="7AD17A"/>
          </a:solidFill>
          <a:ln w="6350">
            <a:solidFill>
              <a:srgbClr val="7AD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96712" y="4745736"/>
            <a:ext cx="3931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9BAC6"/>
                </a:solidFill>
                <a:latin typeface="Aptos"/>
              </a:rPr>
              <a:t>2.10%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8680" y="4846320"/>
            <a:ext cx="5166360" cy="438912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" y="4919472"/>
            <a:ext cx="48920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40" b="1">
                <a:solidFill>
                  <a:srgbClr val="55D0C7"/>
                </a:solidFill>
                <a:latin typeface="Aptos"/>
              </a:rPr>
              <a:t>HCC2 is T-cell dominated, whereas HCC1 contains many more macrophage- and hepatocyte-labelled cells.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0" y="1783080"/>
            <a:ext cx="4937760" cy="3703320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1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01968" y="1920240"/>
            <a:ext cx="2743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B. WHY CELL-TYPE STRATIFICATION MATTERS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01968" y="2148840"/>
            <a:ext cx="4297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A9BAC6"/>
                </a:solidFill>
                <a:latin typeface="Aptos"/>
              </a:rPr>
              <a:t>Example: broad T-cell comparison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675120" y="2514600"/>
            <a:ext cx="1051560" cy="38404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93408" y="2542032"/>
            <a:ext cx="10149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F4F8FB"/>
                </a:solidFill>
                <a:latin typeface="Aptos"/>
              </a:rPr>
              <a:t>Marker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26680" y="2514600"/>
            <a:ext cx="1005840" cy="38404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44968" y="2542032"/>
            <a:ext cx="96926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F4F8FB"/>
                </a:solidFill>
                <a:latin typeface="Aptos"/>
              </a:rPr>
              <a:t>Pooled
log2FC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732520" y="2514600"/>
            <a:ext cx="1143000" cy="38404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50808" y="2542032"/>
            <a:ext cx="110642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F4F8FB"/>
                </a:solidFill>
                <a:latin typeface="Aptos"/>
              </a:rPr>
              <a:t>Within T cells
log2FC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875520" y="2514600"/>
            <a:ext cx="1417320" cy="38404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93808" y="2542032"/>
            <a:ext cx="138074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F4F8FB"/>
                </a:solidFill>
                <a:latin typeface="Aptos"/>
              </a:rPr>
              <a:t>Interpretation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675120" y="2898648"/>
            <a:ext cx="105156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11696" y="2953512"/>
            <a:ext cx="97840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4F8FB"/>
                </a:solidFill>
                <a:latin typeface="Aptos"/>
              </a:rPr>
              <a:t>CD8A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726680" y="2898648"/>
            <a:ext cx="100584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63256" y="2953512"/>
            <a:ext cx="9326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A9BAC6"/>
                </a:solidFill>
                <a:latin typeface="Aptos"/>
              </a:rPr>
              <a:t>+4.469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732520" y="2898648"/>
            <a:ext cx="114300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769096" y="2953512"/>
            <a:ext cx="1069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A9BAC6"/>
                </a:solidFill>
                <a:latin typeface="Aptos"/>
              </a:rPr>
              <a:t>+2.495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875520" y="2898648"/>
            <a:ext cx="141732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912096" y="2953512"/>
            <a:ext cx="134416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60" b="0">
                <a:solidFill>
                  <a:srgbClr val="A9BAC6"/>
                </a:solidFill>
                <a:latin typeface="Aptos"/>
              </a:rPr>
              <a:t>Higher CD8-associated
expression persists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675120" y="3474720"/>
            <a:ext cx="105156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711696" y="3529584"/>
            <a:ext cx="97840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4F8FB"/>
                </a:solidFill>
                <a:latin typeface="Aptos"/>
              </a:rPr>
              <a:t>PDCD1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726680" y="3474720"/>
            <a:ext cx="100584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763256" y="3529584"/>
            <a:ext cx="9326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A9BAC6"/>
                </a:solidFill>
                <a:latin typeface="Aptos"/>
              </a:rPr>
              <a:t>+3.541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732520" y="3474720"/>
            <a:ext cx="114300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769096" y="3529584"/>
            <a:ext cx="1069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A9BAC6"/>
                </a:solidFill>
                <a:latin typeface="Aptos"/>
              </a:rPr>
              <a:t>+1.700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875520" y="3474720"/>
            <a:ext cx="141732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912096" y="3529584"/>
            <a:ext cx="134416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60" b="0">
                <a:solidFill>
                  <a:srgbClr val="A9BAC6"/>
                </a:solidFill>
                <a:latin typeface="Aptos"/>
              </a:rPr>
              <a:t>Checkpoint-associated
signal remains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675120" y="4050792"/>
            <a:ext cx="105156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711696" y="4105656"/>
            <a:ext cx="97840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4F8FB"/>
                </a:solidFill>
                <a:latin typeface="Aptos"/>
              </a:rPr>
              <a:t>IFNG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726680" y="4050792"/>
            <a:ext cx="100584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763256" y="4105656"/>
            <a:ext cx="9326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A9BAC6"/>
                </a:solidFill>
                <a:latin typeface="Aptos"/>
              </a:rPr>
              <a:t>+2.329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732520" y="4050792"/>
            <a:ext cx="114300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769096" y="4105656"/>
            <a:ext cx="1069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A9BAC6"/>
                </a:solidFill>
                <a:latin typeface="Aptos"/>
              </a:rPr>
              <a:t>+0.116
(ns)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875520" y="4050792"/>
            <a:ext cx="1417320" cy="576072"/>
          </a:xfrm>
          <a:prstGeom prst="roundRect">
            <a:avLst/>
          </a:prstGeom>
          <a:solidFill>
            <a:srgbClr val="0D1D29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912096" y="4105656"/>
            <a:ext cx="134416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60" b="0">
                <a:solidFill>
                  <a:srgbClr val="A9BAC6"/>
                </a:solidFill>
                <a:latin typeface="Aptos"/>
              </a:rPr>
              <a:t>Pooled increase largely
reflects composition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601968" y="4572000"/>
            <a:ext cx="4553712" cy="73152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784848" y="4636008"/>
            <a:ext cx="1554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4F8FB"/>
                </a:solidFill>
                <a:latin typeface="Aptos"/>
              </a:rPr>
              <a:t>Selected pathway themes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784848" y="4837176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90" b="0">
                <a:solidFill>
                  <a:srgbClr val="A9BAC6"/>
                </a:solidFill>
                <a:latin typeface="Aptos"/>
              </a:rPr>
              <a:t>T cells: ↑ chemokine / FoxO, ↓ oxidative phosphorylation
Fibroblasts: provisional contractile / actomyosin program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41248" y="5596128"/>
            <a:ext cx="10222992" cy="530352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05840" y="5669280"/>
            <a:ext cx="9875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F4F8FB"/>
                </a:solidFill>
                <a:latin typeface="Aptos"/>
              </a:rPr>
              <a:t>Interpretation is exploratory: one sample per group, composition confounding, and possible ambient RNA (e.g., widespread ALB signal).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201400" y="6272784"/>
            <a:ext cx="228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0">
                <a:solidFill>
                  <a:srgbClr val="7F9AAF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4114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08 / SPATIAL TRANSCRIPTOMICS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4F8FB"/>
                </a:solidFill>
                <a:latin typeface="Aptos Display"/>
              </a:rPr>
              <a:t>SPATIAL TRANSCRIPTOMICS — ADDING TISSUE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0584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30" b="0">
                <a:solidFill>
                  <a:srgbClr val="A9BAC6"/>
                </a:solidFill>
                <a:latin typeface="Aptos"/>
              </a:rPr>
              <a:t>Single-cell tells us what cells are doing; spatial analysis adds where those states occur and which cellular environments surround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3154680" cy="2148840"/>
          </a:xfrm>
          <a:prstGeom prst="roundRect">
            <a:avLst/>
          </a:prstGeom>
          <a:solidFill>
            <a:srgbClr val="0D1D29"/>
          </a:solidFill>
          <a:ln w="15240">
            <a:solidFill>
              <a:srgbClr val="1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2029967"/>
            <a:ext cx="384048" cy="384048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029967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" y="2057399"/>
            <a:ext cx="235000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20" b="1">
                <a:solidFill>
                  <a:srgbClr val="F4F8FB"/>
                </a:solidFill>
                <a:latin typeface="Aptos"/>
              </a:rPr>
              <a:t>SINGLE-CELL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532887"/>
            <a:ext cx="2642616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0" b="0">
                <a:solidFill>
                  <a:srgbClr val="A9BAC6"/>
                </a:solidFill>
                <a:latin typeface="Aptos"/>
              </a:rPr>
              <a:t>Cell types
Cell states
Differential expression
Pathway programs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" y="3584447"/>
            <a:ext cx="2569464" cy="27432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3584447"/>
            <a:ext cx="256946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1">
                <a:solidFill>
                  <a:srgbClr val="48A3FF"/>
                </a:solidFill>
                <a:latin typeface="Aptos"/>
              </a:rPr>
              <a:t>High molecular resolution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874519"/>
            <a:ext cx="3154680" cy="2148840"/>
          </a:xfrm>
          <a:prstGeom prst="roundRect">
            <a:avLst/>
          </a:prstGeom>
          <a:solidFill>
            <a:srgbClr val="0D1D29"/>
          </a:solidFill>
          <a:ln w="15240">
            <a:solidFill>
              <a:srgbClr val="1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15968" y="2029967"/>
            <a:ext cx="384048" cy="384048"/>
          </a:xfrm>
          <a:prstGeom prst="ellipse">
            <a:avLst/>
          </a:prstGeom>
          <a:solidFill>
            <a:srgbClr val="55D0C7"/>
          </a:solidFill>
          <a:ln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5968" y="2029967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2057399"/>
            <a:ext cx="235000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20" b="1">
                <a:solidFill>
                  <a:srgbClr val="F4F8FB"/>
                </a:solidFill>
                <a:latin typeface="Aptos"/>
              </a:rPr>
              <a:t>SPATIAL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2532887"/>
            <a:ext cx="2642616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0" b="0">
                <a:solidFill>
                  <a:srgbClr val="A9BAC6"/>
                </a:solidFill>
                <a:latin typeface="Aptos"/>
              </a:rPr>
              <a:t>Physical location
Spatially variable genes
Tissue regions / niches
Spatial neighbors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53128" y="3584447"/>
            <a:ext cx="2569464" cy="27432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3584447"/>
            <a:ext cx="256946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1">
                <a:solidFill>
                  <a:srgbClr val="55D0C7"/>
                </a:solidFill>
                <a:latin typeface="Aptos"/>
              </a:rPr>
              <a:t>Tissue architecture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1874519"/>
            <a:ext cx="3154680" cy="2148840"/>
          </a:xfrm>
          <a:prstGeom prst="roundRect">
            <a:avLst/>
          </a:prstGeom>
          <a:solidFill>
            <a:srgbClr val="0D1D29"/>
          </a:solidFill>
          <a:ln w="15240">
            <a:solidFill>
              <a:srgbClr val="1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90688" y="2029967"/>
            <a:ext cx="384048" cy="384048"/>
          </a:xfrm>
          <a:prstGeom prst="ellipse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90688" y="2029967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0B1822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2" y="2057399"/>
            <a:ext cx="235000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20" b="1">
                <a:solidFill>
                  <a:srgbClr val="F4F8FB"/>
                </a:solidFill>
                <a:latin typeface="Aptos"/>
              </a:rPr>
              <a:t>INTEGRATED INTERPRETATION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1272" y="2532887"/>
            <a:ext cx="2642616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0" b="0">
                <a:solidFill>
                  <a:srgbClr val="A9BAC6"/>
                </a:solidFill>
                <a:latin typeface="Aptos"/>
              </a:rPr>
              <a:t>Reference mapping / deconvolution
Neighborhood enrichment
Co-occurrence
Ligand–receptor hypotheses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27848" y="3584447"/>
            <a:ext cx="2569464" cy="27432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27848" y="3584447"/>
            <a:ext cx="256946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1">
                <a:solidFill>
                  <a:srgbClr val="A78BFA"/>
                </a:solidFill>
                <a:latin typeface="Aptos"/>
              </a:rPr>
              <a:t>Cellular context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877056" y="2697479"/>
            <a:ext cx="256032" cy="438912"/>
          </a:xfrm>
          <a:prstGeom prst="rightArrow">
            <a:avLst/>
          </a:prstGeom>
          <a:solidFill>
            <a:srgbClr val="1A3442"/>
          </a:solidFill>
          <a:ln>
            <a:solidFill>
              <a:srgbClr val="1A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>
            <a:off x="7351776" y="2697479"/>
            <a:ext cx="256032" cy="438912"/>
          </a:xfrm>
          <a:prstGeom prst="rightArrow">
            <a:avLst/>
          </a:prstGeom>
          <a:solidFill>
            <a:srgbClr val="1A3442"/>
          </a:solidFill>
          <a:ln>
            <a:solidFill>
              <a:srgbClr val="1A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85800" y="4279392"/>
            <a:ext cx="6903720" cy="1298448"/>
          </a:xfrm>
          <a:prstGeom prst="roundRect">
            <a:avLst/>
          </a:prstGeom>
          <a:solidFill>
            <a:srgbClr val="0D1D29"/>
          </a:solidFill>
          <a:ln w="15240">
            <a:solidFill>
              <a:srgbClr val="1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4398264"/>
            <a:ext cx="2743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1">
                <a:solidFill>
                  <a:srgbClr val="55D0C7"/>
                </a:solidFill>
                <a:latin typeface="Aptos"/>
              </a:rPr>
              <a:t>OMIC SAGE — HANDS-ON SPATIAL WORKFLOW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2688" y="4846320"/>
            <a:ext cx="713232" cy="47548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4846320"/>
            <a:ext cx="71323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4F8FB"/>
                </a:solidFill>
                <a:latin typeface="Aptos"/>
              </a:rPr>
              <a:t>Visium /
Visium HD /
Xenium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645920" y="5084064"/>
            <a:ext cx="210312" cy="0"/>
          </a:xfrm>
          <a:prstGeom prst="line">
            <a:avLst/>
          </a:prstGeom>
          <a:ln w="19050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865376" y="4846320"/>
            <a:ext cx="713232" cy="47548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65376" y="4846320"/>
            <a:ext cx="71323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4F8FB"/>
                </a:solidFill>
                <a:latin typeface="Aptos"/>
              </a:rPr>
              <a:t>QC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578608" y="5084064"/>
            <a:ext cx="210312" cy="0"/>
          </a:xfrm>
          <a:prstGeom prst="line">
            <a:avLst/>
          </a:prstGeom>
          <a:ln w="19050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2798064" y="4846320"/>
            <a:ext cx="713232" cy="47548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98064" y="4846320"/>
            <a:ext cx="71323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4F8FB"/>
                </a:solidFill>
                <a:latin typeface="Aptos"/>
              </a:rPr>
              <a:t>Spatial
graph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511296" y="5084064"/>
            <a:ext cx="210312" cy="0"/>
          </a:xfrm>
          <a:prstGeom prst="line">
            <a:avLst/>
          </a:prstGeom>
          <a:ln w="19050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3730752" y="4846320"/>
            <a:ext cx="713232" cy="47548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F6A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30752" y="4846320"/>
            <a:ext cx="71323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4F8FB"/>
                </a:solidFill>
                <a:latin typeface="Aptos"/>
              </a:rPr>
              <a:t>Moran’s I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443984" y="5084064"/>
            <a:ext cx="210312" cy="0"/>
          </a:xfrm>
          <a:prstGeom prst="line">
            <a:avLst/>
          </a:prstGeom>
          <a:ln w="19050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4663440" y="4846320"/>
            <a:ext cx="713232" cy="47548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63440" y="4846320"/>
            <a:ext cx="71323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4F8FB"/>
                </a:solidFill>
                <a:latin typeface="Aptos"/>
              </a:rPr>
              <a:t>Deconvolution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376672" y="5084064"/>
            <a:ext cx="210312" cy="0"/>
          </a:xfrm>
          <a:prstGeom prst="line">
            <a:avLst/>
          </a:prstGeom>
          <a:ln w="19050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5596128" y="4846320"/>
            <a:ext cx="713232" cy="47548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96128" y="4846320"/>
            <a:ext cx="71323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4F8FB"/>
                </a:solidFill>
                <a:latin typeface="Aptos"/>
              </a:rPr>
              <a:t>Niches /
communication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309360" y="5084064"/>
            <a:ext cx="210312" cy="0"/>
          </a:xfrm>
          <a:prstGeom prst="line">
            <a:avLst/>
          </a:prstGeom>
          <a:ln w="19050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6528816" y="4846320"/>
            <a:ext cx="713232" cy="475488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7AD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28816" y="4846320"/>
            <a:ext cx="71323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4F8FB"/>
                </a:solidFill>
                <a:latin typeface="Aptos"/>
              </a:rPr>
              <a:t>Imputation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5358384"/>
            <a:ext cx="635508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0">
                <a:solidFill>
                  <a:srgbClr val="A9BAC6"/>
                </a:solidFill>
                <a:latin typeface="Aptos"/>
              </a:rPr>
              <a:t>Reference-based deconvolution: NNLS + cell2location  •  Transcriptome mapping/imputation: Tangram / gimVI  •  Tested on published Visium + matched snRNA benchmark data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818120" y="4279392"/>
            <a:ext cx="3520440" cy="1298448"/>
          </a:xfrm>
          <a:prstGeom prst="roundRect">
            <a:avLst/>
          </a:prstGeom>
          <a:solidFill>
            <a:srgbClr val="0D1D29"/>
          </a:solidFill>
          <a:ln w="15240">
            <a:solidFill>
              <a:srgbClr val="1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19288" y="4389120"/>
            <a:ext cx="3118104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1">
                <a:solidFill>
                  <a:srgbClr val="55D0C7"/>
                </a:solidFill>
                <a:latin typeface="Aptos"/>
              </a:rPr>
              <a:t>WHY THIS MATTERS FOR DELTA-DECODE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37576" y="4681728"/>
            <a:ext cx="146304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48A3FF"/>
                </a:solidFill>
                <a:latin typeface="Aptos"/>
              </a:rP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02168" y="4672584"/>
            <a:ext cx="2971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A9BAC6"/>
                </a:solidFill>
                <a:latin typeface="Aptos"/>
              </a:rPr>
              <a:t>Where are disease-associated hepatocyte states located?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37576" y="4882896"/>
            <a:ext cx="146304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48A3FF"/>
                </a:solidFill>
                <a:latin typeface="Aptos"/>
              </a:rPr>
              <a:t>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02168" y="4873752"/>
            <a:ext cx="2971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A9BAC6"/>
                </a:solidFill>
                <a:latin typeface="Aptos"/>
              </a:rPr>
              <a:t>Which immune populations form local neighborhoods around them?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37576" y="5084064"/>
            <a:ext cx="146304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48A3FF"/>
                </a:solidFill>
                <a:latin typeface="Aptos"/>
              </a:rPr>
              <a:t>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02168" y="5074920"/>
            <a:ext cx="2971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A9BAC6"/>
                </a:solidFill>
                <a:latin typeface="Aptos"/>
              </a:rPr>
              <a:t>Are inflammatory or fibrotic programs spatially restricted?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37576" y="5285232"/>
            <a:ext cx="146304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48A3FF"/>
                </a:solidFill>
                <a:latin typeface="Aptos"/>
              </a:rPr>
              <a:t>•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02168" y="5276088"/>
            <a:ext cx="2971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A9BAC6"/>
                </a:solidFill>
                <a:latin typeface="Aptos"/>
              </a:rPr>
              <a:t>Do particular niches associate with disease severity?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68680" y="5733288"/>
            <a:ext cx="10149840" cy="420624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5840" y="5797296"/>
            <a:ext cx="9875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4F8FB"/>
                </a:solidFill>
                <a:latin typeface="Aptos"/>
              </a:rPr>
              <a:t>Spatial analysis extends cell-state discovery into tissue architecture and local cellular interactions.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201400" y="6272784"/>
            <a:ext cx="228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0">
                <a:solidFill>
                  <a:srgbClr val="7F9AAF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029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5D0C7"/>
                </a:solidFill>
                <a:latin typeface="Aptos"/>
              </a:rPr>
              <a:t>09 /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3327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50" b="1">
                <a:solidFill>
                  <a:srgbClr val="F4F8FB"/>
                </a:solidFill>
                <a:latin typeface="Aptos Display"/>
              </a:rPr>
              <a:t>A MULTIDISCIPLINARY, PROBLEM-SOLVING RESEARCH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058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30" b="0">
                <a:solidFill>
                  <a:srgbClr val="A9BAC6"/>
                </a:solidFill>
                <a:latin typeface="Aptos"/>
              </a:rPr>
              <a:t>The biological question comes first — the method can range from established bioinformatics to custom statistical or AI solutions.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2679192"/>
            <a:ext cx="2286000" cy="950976"/>
          </a:xfrm>
          <a:prstGeom prst="roundRect">
            <a:avLst/>
          </a:prstGeom>
          <a:solidFill>
            <a:srgbClr val="102B38"/>
          </a:solidFill>
          <a:ln w="21590">
            <a:solidFill>
              <a:srgbClr val="55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83480" y="2880360"/>
            <a:ext cx="2011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50" b="1">
                <a:solidFill>
                  <a:srgbClr val="F4F8FB"/>
                </a:solidFill>
                <a:latin typeface="Aptos"/>
              </a:rPr>
              <a:t>BIOLOGICAL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3172968"/>
            <a:ext cx="1920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40" b="0">
                <a:solidFill>
                  <a:srgbClr val="55D0C7"/>
                </a:solidFill>
                <a:latin typeface="Aptos"/>
              </a:rPr>
              <a:t>What do we need to understand?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3337560" cy="1481328"/>
          </a:xfrm>
          <a:prstGeom prst="roundRect">
            <a:avLst/>
          </a:prstGeom>
          <a:solidFill>
            <a:srgbClr val="0D1D29"/>
          </a:solidFill>
          <a:ln w="15240">
            <a:solidFill>
              <a:srgbClr val="1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8116" y="2016251"/>
            <a:ext cx="320040" cy="320040"/>
          </a:xfrm>
          <a:prstGeom prst="ellipse">
            <a:avLst/>
          </a:prstGeom>
          <a:solidFill>
            <a:srgbClr val="48A3FF"/>
          </a:solidFill>
          <a:ln>
            <a:solidFill>
              <a:srgbClr val="48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8116" y="2016251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B1822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020823"/>
            <a:ext cx="26243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MULTIDISCIPLINARY BACKGROUND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" y="2386583"/>
            <a:ext cx="2898648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A9BAC6"/>
                </a:solidFill>
                <a:latin typeface="Aptos"/>
              </a:rPr>
              <a:t>Biology → Omics → Statistics → AI
Understanding the problem from multiple computational and biological perspectives.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874519"/>
            <a:ext cx="3337560" cy="1481328"/>
          </a:xfrm>
          <a:prstGeom prst="roundRect">
            <a:avLst/>
          </a:prstGeom>
          <a:solidFill>
            <a:srgbClr val="0D1D29"/>
          </a:solidFill>
          <a:ln w="15240">
            <a:solidFill>
              <a:srgbClr val="1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43316" y="2016251"/>
            <a:ext cx="320040" cy="320040"/>
          </a:xfrm>
          <a:prstGeom prst="ellipse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3316" y="2016251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B1822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020823"/>
            <a:ext cx="26243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TRANSFERABLE RESEARCH REASONING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2386583"/>
            <a:ext cx="2898648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A9BAC6"/>
                </a:solidFill>
                <a:latin typeface="Aptos"/>
              </a:rPr>
              <a:t>Genomics · transcriptomics · single-cell · spatial · multi-omics
Different biological systems, transferable analytical reasoning.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886200"/>
            <a:ext cx="3337560" cy="1481328"/>
          </a:xfrm>
          <a:prstGeom prst="roundRect">
            <a:avLst/>
          </a:prstGeom>
          <a:solidFill>
            <a:srgbClr val="0D1D29"/>
          </a:solidFill>
          <a:ln w="15240">
            <a:solidFill>
              <a:srgbClr val="1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8116" y="4027932"/>
            <a:ext cx="320040" cy="320040"/>
          </a:xfrm>
          <a:prstGeom prst="ellipse">
            <a:avLst/>
          </a:prstGeom>
          <a:solidFill>
            <a:srgbClr val="F6A04D"/>
          </a:solidFill>
          <a:ln>
            <a:solidFill>
              <a:srgbClr val="F6A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" y="4027932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B1822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032504"/>
            <a:ext cx="26243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TOOL &amp; METHOD DEVELOPMENT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" y="4398264"/>
            <a:ext cx="2898648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A9BAC6"/>
                </a:solidFill>
                <a:latin typeface="Aptos"/>
              </a:rPr>
              <a:t>Existing tools → adapt / integrate → custom workflows → ML/DL when justified
Choose or develop the method that best answers the biological question.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3886200"/>
            <a:ext cx="3337560" cy="1481328"/>
          </a:xfrm>
          <a:prstGeom prst="roundRect">
            <a:avLst/>
          </a:prstGeom>
          <a:solidFill>
            <a:srgbClr val="0D1D29"/>
          </a:solidFill>
          <a:ln w="15240">
            <a:solidFill>
              <a:srgbClr val="1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3316" y="4027932"/>
            <a:ext cx="320040" cy="320040"/>
          </a:xfrm>
          <a:prstGeom prst="ellipse">
            <a:avLst/>
          </a:prstGeom>
          <a:solidFill>
            <a:srgbClr val="7AD17A"/>
          </a:solidFill>
          <a:ln>
            <a:solidFill>
              <a:srgbClr val="7AD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3316" y="4027932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B1822"/>
                </a:solidFill>
                <a:latin typeface="Apto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4032504"/>
            <a:ext cx="26243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4F8FB"/>
                </a:solidFill>
                <a:latin typeface="Aptos"/>
              </a:rPr>
              <a:t>INTERDISCIPLINARY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1896" y="4398264"/>
            <a:ext cx="2898648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A9BAC6"/>
                </a:solidFill>
                <a:latin typeface="Aptos"/>
              </a:rPr>
              <a:t>Bioinformatics ↔ biology / clinical expertise ↔ wet lab
Computation prioritizes hypotheses; domain expertise guides interpretation; experiments validate them.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114800" y="2615184"/>
            <a:ext cx="704088" cy="356616"/>
          </a:xfrm>
          <a:prstGeom prst="line">
            <a:avLst/>
          </a:prstGeom>
          <a:ln w="20320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7159752" y="2615184"/>
            <a:ext cx="932688" cy="356616"/>
          </a:xfrm>
          <a:prstGeom prst="line">
            <a:avLst/>
          </a:prstGeom>
          <a:ln w="20320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4114800" y="3337560"/>
            <a:ext cx="704088" cy="1280160"/>
          </a:xfrm>
          <a:prstGeom prst="line">
            <a:avLst/>
          </a:prstGeom>
          <a:ln w="20320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7159752" y="3337560"/>
            <a:ext cx="932688" cy="1280160"/>
          </a:xfrm>
          <a:prstGeom prst="line">
            <a:avLst/>
          </a:prstGeom>
          <a:ln w="20320">
            <a:solidFill>
              <a:srgbClr val="245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270248" y="4005072"/>
            <a:ext cx="3429000" cy="713232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4078224"/>
            <a:ext cx="3017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55D0C7"/>
                </a:solidFill>
                <a:latin typeface="Aptos"/>
              </a:rPr>
              <a:t>METHOD SPECTRUM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25696" y="4279392"/>
            <a:ext cx="3154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0" b="1">
                <a:solidFill>
                  <a:srgbClr val="F4F8FB"/>
                </a:solidFill>
                <a:latin typeface="Aptos"/>
              </a:rPr>
              <a:t>Classical tools  →  custom pipelines  →  statistics / ML / DL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74519" y="5504688"/>
            <a:ext cx="8275320" cy="502920"/>
          </a:xfrm>
          <a:prstGeom prst="roundRect">
            <a:avLst/>
          </a:prstGeom>
          <a:solidFill>
            <a:srgbClr val="112634"/>
          </a:solidFill>
          <a:ln w="12700">
            <a:solidFill>
              <a:srgbClr val="245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11680" y="5577840"/>
            <a:ext cx="8001000" cy="155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60" b="0">
                <a:solidFill>
                  <a:srgbClr val="A9BAC6"/>
                </a:solidFill>
                <a:latin typeface="Aptos"/>
              </a:rPr>
              <a:t>Biological question  →  computational hypothesis  →  domain-guided interpretation  →  experimental validation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6089904"/>
            <a:ext cx="9144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4F8FB"/>
                </a:solidFill>
                <a:latin typeface="Aptos"/>
              </a:rPr>
              <a:t>Building the computational bridge from biological questions to testable hypotheses.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6272784"/>
            <a:ext cx="228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0">
                <a:solidFill>
                  <a:srgbClr val="7F9AAF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8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540176-4F97-4098-8329-61E0D04A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5D0C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5D0C7"/>
                </a:solidFill>
                <a:latin typeface="Aptos"/>
                <a:ea typeface="Aptos"/>
                <a:cs typeface="Aptos"/>
              </a:rPr>
              <a:t>07 / HCC GENE AND PATHWAY EXAMPLES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7D8386-C34C-4B22-B4A7-B7312B78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4F8FB"/>
                </a:solidFill>
                <a:latin typeface="Aptos"/>
                <a:ea typeface="Aptos"/>
                <a:cs typeface="Aptos"/>
              </a:rPr>
              <a:t>Selected genes with lower expression in HCC2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1FBF6-0BB3-4D5D-8AAB-6A0E7AFC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BAC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AC6"/>
                </a:solidFill>
                <a:latin typeface="Aptos"/>
                <a:ea typeface="Aptos"/>
                <a:cs typeface="Aptos"/>
              </a:rPr>
              <a:t>Pooled HCC2 versus HCC1 comparison. Each gene belongs to the listed GSEA leading edge.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2057400"/>
          <a:ext xmlns:a="http://schemas.openxmlformats.org/drawingml/2006/main" cx="110490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57300"/>
                <a:gridCol w="1066800"/>
                <a:gridCol w="3505200"/>
                <a:gridCol w="5219700"/>
              </a:tblGrid>
              <a:tr h="4953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Gene</a:t>
                      </a:r>
                    </a:p>
                  </a:txBody>
                  <a:tcPr marL="133350" marR="133350" marT="142875" marB="142875">
                    <a:solidFill>
                      <a:srgbClr val="2454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log2FC</a:t>
                      </a:r>
                    </a:p>
                  </a:txBody>
                  <a:tcPr marL="133350" marR="133350" marT="142875" marB="142875">
                    <a:solidFill>
                      <a:srgbClr val="2454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Enriched gene set</a:t>
                      </a:r>
                    </a:p>
                  </a:txBody>
                  <a:tcPr marL="133350" marR="133350" marT="142875" marB="142875">
                    <a:solidFill>
                      <a:srgbClr val="2454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Biological context</a:t>
                      </a:r>
                    </a:p>
                  </a:txBody>
                  <a:tcPr marL="133350" marR="133350" marT="142875" marB="142875">
                    <a:solidFill>
                      <a:srgbClr val="245466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55D0C7"/>
                          </a:solidFill>
                          <a:latin typeface="Aptos"/>
                          <a:ea typeface="Aptos"/>
                          <a:cs typeface="Aptos"/>
                        </a:rPr>
                        <a:t>APOA2</a:t>
                      </a:r>
                    </a:p>
                  </a:txBody>
                  <a:tcPr marL="133350" marR="133350" marT="142875" marB="142875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6A04D"/>
                          </a:solidFill>
                          <a:latin typeface="Aptos"/>
                          <a:ea typeface="Aptos"/>
                          <a:cs typeface="Aptos"/>
                        </a:rPr>
                        <a:t>−12.20</a:t>
                      </a:r>
                    </a:p>
                  </a:txBody>
                  <a:tcPr marL="133350" marR="133350" marT="142875" marB="142875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Cholesterol metabolism</a:t>
                      </a:r>
                    </a:p>
                    <a:p>
                      <a:r>
                        <a:rPr sz="150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NES −2.28  ·  FDR 9.57 × 10⁻⁹</a:t>
                      </a:r>
                    </a:p>
                  </a:txBody>
                  <a:tcPr marL="133350" marR="133350" marT="142875" marB="142875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Lipoprotein transport</a:t>
                      </a:r>
                    </a:p>
                    <a:p>
                      <a:r>
                        <a:rPr sz="150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Lower contribution of liver-associated transcripts.</a:t>
                      </a:r>
                    </a:p>
                  </a:txBody>
                  <a:tcPr marL="133350" marR="133350" marT="142875" marB="142875">
                    <a:solidFill>
                      <a:srgbClr val="112634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55D0C7"/>
                          </a:solidFill>
                          <a:latin typeface="Aptos"/>
                          <a:ea typeface="Aptos"/>
                          <a:cs typeface="Aptos"/>
                        </a:rPr>
                        <a:t>SERPINA1</a:t>
                      </a:r>
                    </a:p>
                  </a:txBody>
                  <a:tcPr marL="133350" marR="133350" marT="142875" marB="142875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6A04D"/>
                          </a:solidFill>
                          <a:latin typeface="Aptos"/>
                          <a:ea typeface="Aptos"/>
                          <a:cs typeface="Aptos"/>
                        </a:rPr>
                        <a:t>−6.45</a:t>
                      </a:r>
                    </a:p>
                  </a:txBody>
                  <a:tcPr marL="133350" marR="133350" marT="142875" marB="142875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Complement and coagulation</a:t>
                      </a:r>
                    </a:p>
                    <a:p>
                      <a:r>
                        <a:rPr sz="150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NES −2.34  ·  FDR 4.32 × 10⁻¹³</a:t>
                      </a:r>
                    </a:p>
                  </a:txBody>
                  <a:tcPr marL="133350" marR="133350" marT="142875" marB="142875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Alpha-1 antitrypsin / protease regulation</a:t>
                      </a:r>
                    </a:p>
                    <a:p>
                      <a:r>
                        <a:rPr sz="150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Lower contribution of secreted-protein transcripts.</a:t>
                      </a:r>
                    </a:p>
                  </a:txBody>
                  <a:tcPr marL="133350" marR="133350" marT="142875" marB="142875">
                    <a:solidFill>
                      <a:srgbClr val="112634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55D0C7"/>
                          </a:solidFill>
                          <a:latin typeface="Aptos"/>
                          <a:ea typeface="Aptos"/>
                          <a:cs typeface="Aptos"/>
                        </a:rPr>
                        <a:t>FTL</a:t>
                      </a:r>
                    </a:p>
                  </a:txBody>
                  <a:tcPr marL="133350" marR="133350" marT="142875" marB="142875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6A04D"/>
                          </a:solidFill>
                          <a:latin typeface="Aptos"/>
                          <a:ea typeface="Aptos"/>
                          <a:cs typeface="Aptos"/>
                        </a:rPr>
                        <a:t>−4.61</a:t>
                      </a:r>
                    </a:p>
                  </a:txBody>
                  <a:tcPr marL="133350" marR="133350" marT="142875" marB="142875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Ferroptosis</a:t>
                      </a:r>
                    </a:p>
                    <a:p>
                      <a:r>
                        <a:rPr sz="150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NES −2.09  ·  FDR 8.63 × 10⁻⁶</a:t>
                      </a:r>
                    </a:p>
                  </a:txBody>
                  <a:tcPr marL="133350" marR="133350" marT="142875" marB="142875">
                    <a:solidFill>
                      <a:srgbClr val="112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Ferritin light chain / iron storage</a:t>
                      </a:r>
                    </a:p>
                    <a:p>
                      <a:r>
                        <a:rPr sz="1500">
                          <a:solidFill>
                            <a:srgbClr val="F4F8FB"/>
                          </a:solidFill>
                          <a:latin typeface="Aptos"/>
                          <a:ea typeface="Aptos"/>
                          <a:cs typeface="Aptos"/>
                        </a:rPr>
                        <a:t>Iron-related expression differs between samples.</a:t>
                      </a:r>
                    </a:p>
                  </a:txBody>
                  <a:tcPr marL="133350" marR="133350" marT="142875" marB="142875">
                    <a:solidFill>
                      <a:srgbClr val="11263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D31D66-3E21-4AD6-A74A-9EFEEDA1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05425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5D0C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5D0C7"/>
                </a:solidFill>
                <a:latin typeface="Aptos"/>
                <a:ea typeface="Aptos"/>
                <a:cs typeface="Aptos"/>
              </a:rPr>
              <a:t>These are sample-associated differences, not confirmed changes in malignant cells.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0857BF-A4F7-47B8-AF62-1424527C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AC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AC6"/>
                </a:solidFill>
                <a:latin typeface="Aptos"/>
                <a:ea typeface="Aptos"/>
                <a:cs typeface="Aptos"/>
              </a:rPr>
              <a:t>One sample per group; composition and possible ambient RNA remain. Negative NES favors HCC1.</a:t>
            </a:r>
          </a:p>
          <a:p xmlns:a="http://schemas.openxmlformats.org/drawingml/2006/main">
            <a:pPr>
              <a:defRPr sz="1350" b="0">
                <a:solidFill>
                  <a:srgbClr val="A9BAC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AC6"/>
                </a:solidFill>
                <a:latin typeface="Aptos"/>
                <a:ea typeface="Aptos"/>
                <a:cs typeface="Aptos"/>
              </a:rPr>
              <a:t>Expression and enrichment do not establish functional activity or drug efficacy.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68B913-A07D-4814-8FF0-7A0F977F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F9AA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F9AAF"/>
                </a:solidFill>
                <a:latin typeface="Aptos"/>
                <a:ea typeface="Aptos"/>
                <a:cs typeface="Aptos"/>
              </a:rPr>
              <a:t>Current DE and GSEA results · GSE166635 · selected examples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B84F2-E56E-4874-898A-2AAF6AB8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F9AA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F9AA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8861896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Fatima Shokor - Scientific Journey</dc:title>
  <dc:subject>Interview Presentation - Slide 1</dc:subject>
  <dc:creator>OpenAI</dc:creator>
  <cp:lastModifiedBy>OpenAI</cp:lastModifiedBy>
  <cp:revision>1</cp:revision>
  <dcterms:created xsi:type="dcterms:W3CDTF">2026-10-02T19:19:11Z</dcterms:created>
  <dcterms:modified xsi:type="dcterms:W3CDTF">2026-10-02T19:19:11Z</dcterms:modified>
</cp:coreProperties>
</file>